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65" r:id="rId3"/>
    <p:sldId id="272" r:id="rId4"/>
    <p:sldId id="262" r:id="rId5"/>
    <p:sldId id="268" r:id="rId6"/>
    <p:sldId id="269" r:id="rId7"/>
    <p:sldId id="270" r:id="rId8"/>
    <p:sldId id="273" r:id="rId9"/>
    <p:sldId id="263" r:id="rId10"/>
    <p:sldId id="274" r:id="rId11"/>
    <p:sldId id="275" r:id="rId12"/>
    <p:sldId id="276" r:id="rId13"/>
    <p:sldId id="264" r:id="rId14"/>
    <p:sldId id="280" r:id="rId15"/>
    <p:sldId id="281" r:id="rId16"/>
    <p:sldId id="300" r:id="rId17"/>
    <p:sldId id="261" r:id="rId18"/>
    <p:sldId id="283" r:id="rId19"/>
    <p:sldId id="286" r:id="rId20"/>
    <p:sldId id="285" r:id="rId21"/>
    <p:sldId id="266" r:id="rId22"/>
    <p:sldId id="284" r:id="rId23"/>
    <p:sldId id="287" r:id="rId24"/>
    <p:sldId id="288" r:id="rId25"/>
    <p:sldId id="267" r:id="rId26"/>
    <p:sldId id="290" r:id="rId27"/>
    <p:sldId id="291" r:id="rId28"/>
    <p:sldId id="297" r:id="rId29"/>
    <p:sldId id="294" r:id="rId30"/>
    <p:sldId id="295" r:id="rId31"/>
    <p:sldId id="296" r:id="rId32"/>
    <p:sldId id="299"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15" autoAdjust="0"/>
    <p:restoredTop sz="94660"/>
  </p:normalViewPr>
  <p:slideViewPr>
    <p:cSldViewPr snapToGrid="0">
      <p:cViewPr varScale="1">
        <p:scale>
          <a:sx n="85" d="100"/>
          <a:sy n="85" d="100"/>
        </p:scale>
        <p:origin x="102" y="5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F79F2F-709D-4165-81E0-D39344765CAA}" type="datetimeFigureOut">
              <a:rPr lang="zh-CN" altLang="en-US" smtClean="0"/>
              <a:t>2026/3/19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3613BF-9556-4CCA-98A3-7F9A33062C64}" type="slidenum">
              <a:rPr lang="zh-CN" altLang="en-US" smtClean="0"/>
              <a:t>‹#›</a:t>
            </a:fld>
            <a:endParaRPr lang="zh-CN" altLang="en-US"/>
          </a:p>
        </p:txBody>
      </p:sp>
    </p:spTree>
    <p:extLst>
      <p:ext uri="{BB962C8B-B14F-4D97-AF65-F5344CB8AC3E}">
        <p14:creationId xmlns:p14="http://schemas.microsoft.com/office/powerpoint/2010/main" val="1508500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DED00C-6B20-DE3C-1A7D-6BA012C803C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EFCCA87-D8A4-471F-460F-29625F9458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7B30E20-C9A5-425B-B23C-9590FF070CF0}"/>
              </a:ext>
            </a:extLst>
          </p:cNvPr>
          <p:cNvSpPr>
            <a:spLocks noGrp="1"/>
          </p:cNvSpPr>
          <p:nvPr>
            <p:ph type="dt" sz="half" idx="10"/>
          </p:nvPr>
        </p:nvSpPr>
        <p:spPr/>
        <p:txBody>
          <a:bodyPr/>
          <a:lstStyle/>
          <a:p>
            <a:fld id="{6151C2EF-740A-4292-8406-DFDDC024222B}" type="datetime1">
              <a:rPr lang="zh-CN" altLang="en-US" smtClean="0"/>
              <a:t>2026/3/19</a:t>
            </a:fld>
            <a:endParaRPr lang="zh-CN" altLang="en-US"/>
          </a:p>
        </p:txBody>
      </p:sp>
      <p:sp>
        <p:nvSpPr>
          <p:cNvPr id="5" name="页脚占位符 4">
            <a:extLst>
              <a:ext uri="{FF2B5EF4-FFF2-40B4-BE49-F238E27FC236}">
                <a16:creationId xmlns:a16="http://schemas.microsoft.com/office/drawing/2014/main" id="{9E272360-2F54-3829-106D-385541CF20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586B991-67D4-C33C-9CB6-BA90C243719E}"/>
              </a:ext>
            </a:extLst>
          </p:cNvPr>
          <p:cNvSpPr>
            <a:spLocks noGrp="1"/>
          </p:cNvSpPr>
          <p:nvPr>
            <p:ph type="sldNum" sz="quarter" idx="12"/>
          </p:nvPr>
        </p:nvSpPr>
        <p:spPr/>
        <p:txBody>
          <a:bodyPr/>
          <a:lstStyle/>
          <a:p>
            <a:fld id="{80A20FCA-19FD-493E-B829-F89FD60808BC}" type="slidenum">
              <a:rPr lang="zh-CN" altLang="en-US" smtClean="0"/>
              <a:t>‹#›</a:t>
            </a:fld>
            <a:endParaRPr lang="zh-CN" altLang="en-US"/>
          </a:p>
        </p:txBody>
      </p:sp>
    </p:spTree>
    <p:extLst>
      <p:ext uri="{BB962C8B-B14F-4D97-AF65-F5344CB8AC3E}">
        <p14:creationId xmlns:p14="http://schemas.microsoft.com/office/powerpoint/2010/main" val="275026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22B135-FFC9-0013-DB21-CCF6D348E2F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5313586-5B3D-9D3C-1F82-513B8061103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BD0B60A-E9D1-6DF9-E676-4E4C17B0630C}"/>
              </a:ext>
            </a:extLst>
          </p:cNvPr>
          <p:cNvSpPr>
            <a:spLocks noGrp="1"/>
          </p:cNvSpPr>
          <p:nvPr>
            <p:ph type="dt" sz="half" idx="10"/>
          </p:nvPr>
        </p:nvSpPr>
        <p:spPr/>
        <p:txBody>
          <a:bodyPr/>
          <a:lstStyle/>
          <a:p>
            <a:fld id="{24CDB906-2F76-49CC-AE9E-52EEC77CAEB7}" type="datetime1">
              <a:rPr lang="zh-CN" altLang="en-US" smtClean="0"/>
              <a:t>2026/3/19</a:t>
            </a:fld>
            <a:endParaRPr lang="zh-CN" altLang="en-US"/>
          </a:p>
        </p:txBody>
      </p:sp>
      <p:sp>
        <p:nvSpPr>
          <p:cNvPr id="5" name="页脚占位符 4">
            <a:extLst>
              <a:ext uri="{FF2B5EF4-FFF2-40B4-BE49-F238E27FC236}">
                <a16:creationId xmlns:a16="http://schemas.microsoft.com/office/drawing/2014/main" id="{2C9FB029-BC06-C762-551E-9D3DF8429E2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081492-9115-E97A-29F1-A75E638D8BCA}"/>
              </a:ext>
            </a:extLst>
          </p:cNvPr>
          <p:cNvSpPr>
            <a:spLocks noGrp="1"/>
          </p:cNvSpPr>
          <p:nvPr>
            <p:ph type="sldNum" sz="quarter" idx="12"/>
          </p:nvPr>
        </p:nvSpPr>
        <p:spPr/>
        <p:txBody>
          <a:bodyPr/>
          <a:lstStyle/>
          <a:p>
            <a:fld id="{80A20FCA-19FD-493E-B829-F89FD60808BC}" type="slidenum">
              <a:rPr lang="zh-CN" altLang="en-US" smtClean="0"/>
              <a:t>‹#›</a:t>
            </a:fld>
            <a:endParaRPr lang="zh-CN" altLang="en-US"/>
          </a:p>
        </p:txBody>
      </p:sp>
    </p:spTree>
    <p:extLst>
      <p:ext uri="{BB962C8B-B14F-4D97-AF65-F5344CB8AC3E}">
        <p14:creationId xmlns:p14="http://schemas.microsoft.com/office/powerpoint/2010/main" val="4175142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B43DEB-5332-93D9-503A-36CDED24455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1E2B0D9-55FF-DC85-9344-83C78CD5D0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CFED2B9-7278-6EAE-BE04-4A4EFF50E2F4}"/>
              </a:ext>
            </a:extLst>
          </p:cNvPr>
          <p:cNvSpPr>
            <a:spLocks noGrp="1"/>
          </p:cNvSpPr>
          <p:nvPr>
            <p:ph type="dt" sz="half" idx="10"/>
          </p:nvPr>
        </p:nvSpPr>
        <p:spPr/>
        <p:txBody>
          <a:bodyPr/>
          <a:lstStyle/>
          <a:p>
            <a:fld id="{08438E95-9FC5-4E7D-8F89-ECA9753104C3}" type="datetime1">
              <a:rPr lang="zh-CN" altLang="en-US" smtClean="0"/>
              <a:t>2026/3/19</a:t>
            </a:fld>
            <a:endParaRPr lang="zh-CN" altLang="en-US"/>
          </a:p>
        </p:txBody>
      </p:sp>
      <p:sp>
        <p:nvSpPr>
          <p:cNvPr id="5" name="页脚占位符 4">
            <a:extLst>
              <a:ext uri="{FF2B5EF4-FFF2-40B4-BE49-F238E27FC236}">
                <a16:creationId xmlns:a16="http://schemas.microsoft.com/office/drawing/2014/main" id="{B6D0BFE9-FD7F-FA52-9451-D8BA0CFE7DF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6A2846-1564-E3BD-DC0C-A5C4CC36CDCB}"/>
              </a:ext>
            </a:extLst>
          </p:cNvPr>
          <p:cNvSpPr>
            <a:spLocks noGrp="1"/>
          </p:cNvSpPr>
          <p:nvPr>
            <p:ph type="sldNum" sz="quarter" idx="12"/>
          </p:nvPr>
        </p:nvSpPr>
        <p:spPr/>
        <p:txBody>
          <a:bodyPr/>
          <a:lstStyle/>
          <a:p>
            <a:fld id="{80A20FCA-19FD-493E-B829-F89FD60808BC}" type="slidenum">
              <a:rPr lang="zh-CN" altLang="en-US" smtClean="0"/>
              <a:t>‹#›</a:t>
            </a:fld>
            <a:endParaRPr lang="zh-CN" altLang="en-US"/>
          </a:p>
        </p:txBody>
      </p:sp>
    </p:spTree>
    <p:extLst>
      <p:ext uri="{BB962C8B-B14F-4D97-AF65-F5344CB8AC3E}">
        <p14:creationId xmlns:p14="http://schemas.microsoft.com/office/powerpoint/2010/main" val="2547517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858CA4-5D7A-002D-ED37-DD1DC530594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6565B53-7DC5-CC8F-B0D0-C8BA444E3B8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8664EB-2D21-53CE-BED3-78BB6AA8F1E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7D34AD5-C3B4-6EBB-A8E1-42F9378B629C}"/>
              </a:ext>
            </a:extLst>
          </p:cNvPr>
          <p:cNvSpPr>
            <a:spLocks noGrp="1"/>
          </p:cNvSpPr>
          <p:nvPr>
            <p:ph type="dt" sz="half" idx="10"/>
          </p:nvPr>
        </p:nvSpPr>
        <p:spPr/>
        <p:txBody>
          <a:bodyPr/>
          <a:lstStyle/>
          <a:p>
            <a:fld id="{606B113E-9217-475C-84BC-B55F4E594CAF}" type="datetime1">
              <a:rPr lang="zh-CN" altLang="en-US" smtClean="0"/>
              <a:t>2026/3/19</a:t>
            </a:fld>
            <a:endParaRPr lang="zh-CN" altLang="en-US"/>
          </a:p>
        </p:txBody>
      </p:sp>
      <p:sp>
        <p:nvSpPr>
          <p:cNvPr id="6" name="页脚占位符 5">
            <a:extLst>
              <a:ext uri="{FF2B5EF4-FFF2-40B4-BE49-F238E27FC236}">
                <a16:creationId xmlns:a16="http://schemas.microsoft.com/office/drawing/2014/main" id="{48F80FC1-39DF-C12C-E619-DDB95640F3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B4EA037-E381-8F15-A74F-64B204E7E951}"/>
              </a:ext>
            </a:extLst>
          </p:cNvPr>
          <p:cNvSpPr>
            <a:spLocks noGrp="1"/>
          </p:cNvSpPr>
          <p:nvPr>
            <p:ph type="sldNum" sz="quarter" idx="12"/>
          </p:nvPr>
        </p:nvSpPr>
        <p:spPr/>
        <p:txBody>
          <a:bodyPr/>
          <a:lstStyle/>
          <a:p>
            <a:fld id="{80A20FCA-19FD-493E-B829-F89FD60808BC}" type="slidenum">
              <a:rPr lang="zh-CN" altLang="en-US" smtClean="0"/>
              <a:t>‹#›</a:t>
            </a:fld>
            <a:endParaRPr lang="zh-CN" altLang="en-US"/>
          </a:p>
        </p:txBody>
      </p:sp>
    </p:spTree>
    <p:extLst>
      <p:ext uri="{BB962C8B-B14F-4D97-AF65-F5344CB8AC3E}">
        <p14:creationId xmlns:p14="http://schemas.microsoft.com/office/powerpoint/2010/main" val="669383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38AE53-E6A4-8CFD-8CF9-ACF307CA8CC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F833097-C5CA-A897-3D7D-5A567388E4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640C44E-2B26-D4BC-2EEF-62A26CAD36A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5D6388B-AEA4-0518-93AB-6B969E3CFD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2A71425-7511-C70E-705E-B438DE8C2F6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54D369A-0D70-D320-A590-FBFD844B5CF7}"/>
              </a:ext>
            </a:extLst>
          </p:cNvPr>
          <p:cNvSpPr>
            <a:spLocks noGrp="1"/>
          </p:cNvSpPr>
          <p:nvPr>
            <p:ph type="dt" sz="half" idx="10"/>
          </p:nvPr>
        </p:nvSpPr>
        <p:spPr/>
        <p:txBody>
          <a:bodyPr/>
          <a:lstStyle/>
          <a:p>
            <a:fld id="{EEFFF51D-FD92-4984-9D67-4DCAE945B0F1}" type="datetime1">
              <a:rPr lang="zh-CN" altLang="en-US" smtClean="0"/>
              <a:t>2026/3/19</a:t>
            </a:fld>
            <a:endParaRPr lang="zh-CN" altLang="en-US"/>
          </a:p>
        </p:txBody>
      </p:sp>
      <p:sp>
        <p:nvSpPr>
          <p:cNvPr id="8" name="页脚占位符 7">
            <a:extLst>
              <a:ext uri="{FF2B5EF4-FFF2-40B4-BE49-F238E27FC236}">
                <a16:creationId xmlns:a16="http://schemas.microsoft.com/office/drawing/2014/main" id="{395946F9-1C43-2AFA-7033-7A13E9D5267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95FAEB5-30C3-D18A-8FA3-4D3D76EAC76B}"/>
              </a:ext>
            </a:extLst>
          </p:cNvPr>
          <p:cNvSpPr>
            <a:spLocks noGrp="1"/>
          </p:cNvSpPr>
          <p:nvPr>
            <p:ph type="sldNum" sz="quarter" idx="12"/>
          </p:nvPr>
        </p:nvSpPr>
        <p:spPr/>
        <p:txBody>
          <a:bodyPr/>
          <a:lstStyle/>
          <a:p>
            <a:fld id="{80A20FCA-19FD-493E-B829-F89FD60808BC}" type="slidenum">
              <a:rPr lang="zh-CN" altLang="en-US" smtClean="0"/>
              <a:t>‹#›</a:t>
            </a:fld>
            <a:endParaRPr lang="zh-CN" altLang="en-US"/>
          </a:p>
        </p:txBody>
      </p:sp>
    </p:spTree>
    <p:extLst>
      <p:ext uri="{BB962C8B-B14F-4D97-AF65-F5344CB8AC3E}">
        <p14:creationId xmlns:p14="http://schemas.microsoft.com/office/powerpoint/2010/main" val="1278928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E46EB2-F09A-98D0-F20F-646B888E191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BE1F27D-CEF1-AB45-1867-5321C4103912}"/>
              </a:ext>
            </a:extLst>
          </p:cNvPr>
          <p:cNvSpPr>
            <a:spLocks noGrp="1"/>
          </p:cNvSpPr>
          <p:nvPr>
            <p:ph type="dt" sz="half" idx="10"/>
          </p:nvPr>
        </p:nvSpPr>
        <p:spPr/>
        <p:txBody>
          <a:bodyPr/>
          <a:lstStyle/>
          <a:p>
            <a:fld id="{93A36A10-701C-4E4F-B80C-18406103741C}" type="datetime1">
              <a:rPr lang="zh-CN" altLang="en-US" smtClean="0"/>
              <a:t>2026/3/19</a:t>
            </a:fld>
            <a:endParaRPr lang="zh-CN" altLang="en-US"/>
          </a:p>
        </p:txBody>
      </p:sp>
      <p:sp>
        <p:nvSpPr>
          <p:cNvPr id="4" name="页脚占位符 3">
            <a:extLst>
              <a:ext uri="{FF2B5EF4-FFF2-40B4-BE49-F238E27FC236}">
                <a16:creationId xmlns:a16="http://schemas.microsoft.com/office/drawing/2014/main" id="{036CD7CD-B9C5-1D4B-8DCE-229F1BFC528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566AD18-2F51-2651-3B66-494B311E4EF1}"/>
              </a:ext>
            </a:extLst>
          </p:cNvPr>
          <p:cNvSpPr>
            <a:spLocks noGrp="1"/>
          </p:cNvSpPr>
          <p:nvPr>
            <p:ph type="sldNum" sz="quarter" idx="12"/>
          </p:nvPr>
        </p:nvSpPr>
        <p:spPr/>
        <p:txBody>
          <a:bodyPr/>
          <a:lstStyle/>
          <a:p>
            <a:fld id="{80A20FCA-19FD-493E-B829-F89FD60808BC}" type="slidenum">
              <a:rPr lang="zh-CN" altLang="en-US" smtClean="0"/>
              <a:t>‹#›</a:t>
            </a:fld>
            <a:endParaRPr lang="zh-CN" altLang="en-US"/>
          </a:p>
        </p:txBody>
      </p:sp>
    </p:spTree>
    <p:extLst>
      <p:ext uri="{BB962C8B-B14F-4D97-AF65-F5344CB8AC3E}">
        <p14:creationId xmlns:p14="http://schemas.microsoft.com/office/powerpoint/2010/main" val="833971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52E219A-A298-20F5-43F9-5DA83E2E342E}"/>
              </a:ext>
            </a:extLst>
          </p:cNvPr>
          <p:cNvSpPr>
            <a:spLocks noGrp="1"/>
          </p:cNvSpPr>
          <p:nvPr>
            <p:ph type="dt" sz="half" idx="10"/>
          </p:nvPr>
        </p:nvSpPr>
        <p:spPr/>
        <p:txBody>
          <a:bodyPr/>
          <a:lstStyle/>
          <a:p>
            <a:fld id="{562BBC50-BE23-4481-8F55-17F0BEA3FC9E}" type="datetime1">
              <a:rPr lang="zh-CN" altLang="en-US" smtClean="0"/>
              <a:t>2026/3/19</a:t>
            </a:fld>
            <a:endParaRPr lang="zh-CN" altLang="en-US"/>
          </a:p>
        </p:txBody>
      </p:sp>
      <p:sp>
        <p:nvSpPr>
          <p:cNvPr id="3" name="页脚占位符 2">
            <a:extLst>
              <a:ext uri="{FF2B5EF4-FFF2-40B4-BE49-F238E27FC236}">
                <a16:creationId xmlns:a16="http://schemas.microsoft.com/office/drawing/2014/main" id="{20F0A768-D4FD-13C6-550D-937DE78C448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45E09D1-850F-3B69-D569-1087E03E3618}"/>
              </a:ext>
            </a:extLst>
          </p:cNvPr>
          <p:cNvSpPr>
            <a:spLocks noGrp="1"/>
          </p:cNvSpPr>
          <p:nvPr>
            <p:ph type="sldNum" sz="quarter" idx="12"/>
          </p:nvPr>
        </p:nvSpPr>
        <p:spPr/>
        <p:txBody>
          <a:bodyPr/>
          <a:lstStyle/>
          <a:p>
            <a:fld id="{80A20FCA-19FD-493E-B829-F89FD60808BC}" type="slidenum">
              <a:rPr lang="zh-CN" altLang="en-US" smtClean="0"/>
              <a:t>‹#›</a:t>
            </a:fld>
            <a:endParaRPr lang="zh-CN" altLang="en-US"/>
          </a:p>
        </p:txBody>
      </p:sp>
    </p:spTree>
    <p:extLst>
      <p:ext uri="{BB962C8B-B14F-4D97-AF65-F5344CB8AC3E}">
        <p14:creationId xmlns:p14="http://schemas.microsoft.com/office/powerpoint/2010/main" val="4236945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D5A219-F1E5-4BB9-06B9-05EACD3B66B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3307F78-D15D-8A79-AC64-6008FE58CA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9CCA3D8-3E87-68C2-3CD9-AD46816E62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ED76CE6-C027-4EDD-7B7B-85AE556FB153}"/>
              </a:ext>
            </a:extLst>
          </p:cNvPr>
          <p:cNvSpPr>
            <a:spLocks noGrp="1"/>
          </p:cNvSpPr>
          <p:nvPr>
            <p:ph type="dt" sz="half" idx="10"/>
          </p:nvPr>
        </p:nvSpPr>
        <p:spPr/>
        <p:txBody>
          <a:bodyPr/>
          <a:lstStyle/>
          <a:p>
            <a:fld id="{AE1D066D-FB42-45E5-8E3C-34471206BF19}" type="datetime1">
              <a:rPr lang="zh-CN" altLang="en-US" smtClean="0"/>
              <a:t>2026/3/19</a:t>
            </a:fld>
            <a:endParaRPr lang="zh-CN" altLang="en-US"/>
          </a:p>
        </p:txBody>
      </p:sp>
      <p:sp>
        <p:nvSpPr>
          <p:cNvPr id="6" name="页脚占位符 5">
            <a:extLst>
              <a:ext uri="{FF2B5EF4-FFF2-40B4-BE49-F238E27FC236}">
                <a16:creationId xmlns:a16="http://schemas.microsoft.com/office/drawing/2014/main" id="{45FD1251-10FA-CE34-4900-7D23B4830F1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E148D34-E90E-5690-FF53-F342A236795A}"/>
              </a:ext>
            </a:extLst>
          </p:cNvPr>
          <p:cNvSpPr>
            <a:spLocks noGrp="1"/>
          </p:cNvSpPr>
          <p:nvPr>
            <p:ph type="sldNum" sz="quarter" idx="12"/>
          </p:nvPr>
        </p:nvSpPr>
        <p:spPr/>
        <p:txBody>
          <a:bodyPr/>
          <a:lstStyle/>
          <a:p>
            <a:fld id="{80A20FCA-19FD-493E-B829-F89FD60808BC}" type="slidenum">
              <a:rPr lang="zh-CN" altLang="en-US" smtClean="0"/>
              <a:t>‹#›</a:t>
            </a:fld>
            <a:endParaRPr lang="zh-CN" altLang="en-US"/>
          </a:p>
        </p:txBody>
      </p:sp>
    </p:spTree>
    <p:extLst>
      <p:ext uri="{BB962C8B-B14F-4D97-AF65-F5344CB8AC3E}">
        <p14:creationId xmlns:p14="http://schemas.microsoft.com/office/powerpoint/2010/main" val="23064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2D50B1-DEFB-3F5C-D02E-0BA62BEF91A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E3804FD-8DA9-4800-9F06-E577D5DBC3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1162411-FF51-A13F-F762-50926D929A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629760-7AD4-AF9F-2B37-61375AC72DEB}"/>
              </a:ext>
            </a:extLst>
          </p:cNvPr>
          <p:cNvSpPr>
            <a:spLocks noGrp="1"/>
          </p:cNvSpPr>
          <p:nvPr>
            <p:ph type="dt" sz="half" idx="10"/>
          </p:nvPr>
        </p:nvSpPr>
        <p:spPr/>
        <p:txBody>
          <a:bodyPr/>
          <a:lstStyle/>
          <a:p>
            <a:fld id="{F6040A3F-F21C-4A63-B6D1-D1ADD4DB78E8}" type="datetime1">
              <a:rPr lang="zh-CN" altLang="en-US" smtClean="0"/>
              <a:t>2026/3/19</a:t>
            </a:fld>
            <a:endParaRPr lang="zh-CN" altLang="en-US"/>
          </a:p>
        </p:txBody>
      </p:sp>
      <p:sp>
        <p:nvSpPr>
          <p:cNvPr id="6" name="页脚占位符 5">
            <a:extLst>
              <a:ext uri="{FF2B5EF4-FFF2-40B4-BE49-F238E27FC236}">
                <a16:creationId xmlns:a16="http://schemas.microsoft.com/office/drawing/2014/main" id="{78FFC7FD-CFDD-8945-D95E-A7C36F88EB9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DC54B2A-B821-0F9B-8765-3C5445632262}"/>
              </a:ext>
            </a:extLst>
          </p:cNvPr>
          <p:cNvSpPr>
            <a:spLocks noGrp="1"/>
          </p:cNvSpPr>
          <p:nvPr>
            <p:ph type="sldNum" sz="quarter" idx="12"/>
          </p:nvPr>
        </p:nvSpPr>
        <p:spPr/>
        <p:txBody>
          <a:bodyPr/>
          <a:lstStyle/>
          <a:p>
            <a:fld id="{80A20FCA-19FD-493E-B829-F89FD60808BC}" type="slidenum">
              <a:rPr lang="zh-CN" altLang="en-US" smtClean="0"/>
              <a:t>‹#›</a:t>
            </a:fld>
            <a:endParaRPr lang="zh-CN" altLang="en-US"/>
          </a:p>
        </p:txBody>
      </p:sp>
    </p:spTree>
    <p:extLst>
      <p:ext uri="{BB962C8B-B14F-4D97-AF65-F5344CB8AC3E}">
        <p14:creationId xmlns:p14="http://schemas.microsoft.com/office/powerpoint/2010/main" val="2285887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31C5E8-2F6D-24C2-B32A-EC2325B5224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C66FDE5-BED3-75F9-CA1D-0D2FF8B95A6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894BC9-3998-CB92-57CB-46B22A4D19E7}"/>
              </a:ext>
            </a:extLst>
          </p:cNvPr>
          <p:cNvSpPr>
            <a:spLocks noGrp="1"/>
          </p:cNvSpPr>
          <p:nvPr>
            <p:ph type="dt" sz="half" idx="10"/>
          </p:nvPr>
        </p:nvSpPr>
        <p:spPr/>
        <p:txBody>
          <a:bodyPr/>
          <a:lstStyle/>
          <a:p>
            <a:fld id="{F1B7F664-8B44-4296-B431-8DB7C3792281}" type="datetime1">
              <a:rPr lang="zh-CN" altLang="en-US" smtClean="0"/>
              <a:t>2026/3/19</a:t>
            </a:fld>
            <a:endParaRPr lang="zh-CN" altLang="en-US"/>
          </a:p>
        </p:txBody>
      </p:sp>
      <p:sp>
        <p:nvSpPr>
          <p:cNvPr id="5" name="页脚占位符 4">
            <a:extLst>
              <a:ext uri="{FF2B5EF4-FFF2-40B4-BE49-F238E27FC236}">
                <a16:creationId xmlns:a16="http://schemas.microsoft.com/office/drawing/2014/main" id="{084520A0-D858-E81A-4D8A-56B4FBF7BF1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FF33E9B-5441-2A42-1CBD-DDA99E2756C0}"/>
              </a:ext>
            </a:extLst>
          </p:cNvPr>
          <p:cNvSpPr>
            <a:spLocks noGrp="1"/>
          </p:cNvSpPr>
          <p:nvPr>
            <p:ph type="sldNum" sz="quarter" idx="12"/>
          </p:nvPr>
        </p:nvSpPr>
        <p:spPr/>
        <p:txBody>
          <a:bodyPr/>
          <a:lstStyle/>
          <a:p>
            <a:fld id="{80A20FCA-19FD-493E-B829-F89FD60808BC}" type="slidenum">
              <a:rPr lang="zh-CN" altLang="en-US" smtClean="0"/>
              <a:t>‹#›</a:t>
            </a:fld>
            <a:endParaRPr lang="zh-CN" altLang="en-US"/>
          </a:p>
        </p:txBody>
      </p:sp>
    </p:spTree>
    <p:extLst>
      <p:ext uri="{BB962C8B-B14F-4D97-AF65-F5344CB8AC3E}">
        <p14:creationId xmlns:p14="http://schemas.microsoft.com/office/powerpoint/2010/main" val="3184307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DCFC8EA-A4D8-25C1-EED0-B75A90FFA33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5305388-67FF-EE95-E0C3-12212FA730B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456679D-F095-C247-3176-6DBA8ED5365F}"/>
              </a:ext>
            </a:extLst>
          </p:cNvPr>
          <p:cNvSpPr>
            <a:spLocks noGrp="1"/>
          </p:cNvSpPr>
          <p:nvPr>
            <p:ph type="dt" sz="half" idx="10"/>
          </p:nvPr>
        </p:nvSpPr>
        <p:spPr/>
        <p:txBody>
          <a:bodyPr/>
          <a:lstStyle/>
          <a:p>
            <a:fld id="{1AD6BD88-C4F0-450C-8E8B-011B70AC7A0A}" type="datetime1">
              <a:rPr lang="zh-CN" altLang="en-US" smtClean="0"/>
              <a:t>2026/3/19</a:t>
            </a:fld>
            <a:endParaRPr lang="zh-CN" altLang="en-US"/>
          </a:p>
        </p:txBody>
      </p:sp>
      <p:sp>
        <p:nvSpPr>
          <p:cNvPr id="5" name="页脚占位符 4">
            <a:extLst>
              <a:ext uri="{FF2B5EF4-FFF2-40B4-BE49-F238E27FC236}">
                <a16:creationId xmlns:a16="http://schemas.microsoft.com/office/drawing/2014/main" id="{5315809E-E294-0AF5-CE90-BB392071F80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0708386-745D-FDAA-FB13-9BAD18C70FF8}"/>
              </a:ext>
            </a:extLst>
          </p:cNvPr>
          <p:cNvSpPr>
            <a:spLocks noGrp="1"/>
          </p:cNvSpPr>
          <p:nvPr>
            <p:ph type="sldNum" sz="quarter" idx="12"/>
          </p:nvPr>
        </p:nvSpPr>
        <p:spPr/>
        <p:txBody>
          <a:bodyPr/>
          <a:lstStyle/>
          <a:p>
            <a:fld id="{80A20FCA-19FD-493E-B829-F89FD60808BC}" type="slidenum">
              <a:rPr lang="zh-CN" altLang="en-US" smtClean="0"/>
              <a:t>‹#›</a:t>
            </a:fld>
            <a:endParaRPr lang="zh-CN" altLang="en-US"/>
          </a:p>
        </p:txBody>
      </p:sp>
    </p:spTree>
    <p:extLst>
      <p:ext uri="{BB962C8B-B14F-4D97-AF65-F5344CB8AC3E}">
        <p14:creationId xmlns:p14="http://schemas.microsoft.com/office/powerpoint/2010/main" val="2287240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7F63F54-D463-1BAD-DF2A-5F71F64491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FC84C5C7-5AD2-CD01-351E-A5F517035D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60F5D0CC-B975-3235-2659-9100C4A84F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楷体" panose="02010609060101010101" pitchFamily="49" charset="-122"/>
                <a:ea typeface="楷体" panose="02010609060101010101" pitchFamily="49" charset="-122"/>
              </a:defRPr>
            </a:lvl1pPr>
          </a:lstStyle>
          <a:p>
            <a:fld id="{22514D38-C9ED-4B04-BCDC-EEC7C67689E6}" type="datetime1">
              <a:rPr lang="zh-CN" altLang="en-US" smtClean="0"/>
              <a:t>2026/3/19</a:t>
            </a:fld>
            <a:endParaRPr lang="zh-CN" altLang="en-US" dirty="0"/>
          </a:p>
        </p:txBody>
      </p:sp>
      <p:sp>
        <p:nvSpPr>
          <p:cNvPr id="5" name="页脚占位符 4">
            <a:extLst>
              <a:ext uri="{FF2B5EF4-FFF2-40B4-BE49-F238E27FC236}">
                <a16:creationId xmlns:a16="http://schemas.microsoft.com/office/drawing/2014/main" id="{286C392E-22B0-81E7-6366-AFD7BD62C1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a:extLst>
              <a:ext uri="{FF2B5EF4-FFF2-40B4-BE49-F238E27FC236}">
                <a16:creationId xmlns:a16="http://schemas.microsoft.com/office/drawing/2014/main" id="{1AB84C59-7E46-CF71-AAA8-1D8EB951B7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楷体" panose="02010609060101010101" pitchFamily="49" charset="-122"/>
                <a:ea typeface="楷体" panose="02010609060101010101" pitchFamily="49" charset="-122"/>
              </a:defRPr>
            </a:lvl1pPr>
          </a:lstStyle>
          <a:p>
            <a:fld id="{80A20FCA-19FD-493E-B829-F89FD60808BC}" type="slidenum">
              <a:rPr lang="zh-CN" altLang="en-US" smtClean="0"/>
              <a:pPr/>
              <a:t>‹#›</a:t>
            </a:fld>
            <a:endParaRPr lang="zh-CN" altLang="en-US" dirty="0"/>
          </a:p>
        </p:txBody>
      </p:sp>
    </p:spTree>
    <p:extLst>
      <p:ext uri="{BB962C8B-B14F-4D97-AF65-F5344CB8AC3E}">
        <p14:creationId xmlns:p14="http://schemas.microsoft.com/office/powerpoint/2010/main" val="3446432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ACAA0D-DAD4-33B2-4528-F8C87288D62E}"/>
              </a:ext>
            </a:extLst>
          </p:cNvPr>
          <p:cNvSpPr>
            <a:spLocks noGrp="1"/>
          </p:cNvSpPr>
          <p:nvPr>
            <p:ph type="ctrTitle"/>
          </p:nvPr>
        </p:nvSpPr>
        <p:spPr>
          <a:xfrm>
            <a:off x="1524000" y="2503055"/>
            <a:ext cx="9144000" cy="1006908"/>
          </a:xfrm>
        </p:spPr>
        <p:txBody>
          <a:bodyPr/>
          <a:lstStyle/>
          <a:p>
            <a:r>
              <a:rPr lang="zh-CN" altLang="en-US" dirty="0"/>
              <a:t>美国产业政策</a:t>
            </a:r>
            <a:r>
              <a:rPr lang="en-US" altLang="zh-CN" dirty="0"/>
              <a:t>2025</a:t>
            </a:r>
            <a:endParaRPr lang="zh-CN" altLang="en-US" dirty="0"/>
          </a:p>
        </p:txBody>
      </p:sp>
      <p:sp>
        <p:nvSpPr>
          <p:cNvPr id="3" name="副标题 2">
            <a:extLst>
              <a:ext uri="{FF2B5EF4-FFF2-40B4-BE49-F238E27FC236}">
                <a16:creationId xmlns:a16="http://schemas.microsoft.com/office/drawing/2014/main" id="{D9E08B8E-6C67-D33A-87F5-B05B09D5D59A}"/>
              </a:ext>
            </a:extLst>
          </p:cNvPr>
          <p:cNvSpPr>
            <a:spLocks noGrp="1"/>
          </p:cNvSpPr>
          <p:nvPr>
            <p:ph type="subTitle"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176084C-6BC2-9E0C-C378-EAD38C2871B5}"/>
              </a:ext>
            </a:extLst>
          </p:cNvPr>
          <p:cNvSpPr>
            <a:spLocks noGrp="1"/>
          </p:cNvSpPr>
          <p:nvPr>
            <p:ph type="sldNum" sz="quarter" idx="12"/>
          </p:nvPr>
        </p:nvSpPr>
        <p:spPr/>
        <p:txBody>
          <a:bodyPr/>
          <a:lstStyle/>
          <a:p>
            <a:fld id="{80A20FCA-19FD-493E-B829-F89FD60808BC}" type="slidenum">
              <a:rPr lang="zh-CN" altLang="en-US" smtClean="0"/>
              <a:t>1</a:t>
            </a:fld>
            <a:endParaRPr lang="zh-CN" altLang="en-US"/>
          </a:p>
        </p:txBody>
      </p:sp>
    </p:spTree>
    <p:extLst>
      <p:ext uri="{BB962C8B-B14F-4D97-AF65-F5344CB8AC3E}">
        <p14:creationId xmlns:p14="http://schemas.microsoft.com/office/powerpoint/2010/main" val="686435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48907-E1E0-7EEF-48F5-BAD05426C5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F599E53-C0AB-4DB4-3E17-826209442323}"/>
              </a:ext>
            </a:extLst>
          </p:cNvPr>
          <p:cNvSpPr>
            <a:spLocks noGrp="1"/>
          </p:cNvSpPr>
          <p:nvPr>
            <p:ph type="title"/>
          </p:nvPr>
        </p:nvSpPr>
        <p:spPr>
          <a:xfrm>
            <a:off x="301465" y="29006"/>
            <a:ext cx="10515600" cy="1325563"/>
          </a:xfrm>
        </p:spPr>
        <p:txBody>
          <a:bodyPr>
            <a:normAutofit/>
          </a:bodyPr>
          <a:lstStyle/>
          <a:p>
            <a:r>
              <a:rPr lang="zh-CN" altLang="en-US" sz="3200" dirty="0"/>
              <a:t>从板块划分</a:t>
            </a:r>
          </a:p>
        </p:txBody>
      </p:sp>
      <p:sp>
        <p:nvSpPr>
          <p:cNvPr id="3" name="内容占位符 2">
            <a:extLst>
              <a:ext uri="{FF2B5EF4-FFF2-40B4-BE49-F238E27FC236}">
                <a16:creationId xmlns:a16="http://schemas.microsoft.com/office/drawing/2014/main" id="{88104E78-A865-BBC3-2724-F805B14A8AF8}"/>
              </a:ext>
            </a:extLst>
          </p:cNvPr>
          <p:cNvSpPr>
            <a:spLocks noGrp="1"/>
          </p:cNvSpPr>
          <p:nvPr>
            <p:ph idx="1"/>
          </p:nvPr>
        </p:nvSpPr>
        <p:spPr>
          <a:xfrm>
            <a:off x="691445" y="1061058"/>
            <a:ext cx="10515600" cy="4955919"/>
          </a:xfrm>
        </p:spPr>
        <p:txBody>
          <a:bodyPr>
            <a:normAutofit/>
          </a:bodyPr>
          <a:lstStyle/>
          <a:p>
            <a:r>
              <a:rPr lang="zh-CN" altLang="en-US" sz="2400" dirty="0"/>
              <a:t>国防</a:t>
            </a:r>
            <a:endParaRPr lang="en-US" altLang="zh-CN" sz="2400" dirty="0"/>
          </a:p>
          <a:p>
            <a:r>
              <a:rPr lang="zh-CN" altLang="en-US" sz="2400" dirty="0"/>
              <a:t>关键矿产</a:t>
            </a:r>
            <a:endParaRPr lang="en-US" altLang="zh-CN" sz="2400" dirty="0"/>
          </a:p>
          <a:p>
            <a:r>
              <a:rPr lang="zh-CN" altLang="en-US" sz="2400" dirty="0"/>
              <a:t>核工业</a:t>
            </a:r>
            <a:endParaRPr lang="en-US" altLang="zh-CN" sz="2400" dirty="0"/>
          </a:p>
          <a:p>
            <a:r>
              <a:rPr lang="zh-CN" altLang="en-US" sz="2400" dirty="0"/>
              <a:t>人工智能软件</a:t>
            </a:r>
            <a:endParaRPr lang="en-US" altLang="zh-CN" sz="2400" dirty="0"/>
          </a:p>
          <a:p>
            <a:r>
              <a:rPr lang="zh-CN" altLang="en-US" sz="2400" dirty="0"/>
              <a:t>半导体</a:t>
            </a:r>
            <a:endParaRPr lang="en-US" altLang="zh-CN" sz="2400" dirty="0"/>
          </a:p>
          <a:p>
            <a:r>
              <a:rPr lang="zh-CN" altLang="en-US" sz="2400" dirty="0"/>
              <a:t>生物与合成医学</a:t>
            </a:r>
            <a:endParaRPr lang="en-US" altLang="zh-CN" sz="2400" dirty="0"/>
          </a:p>
          <a:p>
            <a:r>
              <a:rPr lang="zh-CN" altLang="en-US" sz="2400" dirty="0"/>
              <a:t>专项项目和办公室</a:t>
            </a:r>
            <a:endParaRPr lang="en-US" altLang="zh-CN" sz="2400" dirty="0"/>
          </a:p>
          <a:p>
            <a:endParaRPr lang="en-US" altLang="zh-CN" sz="2400" dirty="0"/>
          </a:p>
          <a:p>
            <a:pPr marL="0" indent="0">
              <a:buNone/>
            </a:pPr>
            <a:r>
              <a:rPr lang="zh-CN" altLang="en-US" sz="2400" dirty="0"/>
              <a:t>对每个板块，分别分析或有（而不必有的）</a:t>
            </a:r>
            <a:endParaRPr lang="en-US" altLang="zh-CN" sz="2400" dirty="0"/>
          </a:p>
          <a:p>
            <a:pPr marL="0" indent="0">
              <a:buNone/>
            </a:pPr>
            <a:r>
              <a:rPr lang="en-US" altLang="zh-CN" sz="2400" dirty="0"/>
              <a:t>1.</a:t>
            </a:r>
            <a:r>
              <a:rPr lang="zh-CN" altLang="en-US" sz="2400" dirty="0"/>
              <a:t>特征，</a:t>
            </a:r>
            <a:r>
              <a:rPr lang="en-US" altLang="zh-CN" sz="2400" dirty="0"/>
              <a:t>2.</a:t>
            </a:r>
            <a:r>
              <a:rPr lang="zh-CN" altLang="en-US" sz="2400" dirty="0"/>
              <a:t>政策</a:t>
            </a:r>
            <a:r>
              <a:rPr lang="en-US" altLang="zh-CN" sz="2400" dirty="0"/>
              <a:t>&amp;</a:t>
            </a:r>
            <a:r>
              <a:rPr lang="zh-CN" altLang="en-US" sz="2400" dirty="0"/>
              <a:t>法令 </a:t>
            </a:r>
            <a:r>
              <a:rPr lang="en-US" altLang="zh-CN" sz="2400" dirty="0"/>
              <a:t>3.</a:t>
            </a:r>
            <a:r>
              <a:rPr lang="zh-CN" altLang="en-US" sz="2400" dirty="0"/>
              <a:t>政府机构，</a:t>
            </a:r>
            <a:r>
              <a:rPr lang="en-US" altLang="zh-CN" sz="2400" dirty="0"/>
              <a:t>4.</a:t>
            </a:r>
            <a:r>
              <a:rPr lang="zh-CN" altLang="en-US" sz="2400" dirty="0"/>
              <a:t>工业界动作</a:t>
            </a:r>
            <a:endParaRPr lang="en-US" altLang="zh-CN" sz="2400" dirty="0"/>
          </a:p>
          <a:p>
            <a:pPr marL="0" indent="0">
              <a:buNone/>
            </a:pPr>
            <a:endParaRPr lang="en-US" altLang="zh-CN" sz="2400" dirty="0"/>
          </a:p>
          <a:p>
            <a:pPr marL="0" indent="0">
              <a:buNone/>
            </a:pPr>
            <a:endParaRPr lang="en-US" altLang="zh-CN" sz="2400" dirty="0"/>
          </a:p>
        </p:txBody>
      </p:sp>
      <p:sp>
        <p:nvSpPr>
          <p:cNvPr id="4" name="灯片编号占位符 3">
            <a:extLst>
              <a:ext uri="{FF2B5EF4-FFF2-40B4-BE49-F238E27FC236}">
                <a16:creationId xmlns:a16="http://schemas.microsoft.com/office/drawing/2014/main" id="{55484774-5C95-2BBB-A585-B4C9A02C4996}"/>
              </a:ext>
            </a:extLst>
          </p:cNvPr>
          <p:cNvSpPr>
            <a:spLocks noGrp="1"/>
          </p:cNvSpPr>
          <p:nvPr>
            <p:ph type="sldNum" sz="quarter" idx="12"/>
          </p:nvPr>
        </p:nvSpPr>
        <p:spPr/>
        <p:txBody>
          <a:bodyPr/>
          <a:lstStyle/>
          <a:p>
            <a:fld id="{80A20FCA-19FD-493E-B829-F89FD60808BC}" type="slidenum">
              <a:rPr lang="zh-CN" altLang="en-US" smtClean="0"/>
              <a:t>2</a:t>
            </a:fld>
            <a:endParaRPr lang="zh-CN" altLang="en-US"/>
          </a:p>
        </p:txBody>
      </p:sp>
    </p:spTree>
    <p:extLst>
      <p:ext uri="{BB962C8B-B14F-4D97-AF65-F5344CB8AC3E}">
        <p14:creationId xmlns:p14="http://schemas.microsoft.com/office/powerpoint/2010/main" val="2315254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463FD-5385-CDE2-05F1-7F29D6C705C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44F3421-8B6C-5F5D-DA89-6C09842A0888}"/>
              </a:ext>
            </a:extLst>
          </p:cNvPr>
          <p:cNvSpPr>
            <a:spLocks noGrp="1"/>
          </p:cNvSpPr>
          <p:nvPr>
            <p:ph type="title"/>
          </p:nvPr>
        </p:nvSpPr>
        <p:spPr/>
        <p:txBody>
          <a:bodyPr>
            <a:normAutofit/>
          </a:bodyPr>
          <a:lstStyle/>
          <a:p>
            <a:r>
              <a:rPr lang="zh-CN" altLang="en-US" sz="3200" dirty="0"/>
              <a:t>一些会反复出现的支持力量</a:t>
            </a:r>
          </a:p>
        </p:txBody>
      </p:sp>
      <p:sp>
        <p:nvSpPr>
          <p:cNvPr id="3" name="内容占位符 2">
            <a:extLst>
              <a:ext uri="{FF2B5EF4-FFF2-40B4-BE49-F238E27FC236}">
                <a16:creationId xmlns:a16="http://schemas.microsoft.com/office/drawing/2014/main" id="{DFF6F347-8251-A218-26D0-829C1BD8AF6E}"/>
              </a:ext>
            </a:extLst>
          </p:cNvPr>
          <p:cNvSpPr>
            <a:spLocks noGrp="1"/>
          </p:cNvSpPr>
          <p:nvPr>
            <p:ph idx="1"/>
          </p:nvPr>
        </p:nvSpPr>
        <p:spPr/>
        <p:txBody>
          <a:bodyPr/>
          <a:lstStyle/>
          <a:p>
            <a:pPr marL="0" indent="0">
              <a:buNone/>
            </a:pPr>
            <a:endParaRPr lang="en-US" altLang="zh-CN" dirty="0"/>
          </a:p>
          <a:p>
            <a:pPr marL="0" indent="0">
              <a:buNone/>
            </a:pPr>
            <a:r>
              <a:rPr lang="zh-CN" altLang="en-US" dirty="0"/>
              <a:t>宏观预算框架：大而美法案（</a:t>
            </a:r>
            <a:r>
              <a:rPr lang="en-US" altLang="zh-CN" dirty="0"/>
              <a:t>OBBBA</a:t>
            </a:r>
            <a:r>
              <a:rPr lang="zh-CN" altLang="en-US" dirty="0"/>
              <a:t>）</a:t>
            </a:r>
            <a:r>
              <a:rPr lang="en-US" altLang="zh-CN" dirty="0"/>
              <a:t>—</a:t>
            </a:r>
            <a:r>
              <a:rPr lang="zh-CN" altLang="en-US" dirty="0"/>
              <a:t>上限</a:t>
            </a:r>
            <a:r>
              <a:rPr lang="en-US" altLang="zh-CN" dirty="0"/>
              <a:t>50000</a:t>
            </a:r>
            <a:r>
              <a:rPr lang="zh-CN" altLang="en-US" dirty="0"/>
              <a:t>亿</a:t>
            </a:r>
            <a:endParaRPr lang="en-US" altLang="zh-CN" dirty="0"/>
          </a:p>
          <a:p>
            <a:pPr marL="0" indent="0">
              <a:buNone/>
            </a:pPr>
            <a:r>
              <a:rPr lang="zh-CN" altLang="en-US" dirty="0"/>
              <a:t>定向信贷和直投：美国能源部直投（</a:t>
            </a:r>
            <a:r>
              <a:rPr lang="en-US" altLang="zh-CN" dirty="0"/>
              <a:t>DOE</a:t>
            </a:r>
            <a:r>
              <a:rPr lang="zh-CN" altLang="en-US" dirty="0"/>
              <a:t>）</a:t>
            </a:r>
            <a:r>
              <a:rPr lang="en-US" altLang="zh-CN" dirty="0"/>
              <a:t>—</a:t>
            </a:r>
            <a:r>
              <a:rPr lang="zh-CN" altLang="en-US" dirty="0"/>
              <a:t>上限</a:t>
            </a:r>
            <a:r>
              <a:rPr lang="en-US" altLang="zh-CN" dirty="0"/>
              <a:t>2500</a:t>
            </a:r>
            <a:r>
              <a:rPr lang="zh-CN" altLang="en-US" dirty="0"/>
              <a:t>亿</a:t>
            </a:r>
            <a:endParaRPr lang="en-US" altLang="zh-CN" dirty="0"/>
          </a:p>
          <a:p>
            <a:pPr marL="0" indent="0">
              <a:buNone/>
            </a:pPr>
            <a:r>
              <a:rPr lang="en-US" altLang="zh-CN" dirty="0"/>
              <a:t>			 </a:t>
            </a:r>
            <a:r>
              <a:rPr lang="zh-CN" altLang="en-US" dirty="0"/>
              <a:t>国防部战略资本研究室（</a:t>
            </a:r>
            <a:r>
              <a:rPr lang="en-US" altLang="zh-CN" dirty="0"/>
              <a:t>OSC</a:t>
            </a:r>
            <a:r>
              <a:rPr lang="zh-CN" altLang="en-US" dirty="0"/>
              <a:t>）</a:t>
            </a:r>
            <a:r>
              <a:rPr lang="en-US" altLang="zh-CN" dirty="0"/>
              <a:t>—</a:t>
            </a:r>
            <a:r>
              <a:rPr lang="zh-CN" altLang="en-US" dirty="0"/>
              <a:t>杠杆资本</a:t>
            </a:r>
            <a:endParaRPr lang="en-US" altLang="zh-CN" dirty="0"/>
          </a:p>
          <a:p>
            <a:pPr marL="0" indent="0">
              <a:buNone/>
            </a:pPr>
            <a:r>
              <a:rPr lang="zh-CN" altLang="en-US" dirty="0"/>
              <a:t>专项拨款：芯片计划</a:t>
            </a:r>
            <a:r>
              <a:rPr lang="en-US" altLang="zh-CN" dirty="0"/>
              <a:t>·</a:t>
            </a:r>
            <a:r>
              <a:rPr lang="zh-CN" altLang="en-US" dirty="0"/>
              <a:t>芯片科学法案直投（</a:t>
            </a:r>
            <a:r>
              <a:rPr lang="en-US" altLang="zh-CN" dirty="0"/>
              <a:t>CHIPS</a:t>
            </a:r>
            <a:r>
              <a:rPr lang="zh-CN" altLang="en-US" dirty="0"/>
              <a:t>）</a:t>
            </a:r>
            <a:r>
              <a:rPr lang="en-US" altLang="zh-CN" dirty="0"/>
              <a:t>—</a:t>
            </a:r>
            <a:r>
              <a:rPr lang="zh-CN" altLang="en-US" dirty="0"/>
              <a:t>上限</a:t>
            </a:r>
            <a:r>
              <a:rPr lang="en-US" altLang="zh-CN" dirty="0"/>
              <a:t>2800</a:t>
            </a:r>
            <a:r>
              <a:rPr lang="zh-CN" altLang="en-US" dirty="0"/>
              <a:t>亿</a:t>
            </a:r>
          </a:p>
        </p:txBody>
      </p:sp>
      <p:sp>
        <p:nvSpPr>
          <p:cNvPr id="4" name="灯片编号占位符 3">
            <a:extLst>
              <a:ext uri="{FF2B5EF4-FFF2-40B4-BE49-F238E27FC236}">
                <a16:creationId xmlns:a16="http://schemas.microsoft.com/office/drawing/2014/main" id="{2131247D-A876-E078-900B-D5F9E54A188D}"/>
              </a:ext>
            </a:extLst>
          </p:cNvPr>
          <p:cNvSpPr>
            <a:spLocks noGrp="1"/>
          </p:cNvSpPr>
          <p:nvPr>
            <p:ph type="sldNum" sz="quarter" idx="12"/>
          </p:nvPr>
        </p:nvSpPr>
        <p:spPr/>
        <p:txBody>
          <a:bodyPr/>
          <a:lstStyle/>
          <a:p>
            <a:fld id="{80A20FCA-19FD-493E-B829-F89FD60808BC}" type="slidenum">
              <a:rPr lang="zh-CN" altLang="en-US" smtClean="0"/>
              <a:t>3</a:t>
            </a:fld>
            <a:endParaRPr lang="zh-CN" altLang="en-US"/>
          </a:p>
        </p:txBody>
      </p:sp>
    </p:spTree>
    <p:extLst>
      <p:ext uri="{BB962C8B-B14F-4D97-AF65-F5344CB8AC3E}">
        <p14:creationId xmlns:p14="http://schemas.microsoft.com/office/powerpoint/2010/main" val="180273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E8BC2-4A2D-85FD-19D9-4CEBA398B19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602F9D4-EDEC-5A8D-F538-F044B88A614A}"/>
              </a:ext>
            </a:extLst>
          </p:cNvPr>
          <p:cNvSpPr>
            <a:spLocks noGrp="1"/>
          </p:cNvSpPr>
          <p:nvPr>
            <p:ph type="title"/>
          </p:nvPr>
        </p:nvSpPr>
        <p:spPr/>
        <p:txBody>
          <a:bodyPr>
            <a:normAutofit/>
          </a:bodyPr>
          <a:lstStyle/>
          <a:p>
            <a:r>
              <a:rPr lang="zh-CN" altLang="en-US" sz="3200" dirty="0"/>
              <a:t>一</a:t>
            </a:r>
            <a:r>
              <a:rPr lang="en-US" altLang="zh-CN" sz="3200" dirty="0"/>
              <a:t>.</a:t>
            </a:r>
            <a:r>
              <a:rPr lang="zh-CN" altLang="en-US" sz="3200" dirty="0"/>
              <a:t>国防</a:t>
            </a:r>
          </a:p>
        </p:txBody>
      </p:sp>
      <p:sp>
        <p:nvSpPr>
          <p:cNvPr id="3" name="内容占位符 2">
            <a:extLst>
              <a:ext uri="{FF2B5EF4-FFF2-40B4-BE49-F238E27FC236}">
                <a16:creationId xmlns:a16="http://schemas.microsoft.com/office/drawing/2014/main" id="{12C94CA1-B20E-5AAF-893D-C58C83429C8B}"/>
              </a:ext>
            </a:extLst>
          </p:cNvPr>
          <p:cNvSpPr>
            <a:spLocks noGrp="1"/>
          </p:cNvSpPr>
          <p:nvPr>
            <p:ph idx="1"/>
          </p:nvPr>
        </p:nvSpPr>
        <p:spPr/>
        <p:txBody>
          <a:bodyPr/>
          <a:lstStyle/>
          <a:p>
            <a:pPr marL="0" indent="0">
              <a:buNone/>
            </a:pPr>
            <a:r>
              <a:rPr lang="zh-CN" altLang="en-US" dirty="0"/>
              <a:t>特征：维护传统，探索前沿。</a:t>
            </a:r>
            <a:endParaRPr lang="en-US" altLang="zh-CN" dirty="0"/>
          </a:p>
          <a:p>
            <a:pPr marL="0" indent="0">
              <a:buNone/>
            </a:pPr>
            <a:r>
              <a:rPr lang="zh-CN" altLang="en-US" dirty="0"/>
              <a:t>分野</a:t>
            </a:r>
            <a:r>
              <a:rPr lang="en-US" altLang="zh-CN" dirty="0"/>
              <a:t>:  1. </a:t>
            </a:r>
            <a:r>
              <a:rPr lang="zh-CN" altLang="en-US" dirty="0"/>
              <a:t>传统</a:t>
            </a:r>
            <a:r>
              <a:rPr lang="en-US" altLang="zh-CN" dirty="0"/>
              <a:t>: </a:t>
            </a:r>
            <a:r>
              <a:rPr lang="zh-CN" altLang="en-US" dirty="0"/>
              <a:t>造船业，核军工业，防空工业</a:t>
            </a:r>
            <a:endParaRPr lang="en-US" altLang="zh-CN" dirty="0"/>
          </a:p>
          <a:p>
            <a:pPr marL="0" indent="0">
              <a:buNone/>
            </a:pPr>
            <a:r>
              <a:rPr lang="en-US" altLang="zh-CN" dirty="0"/>
              <a:t>	  2. </a:t>
            </a:r>
            <a:r>
              <a:rPr lang="zh-CN" altLang="en-US" dirty="0"/>
              <a:t>前沿</a:t>
            </a:r>
            <a:r>
              <a:rPr lang="en-US" altLang="zh-CN" dirty="0"/>
              <a:t>: </a:t>
            </a:r>
            <a:r>
              <a:rPr lang="zh-CN" altLang="en-US" dirty="0"/>
              <a:t>有机化改造（视距战与中距离超视距战无人化）</a:t>
            </a:r>
            <a:r>
              <a:rPr lang="en-US" altLang="zh-CN" dirty="0"/>
              <a:t>		</a:t>
            </a:r>
            <a:r>
              <a:rPr lang="zh-CN" altLang="en-US" dirty="0"/>
              <a:t>；高超音速导弹研发</a:t>
            </a:r>
            <a:endParaRPr lang="en-US" altLang="zh-CN" dirty="0"/>
          </a:p>
          <a:p>
            <a:pPr marL="0" indent="0">
              <a:buNone/>
            </a:pPr>
            <a:r>
              <a:rPr lang="zh-CN" altLang="en-US" dirty="0"/>
              <a:t>政策上：得到</a:t>
            </a:r>
            <a:r>
              <a:rPr lang="en-US" altLang="zh-CN" dirty="0"/>
              <a:t>OBBBA</a:t>
            </a:r>
            <a:r>
              <a:rPr lang="zh-CN" altLang="en-US" dirty="0"/>
              <a:t>和</a:t>
            </a:r>
            <a:r>
              <a:rPr lang="en-US" altLang="zh-CN" dirty="0"/>
              <a:t>OSC</a:t>
            </a:r>
            <a:r>
              <a:rPr lang="zh-CN" altLang="en-US" dirty="0"/>
              <a:t>广泛支持</a:t>
            </a:r>
            <a:r>
              <a:rPr lang="en-US" altLang="zh-CN" dirty="0"/>
              <a:t>	 </a:t>
            </a:r>
            <a:endParaRPr lang="zh-CN" altLang="en-US" dirty="0"/>
          </a:p>
        </p:txBody>
      </p:sp>
      <p:sp>
        <p:nvSpPr>
          <p:cNvPr id="4" name="灯片编号占位符 3">
            <a:extLst>
              <a:ext uri="{FF2B5EF4-FFF2-40B4-BE49-F238E27FC236}">
                <a16:creationId xmlns:a16="http://schemas.microsoft.com/office/drawing/2014/main" id="{0EBF4A2A-C4CE-E85D-97CE-88B9ECD1E5C3}"/>
              </a:ext>
            </a:extLst>
          </p:cNvPr>
          <p:cNvSpPr>
            <a:spLocks noGrp="1"/>
          </p:cNvSpPr>
          <p:nvPr>
            <p:ph type="sldNum" sz="quarter" idx="12"/>
          </p:nvPr>
        </p:nvSpPr>
        <p:spPr/>
        <p:txBody>
          <a:bodyPr/>
          <a:lstStyle/>
          <a:p>
            <a:fld id="{80A20FCA-19FD-493E-B829-F89FD60808BC}" type="slidenum">
              <a:rPr lang="zh-CN" altLang="en-US" smtClean="0"/>
              <a:t>4</a:t>
            </a:fld>
            <a:endParaRPr lang="zh-CN" altLang="en-US"/>
          </a:p>
        </p:txBody>
      </p:sp>
    </p:spTree>
    <p:extLst>
      <p:ext uri="{BB962C8B-B14F-4D97-AF65-F5344CB8AC3E}">
        <p14:creationId xmlns:p14="http://schemas.microsoft.com/office/powerpoint/2010/main" val="3155448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B1F95-8E4A-B4B5-5EE9-4AEA5C8F09F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1B8B35A-01FD-C028-C83B-D73F3A53DC93}"/>
              </a:ext>
            </a:extLst>
          </p:cNvPr>
          <p:cNvSpPr>
            <a:spLocks noGrp="1"/>
          </p:cNvSpPr>
          <p:nvPr>
            <p:ph type="title"/>
          </p:nvPr>
        </p:nvSpPr>
        <p:spPr/>
        <p:txBody>
          <a:bodyPr>
            <a:normAutofit/>
          </a:bodyPr>
          <a:lstStyle/>
          <a:p>
            <a:r>
              <a:rPr lang="zh-CN" altLang="en-US" sz="3200" dirty="0"/>
              <a:t>一</a:t>
            </a:r>
            <a:r>
              <a:rPr lang="en-US" altLang="zh-CN" sz="3200" dirty="0"/>
              <a:t>.</a:t>
            </a:r>
            <a:r>
              <a:rPr lang="zh-CN" altLang="en-US" sz="3200" dirty="0"/>
              <a:t>国防</a:t>
            </a:r>
            <a:r>
              <a:rPr lang="en-US" altLang="zh-CN" sz="3200" dirty="0"/>
              <a:t>-</a:t>
            </a:r>
            <a:r>
              <a:rPr lang="zh-CN" altLang="en-US" sz="3200" dirty="0"/>
              <a:t>传统</a:t>
            </a:r>
          </a:p>
        </p:txBody>
      </p:sp>
      <p:sp>
        <p:nvSpPr>
          <p:cNvPr id="3" name="内容占位符 2">
            <a:extLst>
              <a:ext uri="{FF2B5EF4-FFF2-40B4-BE49-F238E27FC236}">
                <a16:creationId xmlns:a16="http://schemas.microsoft.com/office/drawing/2014/main" id="{EB87226A-B095-8D40-9F20-BC5B79A1CFA7}"/>
              </a:ext>
            </a:extLst>
          </p:cNvPr>
          <p:cNvSpPr>
            <a:spLocks noGrp="1"/>
          </p:cNvSpPr>
          <p:nvPr>
            <p:ph idx="1"/>
          </p:nvPr>
        </p:nvSpPr>
        <p:spPr>
          <a:xfrm>
            <a:off x="838200" y="1582058"/>
            <a:ext cx="10515600" cy="5109028"/>
          </a:xfrm>
        </p:spPr>
        <p:txBody>
          <a:bodyPr>
            <a:normAutofit/>
          </a:bodyPr>
          <a:lstStyle/>
          <a:p>
            <a:pPr marL="514350" indent="-514350">
              <a:buAutoNum type="arabicPeriod"/>
            </a:pPr>
            <a:r>
              <a:rPr lang="zh-CN" altLang="en-US" sz="2000" dirty="0"/>
              <a:t>造船：以重振航海工业为主。以大而美法案结合船舶法案撬动</a:t>
            </a:r>
            <a:r>
              <a:rPr lang="en-US" altLang="zh-CN" sz="2000" dirty="0"/>
              <a:t>290</a:t>
            </a:r>
            <a:r>
              <a:rPr lang="zh-CN" altLang="en-US" sz="2000" dirty="0"/>
              <a:t>亿资金，强化国内造船业基础，加大对于常规驱逐舰，中型潜艇，运输船和无人船采购力度。</a:t>
            </a:r>
            <a:endParaRPr lang="en-US" altLang="zh-CN" sz="2000" dirty="0"/>
          </a:p>
          <a:p>
            <a:pPr marL="514350" indent="-514350">
              <a:buAutoNum type="arabicPeriod"/>
            </a:pPr>
            <a:endParaRPr lang="en-US" altLang="zh-CN" sz="2000" dirty="0"/>
          </a:p>
          <a:p>
            <a:pPr marL="514350" indent="-514350">
              <a:buAutoNum type="arabicPeriod"/>
            </a:pPr>
            <a:r>
              <a:rPr lang="zh-CN" altLang="en-US" sz="2000" dirty="0"/>
              <a:t>核工业：大而美法案拨款</a:t>
            </a:r>
            <a:r>
              <a:rPr lang="en-US" altLang="zh-CN" sz="2000" dirty="0"/>
              <a:t>244</a:t>
            </a:r>
            <a:r>
              <a:rPr lang="zh-CN" altLang="en-US" sz="2000" dirty="0"/>
              <a:t>亿，支持核武库的更新和投射能力再武装。建立能源部下属</a:t>
            </a:r>
            <a:r>
              <a:rPr lang="zh-CN" altLang="zh-CN" sz="2000" dirty="0"/>
              <a:t>国家核安全管理局（</a:t>
            </a:r>
            <a:r>
              <a:rPr lang="en-US" altLang="zh-CN" sz="2000" dirty="0"/>
              <a:t>NNSA</a:t>
            </a:r>
            <a:r>
              <a:rPr lang="zh-CN" altLang="zh-CN" sz="2000" dirty="0"/>
              <a:t>）</a:t>
            </a:r>
            <a:r>
              <a:rPr lang="zh-CN" altLang="en-US" sz="2000" dirty="0"/>
              <a:t>，研发海基核导弹单头，部署国内铀浓缩离心机，并影响一系列弹道导弹系统的部署</a:t>
            </a:r>
            <a:endParaRPr lang="en-US" altLang="zh-CN" sz="2000" dirty="0"/>
          </a:p>
          <a:p>
            <a:pPr marL="514350" indent="-514350">
              <a:buAutoNum type="arabicPeriod"/>
            </a:pPr>
            <a:endParaRPr lang="en-US" altLang="zh-CN" sz="2000" dirty="0"/>
          </a:p>
          <a:p>
            <a:pPr marL="514350" indent="-514350">
              <a:buAutoNum type="arabicPeriod"/>
            </a:pPr>
            <a:r>
              <a:rPr lang="zh-CN" altLang="en-US" sz="2000" dirty="0"/>
              <a:t>防空工业</a:t>
            </a:r>
            <a:r>
              <a:rPr lang="en-US" altLang="zh-CN" sz="2000" dirty="0"/>
              <a:t>·</a:t>
            </a:r>
            <a:r>
              <a:rPr lang="zh-CN" altLang="en-US" sz="2000" dirty="0"/>
              <a:t>金穹计划：大而美法案直接支持：</a:t>
            </a:r>
            <a:r>
              <a:rPr lang="zh-CN" altLang="zh-CN" sz="2000" dirty="0"/>
              <a:t>军事天基传感器（</a:t>
            </a:r>
            <a:r>
              <a:rPr lang="en-US" altLang="zh-CN" sz="2000" dirty="0"/>
              <a:t>72 </a:t>
            </a:r>
            <a:r>
              <a:rPr lang="zh-CN" altLang="zh-CN" sz="2000" dirty="0"/>
              <a:t>亿美元）、天基和助推段拦截能力（</a:t>
            </a:r>
            <a:r>
              <a:rPr lang="en-US" altLang="zh-CN" sz="2000" dirty="0"/>
              <a:t>56 </a:t>
            </a:r>
            <a:r>
              <a:rPr lang="zh-CN" altLang="zh-CN" sz="2000" dirty="0"/>
              <a:t>亿美元）、军事导弹防御能力（</a:t>
            </a:r>
            <a:r>
              <a:rPr lang="en-US" altLang="zh-CN" sz="2000" dirty="0"/>
              <a:t>​​25.5 </a:t>
            </a:r>
            <a:r>
              <a:rPr lang="zh-CN" altLang="zh-CN" sz="2000" dirty="0"/>
              <a:t>亿美元）、高超音速防御系统（</a:t>
            </a:r>
            <a:r>
              <a:rPr lang="en-US" altLang="zh-CN" sz="2000" dirty="0"/>
              <a:t>22 </a:t>
            </a:r>
            <a:r>
              <a:rPr lang="zh-CN" altLang="zh-CN" sz="2000" dirty="0"/>
              <a:t>亿美元）、空中移动目标指示器（</a:t>
            </a:r>
            <a:r>
              <a:rPr lang="en-US" altLang="zh-CN" sz="2000" dirty="0"/>
              <a:t>AMTI</a:t>
            </a:r>
            <a:r>
              <a:rPr lang="zh-CN" altLang="zh-CN" sz="2000" dirty="0"/>
              <a:t>）军用卫星（</a:t>
            </a:r>
            <a:r>
              <a:rPr lang="en-US" altLang="zh-CN" sz="2000" dirty="0"/>
              <a:t>20 </a:t>
            </a:r>
            <a:r>
              <a:rPr lang="zh-CN" altLang="zh-CN" sz="2000" dirty="0"/>
              <a:t>亿美元）以及地面导弹防御雷达（</a:t>
            </a:r>
            <a:r>
              <a:rPr lang="en-US" altLang="zh-CN" sz="2000" dirty="0"/>
              <a:t>19.75 </a:t>
            </a:r>
            <a:r>
              <a:rPr lang="zh-CN" altLang="zh-CN" sz="2000" dirty="0"/>
              <a:t>亿美元）。剩余的约</a:t>
            </a:r>
            <a:r>
              <a:rPr lang="en-US" altLang="zh-CN" sz="2000" dirty="0"/>
              <a:t> 28 </a:t>
            </a:r>
            <a:r>
              <a:rPr lang="zh-CN" altLang="zh-CN" sz="2000" dirty="0"/>
              <a:t>亿美元将分配给洲际弹道导弹防御系统、导弹相关基础设施</a:t>
            </a:r>
            <a:endParaRPr lang="zh-CN" altLang="en-US" sz="2000" dirty="0"/>
          </a:p>
        </p:txBody>
      </p:sp>
      <p:sp>
        <p:nvSpPr>
          <p:cNvPr id="4" name="灯片编号占位符 3">
            <a:extLst>
              <a:ext uri="{FF2B5EF4-FFF2-40B4-BE49-F238E27FC236}">
                <a16:creationId xmlns:a16="http://schemas.microsoft.com/office/drawing/2014/main" id="{F6FA93D4-C4E8-8F5F-0723-9363643E25E2}"/>
              </a:ext>
            </a:extLst>
          </p:cNvPr>
          <p:cNvSpPr>
            <a:spLocks noGrp="1"/>
          </p:cNvSpPr>
          <p:nvPr>
            <p:ph type="sldNum" sz="quarter" idx="12"/>
          </p:nvPr>
        </p:nvSpPr>
        <p:spPr/>
        <p:txBody>
          <a:bodyPr/>
          <a:lstStyle/>
          <a:p>
            <a:fld id="{80A20FCA-19FD-493E-B829-F89FD60808BC}" type="slidenum">
              <a:rPr lang="zh-CN" altLang="en-US" smtClean="0"/>
              <a:t>5</a:t>
            </a:fld>
            <a:endParaRPr lang="zh-CN" altLang="en-US"/>
          </a:p>
        </p:txBody>
      </p:sp>
    </p:spTree>
    <p:extLst>
      <p:ext uri="{BB962C8B-B14F-4D97-AF65-F5344CB8AC3E}">
        <p14:creationId xmlns:p14="http://schemas.microsoft.com/office/powerpoint/2010/main" val="3546219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220AA-FE62-4778-B5B7-7EB1D2028A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B219339-1B69-7CA1-E2BB-33AE712E495F}"/>
              </a:ext>
            </a:extLst>
          </p:cNvPr>
          <p:cNvSpPr>
            <a:spLocks noGrp="1"/>
          </p:cNvSpPr>
          <p:nvPr>
            <p:ph type="title"/>
          </p:nvPr>
        </p:nvSpPr>
        <p:spPr/>
        <p:txBody>
          <a:bodyPr>
            <a:normAutofit/>
          </a:bodyPr>
          <a:lstStyle/>
          <a:p>
            <a:r>
              <a:rPr lang="zh-CN" altLang="en-US" sz="3200" dirty="0"/>
              <a:t>一</a:t>
            </a:r>
            <a:r>
              <a:rPr lang="en-US" altLang="zh-CN" sz="3200" dirty="0"/>
              <a:t>.</a:t>
            </a:r>
            <a:r>
              <a:rPr lang="zh-CN" altLang="en-US" sz="3200" dirty="0"/>
              <a:t>国防</a:t>
            </a:r>
            <a:r>
              <a:rPr lang="en-US" altLang="zh-CN" sz="3200" dirty="0"/>
              <a:t>-</a:t>
            </a:r>
            <a:r>
              <a:rPr lang="zh-CN" altLang="en-US" sz="3200" dirty="0"/>
              <a:t>前沿</a:t>
            </a:r>
            <a:r>
              <a:rPr lang="en-US" altLang="zh-CN" sz="3200" dirty="0"/>
              <a:t>-</a:t>
            </a:r>
            <a:r>
              <a:rPr lang="zh-CN" altLang="en-US" sz="3200" dirty="0"/>
              <a:t>有机化改造</a:t>
            </a:r>
          </a:p>
        </p:txBody>
      </p:sp>
      <p:sp>
        <p:nvSpPr>
          <p:cNvPr id="3" name="内容占位符 2">
            <a:extLst>
              <a:ext uri="{FF2B5EF4-FFF2-40B4-BE49-F238E27FC236}">
                <a16:creationId xmlns:a16="http://schemas.microsoft.com/office/drawing/2014/main" id="{C619785E-5728-554E-0E5C-5C40F7736252}"/>
              </a:ext>
            </a:extLst>
          </p:cNvPr>
          <p:cNvSpPr>
            <a:spLocks noGrp="1"/>
          </p:cNvSpPr>
          <p:nvPr>
            <p:ph idx="1"/>
          </p:nvPr>
        </p:nvSpPr>
        <p:spPr>
          <a:xfrm>
            <a:off x="725714" y="1553029"/>
            <a:ext cx="10628086" cy="4623934"/>
          </a:xfrm>
        </p:spPr>
        <p:txBody>
          <a:bodyPr>
            <a:normAutofit/>
          </a:bodyPr>
          <a:lstStyle/>
          <a:p>
            <a:r>
              <a:rPr lang="zh-CN" altLang="en-US" sz="2000" dirty="0"/>
              <a:t>国防部</a:t>
            </a:r>
            <a:r>
              <a:rPr lang="en-US" altLang="zh-CN" sz="2000" dirty="0"/>
              <a:t>10</a:t>
            </a:r>
            <a:r>
              <a:rPr lang="zh-CN" altLang="en-US" sz="2000" dirty="0"/>
              <a:t>亿项目：采购数十万架小型无人机，</a:t>
            </a:r>
            <a:r>
              <a:rPr lang="en-US" altLang="zh-CN" sz="2000" dirty="0"/>
              <a:t>26-27</a:t>
            </a:r>
            <a:r>
              <a:rPr lang="zh-CN" altLang="en-US" sz="2000" dirty="0"/>
              <a:t>陆续交付</a:t>
            </a:r>
            <a:endParaRPr lang="en-US" altLang="zh-CN" sz="2000" dirty="0"/>
          </a:p>
          <a:p>
            <a:endParaRPr lang="en-US" altLang="zh-CN" sz="2000" dirty="0"/>
          </a:p>
          <a:p>
            <a:pPr marL="0" indent="0">
              <a:buNone/>
            </a:pPr>
            <a:r>
              <a:rPr lang="zh-CN" altLang="en-US" sz="2000" dirty="0"/>
              <a:t>优秀企业：</a:t>
            </a:r>
            <a:endParaRPr lang="en-US" altLang="zh-CN" sz="2000" dirty="0"/>
          </a:p>
          <a:p>
            <a:r>
              <a:rPr lang="zh-CN" altLang="en-US" sz="2000" dirty="0"/>
              <a:t>安杜里尔</a:t>
            </a:r>
            <a:r>
              <a:rPr lang="zh-CN" altLang="zh-CN" sz="2000" dirty="0"/>
              <a:t>（</a:t>
            </a:r>
            <a:r>
              <a:rPr lang="en-US" altLang="zh-CN" sz="2000" dirty="0"/>
              <a:t>Anduril</a:t>
            </a:r>
            <a:r>
              <a:rPr lang="zh-CN" altLang="zh-CN" sz="2000" dirty="0"/>
              <a:t>） </a:t>
            </a:r>
            <a:r>
              <a:rPr lang="zh-CN" altLang="en-US" sz="2000" dirty="0"/>
              <a:t>：无人机（</a:t>
            </a:r>
            <a:r>
              <a:rPr lang="en-US" altLang="zh-CN" sz="2000" dirty="0"/>
              <a:t>6.42</a:t>
            </a:r>
            <a:r>
              <a:rPr lang="zh-CN" altLang="en-US" sz="2000" dirty="0"/>
              <a:t>亿海军陆战队订单）与反无人机系统（走鹃高爆拦截器，</a:t>
            </a:r>
            <a:r>
              <a:rPr lang="en-US" altLang="zh-CN" sz="2000" dirty="0"/>
              <a:t>2.49</a:t>
            </a:r>
            <a:r>
              <a:rPr lang="zh-CN" altLang="en-US" sz="2000" dirty="0"/>
              <a:t>亿订单），强化</a:t>
            </a:r>
            <a:r>
              <a:rPr lang="zh-CN" altLang="zh-CN" sz="2000" dirty="0"/>
              <a:t>混合现实系统</a:t>
            </a:r>
            <a:r>
              <a:rPr lang="zh-CN" altLang="en-US" sz="2000" dirty="0"/>
              <a:t>（夜视，</a:t>
            </a:r>
            <a:r>
              <a:rPr lang="en-US" altLang="zh-CN" sz="2000" dirty="0"/>
              <a:t>AR</a:t>
            </a:r>
            <a:r>
              <a:rPr lang="zh-CN" altLang="en-US" sz="2000" dirty="0"/>
              <a:t>，</a:t>
            </a:r>
            <a:r>
              <a:rPr lang="en-US" altLang="zh-CN" sz="2000" dirty="0"/>
              <a:t>AI</a:t>
            </a:r>
            <a:r>
              <a:rPr lang="zh-CN" altLang="en-US" sz="2000" dirty="0"/>
              <a:t>，</a:t>
            </a:r>
            <a:r>
              <a:rPr lang="en-US" altLang="zh-CN" sz="2000" dirty="0"/>
              <a:t>1.59</a:t>
            </a:r>
            <a:r>
              <a:rPr lang="zh-CN" altLang="en-US" sz="2000" dirty="0"/>
              <a:t>亿订单）</a:t>
            </a:r>
            <a:endParaRPr lang="en-US" altLang="zh-CN" sz="2000" dirty="0"/>
          </a:p>
          <a:p>
            <a:r>
              <a:rPr lang="zh-CN" altLang="en-US" sz="2000" dirty="0"/>
              <a:t>航空环境（</a:t>
            </a:r>
            <a:r>
              <a:rPr lang="en-US" altLang="zh-CN" sz="2000" dirty="0" err="1"/>
              <a:t>Aerovironment</a:t>
            </a:r>
            <a:r>
              <a:rPr lang="zh-CN" altLang="en-US" sz="2000" dirty="0"/>
              <a:t>）：无人机与反无人机系统，电子战无人机（密歇根演习），巡飞弹（</a:t>
            </a:r>
            <a:r>
              <a:rPr lang="en-US" altLang="zh-CN" sz="2000" dirty="0"/>
              <a:t>9.9</a:t>
            </a:r>
            <a:r>
              <a:rPr lang="zh-CN" altLang="en-US" sz="2000" dirty="0"/>
              <a:t>亿陆军订单）</a:t>
            </a:r>
            <a:endParaRPr lang="en-US" altLang="zh-CN" sz="2000" dirty="0"/>
          </a:p>
          <a:p>
            <a:r>
              <a:rPr lang="zh-CN" altLang="en-US" sz="2000" dirty="0"/>
              <a:t>雷神工业</a:t>
            </a:r>
            <a:r>
              <a:rPr lang="en-US" altLang="zh-CN" sz="2000" dirty="0"/>
              <a:t>.e.t</a:t>
            </a:r>
            <a:r>
              <a:rPr lang="zh-CN" altLang="en-US" sz="2000" dirty="0"/>
              <a:t>：合作作战飞行器（</a:t>
            </a:r>
            <a:r>
              <a:rPr lang="en-US" altLang="zh-CN" sz="2000" dirty="0"/>
              <a:t>CCA</a:t>
            </a:r>
            <a:r>
              <a:rPr lang="zh-CN" altLang="en-US" sz="2000" dirty="0"/>
              <a:t>）研发（</a:t>
            </a:r>
            <a:r>
              <a:rPr lang="en-US" altLang="zh-CN" sz="2000" dirty="0"/>
              <a:t>2025-2026 </a:t>
            </a:r>
            <a:r>
              <a:rPr lang="zh-CN" altLang="en-US" sz="2000" dirty="0"/>
              <a:t>专项资金超</a:t>
            </a:r>
            <a:r>
              <a:rPr lang="en-US" altLang="zh-CN" sz="2000" dirty="0"/>
              <a:t>15</a:t>
            </a:r>
            <a:r>
              <a:rPr lang="zh-CN" altLang="en-US" sz="2000" dirty="0"/>
              <a:t>亿）</a:t>
            </a:r>
            <a:endParaRPr lang="en-US" altLang="zh-CN" sz="2000" dirty="0"/>
          </a:p>
          <a:p>
            <a:r>
              <a:rPr lang="zh-CN" altLang="en-US" sz="2000" dirty="0"/>
              <a:t>萨洛尼克</a:t>
            </a:r>
            <a:r>
              <a:rPr lang="zh-CN" altLang="zh-CN" sz="2000" dirty="0"/>
              <a:t>（</a:t>
            </a:r>
            <a:r>
              <a:rPr lang="en-US" altLang="zh-CN" sz="2000" dirty="0"/>
              <a:t>Saronic</a:t>
            </a:r>
            <a:r>
              <a:rPr lang="zh-CN" altLang="zh-CN" sz="2000" dirty="0"/>
              <a:t>）</a:t>
            </a:r>
            <a:r>
              <a:rPr lang="zh-CN" altLang="en-US" sz="2000" dirty="0"/>
              <a:t>：海上无人艇用于态势感知动能打击与非动能打击（</a:t>
            </a:r>
            <a:r>
              <a:rPr lang="en-US" altLang="zh-CN" sz="2000" dirty="0"/>
              <a:t>3.92</a:t>
            </a:r>
            <a:r>
              <a:rPr lang="zh-CN" altLang="en-US" sz="2000" dirty="0"/>
              <a:t>亿海军订单）</a:t>
            </a:r>
          </a:p>
        </p:txBody>
      </p:sp>
      <p:sp>
        <p:nvSpPr>
          <p:cNvPr id="4" name="灯片编号占位符 3">
            <a:extLst>
              <a:ext uri="{FF2B5EF4-FFF2-40B4-BE49-F238E27FC236}">
                <a16:creationId xmlns:a16="http://schemas.microsoft.com/office/drawing/2014/main" id="{73FDDDC5-A2A6-5480-9AC7-703643DBB963}"/>
              </a:ext>
            </a:extLst>
          </p:cNvPr>
          <p:cNvSpPr>
            <a:spLocks noGrp="1"/>
          </p:cNvSpPr>
          <p:nvPr>
            <p:ph type="sldNum" sz="quarter" idx="12"/>
          </p:nvPr>
        </p:nvSpPr>
        <p:spPr/>
        <p:txBody>
          <a:bodyPr/>
          <a:lstStyle/>
          <a:p>
            <a:fld id="{80A20FCA-19FD-493E-B829-F89FD60808BC}" type="slidenum">
              <a:rPr lang="zh-CN" altLang="en-US" smtClean="0"/>
              <a:t>6</a:t>
            </a:fld>
            <a:endParaRPr lang="zh-CN" altLang="en-US"/>
          </a:p>
        </p:txBody>
      </p:sp>
    </p:spTree>
    <p:extLst>
      <p:ext uri="{BB962C8B-B14F-4D97-AF65-F5344CB8AC3E}">
        <p14:creationId xmlns:p14="http://schemas.microsoft.com/office/powerpoint/2010/main" val="3498814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28CA9-992C-31A7-055D-F93E5DBE0B6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36C6057-E3E4-917E-8FAA-DC15CA7BD21D}"/>
              </a:ext>
            </a:extLst>
          </p:cNvPr>
          <p:cNvSpPr>
            <a:spLocks noGrp="1"/>
          </p:cNvSpPr>
          <p:nvPr>
            <p:ph type="title"/>
          </p:nvPr>
        </p:nvSpPr>
        <p:spPr/>
        <p:txBody>
          <a:bodyPr>
            <a:normAutofit/>
          </a:bodyPr>
          <a:lstStyle/>
          <a:p>
            <a:r>
              <a:rPr lang="zh-CN" altLang="en-US" sz="3200" dirty="0"/>
              <a:t>一</a:t>
            </a:r>
            <a:r>
              <a:rPr lang="en-US" altLang="zh-CN" sz="3200" dirty="0"/>
              <a:t>.</a:t>
            </a:r>
            <a:r>
              <a:rPr lang="zh-CN" altLang="en-US" sz="3200" dirty="0"/>
              <a:t>国防</a:t>
            </a:r>
            <a:r>
              <a:rPr lang="en-US" altLang="zh-CN" sz="3200" dirty="0"/>
              <a:t>-</a:t>
            </a:r>
            <a:r>
              <a:rPr lang="zh-CN" altLang="en-US" sz="3200" dirty="0"/>
              <a:t>前沿</a:t>
            </a:r>
            <a:r>
              <a:rPr lang="en-US" altLang="zh-CN" sz="3200" dirty="0"/>
              <a:t>-</a:t>
            </a:r>
            <a:r>
              <a:rPr lang="zh-CN" altLang="en-US" sz="3200" dirty="0"/>
              <a:t>高超音速</a:t>
            </a:r>
          </a:p>
        </p:txBody>
      </p:sp>
      <p:sp>
        <p:nvSpPr>
          <p:cNvPr id="3" name="内容占位符 2">
            <a:extLst>
              <a:ext uri="{FF2B5EF4-FFF2-40B4-BE49-F238E27FC236}">
                <a16:creationId xmlns:a16="http://schemas.microsoft.com/office/drawing/2014/main" id="{944421C9-4F76-F41E-5E9F-ADA475A4710B}"/>
              </a:ext>
            </a:extLst>
          </p:cNvPr>
          <p:cNvSpPr>
            <a:spLocks noGrp="1"/>
          </p:cNvSpPr>
          <p:nvPr>
            <p:ph idx="1"/>
          </p:nvPr>
        </p:nvSpPr>
        <p:spPr/>
        <p:txBody>
          <a:bodyPr/>
          <a:lstStyle/>
          <a:p>
            <a:pPr marL="0" indent="0">
              <a:buNone/>
            </a:pPr>
            <a:r>
              <a:rPr lang="zh-CN" altLang="en-US" sz="2000" dirty="0"/>
              <a:t>洛克希德</a:t>
            </a:r>
            <a:r>
              <a:rPr lang="en-US" altLang="zh-CN" sz="2000" dirty="0"/>
              <a:t>·</a:t>
            </a:r>
            <a:r>
              <a:rPr lang="zh-CN" altLang="en-US" sz="2000" dirty="0"/>
              <a:t>马丁</a:t>
            </a:r>
            <a:r>
              <a:rPr lang="en-US" altLang="zh-CN" sz="2000" dirty="0"/>
              <a:t>.e.t</a:t>
            </a:r>
            <a:r>
              <a:rPr lang="zh-CN" altLang="en-US" sz="2000" dirty="0"/>
              <a:t>：</a:t>
            </a:r>
            <a:r>
              <a:rPr lang="en-US" altLang="zh-CN" sz="2000" dirty="0"/>
              <a:t> 10 </a:t>
            </a:r>
            <a:r>
              <a:rPr lang="zh-CN" altLang="zh-CN" sz="2000" dirty="0"/>
              <a:t>亿美元的合同</a:t>
            </a:r>
            <a:r>
              <a:rPr lang="zh-CN" altLang="en-US" sz="2000" dirty="0"/>
              <a:t>，</a:t>
            </a:r>
            <a:r>
              <a:rPr lang="zh-CN" altLang="zh-CN" sz="2000" dirty="0"/>
              <a:t>继续支持美国海军的常规快速打击</a:t>
            </a:r>
            <a:r>
              <a:rPr lang="en-US" altLang="zh-CN" sz="2000" dirty="0"/>
              <a:t> (CPS) </a:t>
            </a:r>
            <a:r>
              <a:rPr lang="zh-CN" altLang="zh-CN" sz="2000" dirty="0"/>
              <a:t>高超音速武器计划。</a:t>
            </a:r>
            <a:r>
              <a:rPr lang="en-US" altLang="zh-CN" sz="2000" dirty="0"/>
              <a:t> CPS </a:t>
            </a:r>
            <a:r>
              <a:rPr lang="zh-CN" altLang="zh-CN" sz="2000" dirty="0"/>
              <a:t>计划是陆军和海军联合部署通用高超音速武器系统的一部分。其核心是共享的滑翔体和导弹，将分别用于陆军和海军的发射筒。陆军的改进型被称为远程高超音速武器（</a:t>
            </a:r>
            <a:r>
              <a:rPr lang="en-US" altLang="zh-CN" sz="2000" dirty="0"/>
              <a:t>LRHW</a:t>
            </a:r>
            <a:r>
              <a:rPr lang="zh-CN" altLang="zh-CN" sz="2000" dirty="0"/>
              <a:t>） 或“暗鹰”，将从地面移动发射装置部署。海军的</a:t>
            </a:r>
            <a:r>
              <a:rPr lang="en-US" altLang="zh-CN" sz="2000" dirty="0"/>
              <a:t> CPS </a:t>
            </a:r>
            <a:r>
              <a:rPr lang="zh-CN" altLang="zh-CN" sz="2000" dirty="0"/>
              <a:t>系统将部署在海上，并集成到水面舰艇和潜艇上。</a:t>
            </a:r>
            <a:r>
              <a:rPr lang="zh-CN" altLang="en-US" sz="2000" dirty="0"/>
              <a:t>（目前最接近于成功的实验样本）</a:t>
            </a:r>
            <a:endParaRPr lang="en-US" altLang="zh-CN" sz="2000" dirty="0"/>
          </a:p>
          <a:p>
            <a:pPr marL="0" indent="0">
              <a:buNone/>
            </a:pPr>
            <a:r>
              <a:rPr lang="zh-CN" altLang="en-US" sz="2000" dirty="0"/>
              <a:t>现状（</a:t>
            </a:r>
            <a:r>
              <a:rPr lang="en-US" altLang="zh-CN" sz="2000" dirty="0"/>
              <a:t>2026 </a:t>
            </a:r>
            <a:r>
              <a:rPr lang="zh-CN" altLang="en-US" sz="2000" dirty="0"/>
              <a:t>年 </a:t>
            </a:r>
            <a:r>
              <a:rPr lang="en-US" altLang="zh-CN" sz="2000" dirty="0"/>
              <a:t>3 </a:t>
            </a:r>
            <a:r>
              <a:rPr lang="zh-CN" altLang="en-US" sz="2000" dirty="0"/>
              <a:t>月）：部队已接收发射车、指控系统，但无实弹列装；</a:t>
            </a:r>
            <a:r>
              <a:rPr lang="en-US" altLang="zh-CN" sz="2000" dirty="0"/>
              <a:t>2025 </a:t>
            </a:r>
            <a:r>
              <a:rPr lang="zh-CN" altLang="en-US" sz="2000" dirty="0"/>
              <a:t>年底激活首个作战单位，无可用导弹；多次试射成功，但部署一再推迟（原 </a:t>
            </a:r>
            <a:r>
              <a:rPr lang="en-US" altLang="zh-CN" sz="2000" dirty="0"/>
              <a:t>2023→2025→2026 </a:t>
            </a:r>
            <a:r>
              <a:rPr lang="zh-CN" altLang="en-US" sz="2000" dirty="0"/>
              <a:t>年初）；结论：接近部署，但尚未形成严格意义上的作战能力。</a:t>
            </a:r>
            <a:endParaRPr lang="en-US" altLang="zh-CN" sz="2000" dirty="0"/>
          </a:p>
          <a:p>
            <a:pPr marL="0" indent="0">
              <a:buNone/>
            </a:pPr>
            <a:r>
              <a:rPr lang="zh-CN" altLang="en-US" sz="2000" dirty="0"/>
              <a:t>空军方面，</a:t>
            </a:r>
            <a:r>
              <a:rPr lang="en-US" altLang="zh-CN" sz="2000" dirty="0"/>
              <a:t>AGM-183A</a:t>
            </a:r>
            <a:r>
              <a:rPr lang="zh-CN" altLang="en-US" sz="2000" dirty="0"/>
              <a:t>（空射快速响应武器）研究失败，</a:t>
            </a:r>
            <a:r>
              <a:rPr lang="en-US" altLang="zh-CN" sz="2000" dirty="0"/>
              <a:t>HACM</a:t>
            </a:r>
            <a:r>
              <a:rPr lang="zh-CN" altLang="en-US" sz="2000" dirty="0"/>
              <a:t>（高超音速攻击巡航导弹）</a:t>
            </a:r>
            <a:r>
              <a:rPr lang="en-US" altLang="zh-CN" sz="2000" dirty="0"/>
              <a:t> </a:t>
            </a:r>
            <a:r>
              <a:rPr lang="zh-CN" altLang="en-US" sz="2000" dirty="0"/>
              <a:t>在研，未试射 </a:t>
            </a:r>
            <a:r>
              <a:rPr lang="en-US" altLang="zh-CN" sz="2000" dirty="0"/>
              <a:t>/ </a:t>
            </a:r>
            <a:r>
              <a:rPr lang="zh-CN" altLang="en-US" sz="2000" dirty="0"/>
              <a:t>部署。</a:t>
            </a:r>
            <a:endParaRPr lang="en-US" altLang="zh-CN" sz="2000"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zh-CN" altLang="zh-CN" dirty="0"/>
          </a:p>
          <a:p>
            <a:pPr marL="0" indent="0">
              <a:buNone/>
            </a:pPr>
            <a:endParaRPr lang="zh-CN" altLang="en-US" dirty="0"/>
          </a:p>
        </p:txBody>
      </p:sp>
      <p:sp>
        <p:nvSpPr>
          <p:cNvPr id="4" name="灯片编号占位符 3">
            <a:extLst>
              <a:ext uri="{FF2B5EF4-FFF2-40B4-BE49-F238E27FC236}">
                <a16:creationId xmlns:a16="http://schemas.microsoft.com/office/drawing/2014/main" id="{F0A91BC3-978A-A745-4592-FFDFEBE5CE05}"/>
              </a:ext>
            </a:extLst>
          </p:cNvPr>
          <p:cNvSpPr>
            <a:spLocks noGrp="1"/>
          </p:cNvSpPr>
          <p:nvPr>
            <p:ph type="sldNum" sz="quarter" idx="12"/>
          </p:nvPr>
        </p:nvSpPr>
        <p:spPr/>
        <p:txBody>
          <a:bodyPr/>
          <a:lstStyle/>
          <a:p>
            <a:fld id="{80A20FCA-19FD-493E-B829-F89FD60808BC}" type="slidenum">
              <a:rPr lang="zh-CN" altLang="en-US" smtClean="0"/>
              <a:t>7</a:t>
            </a:fld>
            <a:endParaRPr lang="zh-CN" altLang="en-US"/>
          </a:p>
        </p:txBody>
      </p:sp>
    </p:spTree>
    <p:extLst>
      <p:ext uri="{BB962C8B-B14F-4D97-AF65-F5344CB8AC3E}">
        <p14:creationId xmlns:p14="http://schemas.microsoft.com/office/powerpoint/2010/main" val="872164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FAE72-E432-B076-9B6F-7BF6022ADD8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C738CDD-6729-D793-458B-AE08F5EF57D2}"/>
              </a:ext>
            </a:extLst>
          </p:cNvPr>
          <p:cNvSpPr>
            <a:spLocks noGrp="1"/>
          </p:cNvSpPr>
          <p:nvPr>
            <p:ph type="title"/>
          </p:nvPr>
        </p:nvSpPr>
        <p:spPr/>
        <p:txBody>
          <a:bodyPr>
            <a:normAutofit/>
          </a:bodyPr>
          <a:lstStyle/>
          <a:p>
            <a:r>
              <a:rPr lang="zh-CN" altLang="en-US" sz="3200" dirty="0"/>
              <a:t>一</a:t>
            </a:r>
            <a:r>
              <a:rPr lang="en-US" altLang="zh-CN" sz="3200" dirty="0"/>
              <a:t>.</a:t>
            </a:r>
            <a:r>
              <a:rPr lang="zh-CN" altLang="en-US" sz="3200" dirty="0"/>
              <a:t>国防</a:t>
            </a:r>
          </a:p>
        </p:txBody>
      </p:sp>
      <p:sp>
        <p:nvSpPr>
          <p:cNvPr id="3" name="内容占位符 2">
            <a:extLst>
              <a:ext uri="{FF2B5EF4-FFF2-40B4-BE49-F238E27FC236}">
                <a16:creationId xmlns:a16="http://schemas.microsoft.com/office/drawing/2014/main" id="{5E4D6388-17EE-206B-F492-9F9C5904BAC8}"/>
              </a:ext>
            </a:extLst>
          </p:cNvPr>
          <p:cNvSpPr>
            <a:spLocks noGrp="1"/>
          </p:cNvSpPr>
          <p:nvPr>
            <p:ph idx="1"/>
          </p:nvPr>
        </p:nvSpPr>
        <p:spPr/>
        <p:txBody>
          <a:bodyPr/>
          <a:lstStyle/>
          <a:p>
            <a:pPr marL="0" indent="0">
              <a:buNone/>
            </a:pPr>
            <a:r>
              <a:rPr lang="zh-CN" altLang="en-US" dirty="0"/>
              <a:t>关于</a:t>
            </a:r>
            <a:r>
              <a:rPr lang="en-US" altLang="zh-CN" dirty="0"/>
              <a:t>AI</a:t>
            </a:r>
            <a:r>
              <a:rPr lang="zh-CN" altLang="en-US" dirty="0"/>
              <a:t>对国防体系改进的部分，放在人工智能一节</a:t>
            </a:r>
          </a:p>
          <a:p>
            <a:pPr marL="0" indent="0">
              <a:buNone/>
            </a:pPr>
            <a:endParaRPr lang="zh-CN" altLang="en-US" dirty="0"/>
          </a:p>
        </p:txBody>
      </p:sp>
      <p:sp>
        <p:nvSpPr>
          <p:cNvPr id="4" name="灯片编号占位符 3">
            <a:extLst>
              <a:ext uri="{FF2B5EF4-FFF2-40B4-BE49-F238E27FC236}">
                <a16:creationId xmlns:a16="http://schemas.microsoft.com/office/drawing/2014/main" id="{6E7823C1-BC15-C239-75E4-9CBF535F3DC4}"/>
              </a:ext>
            </a:extLst>
          </p:cNvPr>
          <p:cNvSpPr>
            <a:spLocks noGrp="1"/>
          </p:cNvSpPr>
          <p:nvPr>
            <p:ph type="sldNum" sz="quarter" idx="12"/>
          </p:nvPr>
        </p:nvSpPr>
        <p:spPr/>
        <p:txBody>
          <a:bodyPr/>
          <a:lstStyle/>
          <a:p>
            <a:fld id="{80A20FCA-19FD-493E-B829-F89FD60808BC}" type="slidenum">
              <a:rPr lang="zh-CN" altLang="en-US" smtClean="0"/>
              <a:t>8</a:t>
            </a:fld>
            <a:endParaRPr lang="zh-CN" altLang="en-US"/>
          </a:p>
        </p:txBody>
      </p:sp>
    </p:spTree>
    <p:extLst>
      <p:ext uri="{BB962C8B-B14F-4D97-AF65-F5344CB8AC3E}">
        <p14:creationId xmlns:p14="http://schemas.microsoft.com/office/powerpoint/2010/main" val="1029091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53236-7901-A35F-B57B-D30B64B28D8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19A0E9D-932D-32A2-D4AD-E1022E752552}"/>
              </a:ext>
            </a:extLst>
          </p:cNvPr>
          <p:cNvSpPr>
            <a:spLocks noGrp="1"/>
          </p:cNvSpPr>
          <p:nvPr>
            <p:ph type="title"/>
          </p:nvPr>
        </p:nvSpPr>
        <p:spPr/>
        <p:txBody>
          <a:bodyPr>
            <a:normAutofit/>
          </a:bodyPr>
          <a:lstStyle/>
          <a:p>
            <a:r>
              <a:rPr lang="zh-CN" altLang="en-US" sz="3200" dirty="0"/>
              <a:t>二</a:t>
            </a:r>
            <a:r>
              <a:rPr lang="en-US" altLang="zh-CN" sz="3200" dirty="0"/>
              <a:t>.</a:t>
            </a:r>
            <a:r>
              <a:rPr lang="zh-CN" altLang="en-US" sz="3200" dirty="0"/>
              <a:t>关键矿产</a:t>
            </a:r>
          </a:p>
        </p:txBody>
      </p:sp>
      <p:sp>
        <p:nvSpPr>
          <p:cNvPr id="3" name="内容占位符 2">
            <a:extLst>
              <a:ext uri="{FF2B5EF4-FFF2-40B4-BE49-F238E27FC236}">
                <a16:creationId xmlns:a16="http://schemas.microsoft.com/office/drawing/2014/main" id="{60B0F599-C02A-E96F-7337-735291541153}"/>
              </a:ext>
            </a:extLst>
          </p:cNvPr>
          <p:cNvSpPr>
            <a:spLocks noGrp="1"/>
          </p:cNvSpPr>
          <p:nvPr>
            <p:ph idx="1"/>
          </p:nvPr>
        </p:nvSpPr>
        <p:spPr/>
        <p:txBody>
          <a:bodyPr>
            <a:normAutofit/>
          </a:bodyPr>
          <a:lstStyle/>
          <a:p>
            <a:pPr marL="0" indent="0">
              <a:buNone/>
            </a:pPr>
            <a:r>
              <a:rPr lang="zh-CN" altLang="en-US" sz="2400" dirty="0"/>
              <a:t>特征：国家持股，保障安全，重建产能。</a:t>
            </a:r>
            <a:endParaRPr lang="en-US" altLang="zh-CN" sz="2400" dirty="0"/>
          </a:p>
          <a:p>
            <a:pPr marL="0" indent="0">
              <a:buNone/>
            </a:pPr>
            <a:r>
              <a:rPr lang="zh-CN" altLang="en-US" sz="2400" dirty="0"/>
              <a:t>分野</a:t>
            </a:r>
            <a:r>
              <a:rPr lang="en-US" altLang="zh-CN" sz="2400" dirty="0"/>
              <a:t>:  1. </a:t>
            </a:r>
            <a:r>
              <a:rPr lang="zh-CN" altLang="en-US" sz="2400" dirty="0"/>
              <a:t>勘探能力 </a:t>
            </a:r>
            <a:r>
              <a:rPr lang="en-US" altLang="zh-CN" sz="2400" dirty="0"/>
              <a:t>2. </a:t>
            </a:r>
            <a:r>
              <a:rPr lang="zh-CN" altLang="en-US" sz="2400" dirty="0"/>
              <a:t>原料获取 </a:t>
            </a:r>
            <a:r>
              <a:rPr lang="en-US" altLang="zh-CN" sz="2400" dirty="0"/>
              <a:t>3. </a:t>
            </a:r>
            <a:r>
              <a:rPr lang="zh-CN" altLang="en-US" sz="2400" dirty="0"/>
              <a:t>精炼产能</a:t>
            </a:r>
            <a:r>
              <a:rPr lang="en-US" altLang="zh-CN" sz="2400" dirty="0"/>
              <a:t>  4.</a:t>
            </a:r>
            <a:r>
              <a:rPr lang="zh-CN" altLang="en-US" sz="2400" dirty="0"/>
              <a:t>材料研究</a:t>
            </a:r>
            <a:endParaRPr lang="en-US" altLang="zh-CN" sz="2400" dirty="0"/>
          </a:p>
          <a:p>
            <a:pPr marL="0" indent="0">
              <a:buNone/>
            </a:pPr>
            <a:r>
              <a:rPr lang="zh-CN" altLang="en-US" sz="2400" dirty="0"/>
              <a:t>政策上：得到</a:t>
            </a:r>
            <a:r>
              <a:rPr lang="en-US" altLang="zh-CN" sz="2400" dirty="0"/>
              <a:t>OBBBA</a:t>
            </a:r>
            <a:r>
              <a:rPr lang="zh-CN" altLang="en-US" sz="2400" dirty="0"/>
              <a:t>对工业基础基金拨款</a:t>
            </a:r>
            <a:r>
              <a:rPr lang="en-US" altLang="zh-CN" sz="2400" dirty="0"/>
              <a:t>50</a:t>
            </a:r>
            <a:r>
              <a:rPr lang="zh-CN" altLang="en-US" sz="2400" dirty="0"/>
              <a:t>亿，对国防储备交易基金拨款</a:t>
            </a:r>
            <a:r>
              <a:rPr lang="en-US" altLang="zh-CN" sz="2400" dirty="0"/>
              <a:t>20</a:t>
            </a:r>
            <a:r>
              <a:rPr lang="zh-CN" altLang="en-US" sz="2400" dirty="0"/>
              <a:t>亿。</a:t>
            </a:r>
            <a:r>
              <a:rPr lang="en-US" altLang="zh-CN" sz="2400" dirty="0"/>
              <a:t>OSC</a:t>
            </a:r>
            <a:r>
              <a:rPr lang="zh-CN" altLang="en-US" sz="2400" dirty="0"/>
              <a:t>五亿拨款，</a:t>
            </a:r>
            <a:r>
              <a:rPr lang="en-US" altLang="zh-CN" sz="2400" dirty="0"/>
              <a:t>CHIPS</a:t>
            </a:r>
            <a:r>
              <a:rPr lang="zh-CN" altLang="en-US" sz="2400" dirty="0"/>
              <a:t>法案</a:t>
            </a:r>
            <a:r>
              <a:rPr lang="en-US" altLang="zh-CN" sz="2400" dirty="0"/>
              <a:t>2.1</a:t>
            </a:r>
            <a:r>
              <a:rPr lang="zh-CN" altLang="en-US" sz="2400" dirty="0"/>
              <a:t>亿拨款，以及各政府部门直接出资</a:t>
            </a:r>
            <a:r>
              <a:rPr lang="en-US" altLang="zh-CN" sz="2400" dirty="0"/>
              <a:t>	</a:t>
            </a:r>
            <a:endParaRPr lang="zh-CN" altLang="en-US" sz="2400" dirty="0"/>
          </a:p>
        </p:txBody>
      </p:sp>
      <p:sp>
        <p:nvSpPr>
          <p:cNvPr id="4" name="灯片编号占位符 3">
            <a:extLst>
              <a:ext uri="{FF2B5EF4-FFF2-40B4-BE49-F238E27FC236}">
                <a16:creationId xmlns:a16="http://schemas.microsoft.com/office/drawing/2014/main" id="{244D94AE-4B9C-3297-B24B-3FA2205FE7DC}"/>
              </a:ext>
            </a:extLst>
          </p:cNvPr>
          <p:cNvSpPr>
            <a:spLocks noGrp="1"/>
          </p:cNvSpPr>
          <p:nvPr>
            <p:ph type="sldNum" sz="quarter" idx="12"/>
          </p:nvPr>
        </p:nvSpPr>
        <p:spPr/>
        <p:txBody>
          <a:bodyPr/>
          <a:lstStyle/>
          <a:p>
            <a:fld id="{80A20FCA-19FD-493E-B829-F89FD60808BC}" type="slidenum">
              <a:rPr lang="zh-CN" altLang="en-US" smtClean="0"/>
              <a:t>9</a:t>
            </a:fld>
            <a:endParaRPr lang="zh-CN" altLang="en-US"/>
          </a:p>
        </p:txBody>
      </p:sp>
    </p:spTree>
    <p:extLst>
      <p:ext uri="{BB962C8B-B14F-4D97-AF65-F5344CB8AC3E}">
        <p14:creationId xmlns:p14="http://schemas.microsoft.com/office/powerpoint/2010/main" val="3702652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3B2DA-4115-B6B2-B5C1-4C39A0649D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D5B6B51-5B8A-989C-2CC6-023392193C6B}"/>
              </a:ext>
            </a:extLst>
          </p:cNvPr>
          <p:cNvSpPr>
            <a:spLocks noGrp="1"/>
          </p:cNvSpPr>
          <p:nvPr>
            <p:ph type="title"/>
          </p:nvPr>
        </p:nvSpPr>
        <p:spPr/>
        <p:txBody>
          <a:bodyPr>
            <a:normAutofit/>
          </a:bodyPr>
          <a:lstStyle/>
          <a:p>
            <a:r>
              <a:rPr lang="zh-CN" altLang="en-US" sz="3200" dirty="0"/>
              <a:t>二</a:t>
            </a:r>
            <a:r>
              <a:rPr lang="en-US" altLang="zh-CN" sz="3200" dirty="0"/>
              <a:t>.</a:t>
            </a:r>
            <a:r>
              <a:rPr lang="zh-CN" altLang="en-US" sz="3200" dirty="0"/>
              <a:t>关键矿产</a:t>
            </a:r>
            <a:r>
              <a:rPr lang="en-US" altLang="zh-CN" sz="3200" dirty="0"/>
              <a:t>-</a:t>
            </a:r>
            <a:r>
              <a:rPr lang="zh-CN" altLang="en-US" sz="3200" dirty="0"/>
              <a:t>勘探</a:t>
            </a:r>
            <a:r>
              <a:rPr lang="en-US" altLang="zh-CN" sz="3200" dirty="0"/>
              <a:t>/</a:t>
            </a:r>
            <a:r>
              <a:rPr lang="zh-CN" altLang="en-US" sz="3200" dirty="0"/>
              <a:t>原料</a:t>
            </a:r>
          </a:p>
        </p:txBody>
      </p:sp>
      <p:sp>
        <p:nvSpPr>
          <p:cNvPr id="3" name="内容占位符 2">
            <a:extLst>
              <a:ext uri="{FF2B5EF4-FFF2-40B4-BE49-F238E27FC236}">
                <a16:creationId xmlns:a16="http://schemas.microsoft.com/office/drawing/2014/main" id="{D265D9B3-B401-7038-E4CF-66650F06871C}"/>
              </a:ext>
            </a:extLst>
          </p:cNvPr>
          <p:cNvSpPr>
            <a:spLocks noGrp="1"/>
          </p:cNvSpPr>
          <p:nvPr>
            <p:ph idx="1"/>
          </p:nvPr>
        </p:nvSpPr>
        <p:spPr>
          <a:xfrm>
            <a:off x="838200" y="1506310"/>
            <a:ext cx="10515600" cy="4879975"/>
          </a:xfrm>
        </p:spPr>
        <p:txBody>
          <a:bodyPr>
            <a:normAutofit/>
          </a:bodyPr>
          <a:lstStyle/>
          <a:p>
            <a:r>
              <a:rPr lang="zh-CN" altLang="en-US" sz="2400" dirty="0"/>
              <a:t>勘探</a:t>
            </a:r>
            <a:r>
              <a:rPr lang="en-US" altLang="zh-CN" sz="2400" dirty="0"/>
              <a:t>/</a:t>
            </a:r>
            <a:r>
              <a:rPr lang="zh-CN" altLang="en-US" sz="2400" dirty="0"/>
              <a:t>原料</a:t>
            </a:r>
            <a:r>
              <a:rPr lang="en-US" altLang="zh-CN" sz="2400" dirty="0"/>
              <a:t>·Trilogy Metals</a:t>
            </a:r>
            <a:r>
              <a:rPr lang="zh-CN" altLang="en-US" sz="2400" dirty="0"/>
              <a:t>：政府收购</a:t>
            </a:r>
            <a:r>
              <a:rPr lang="en-US" altLang="zh-CN" sz="2400" dirty="0"/>
              <a:t>10%</a:t>
            </a:r>
            <a:r>
              <a:rPr lang="zh-CN" altLang="en-US" sz="2400" dirty="0"/>
              <a:t>股份，成为了其的最大股东，用于</a:t>
            </a:r>
            <a:r>
              <a:rPr lang="zh-CN" altLang="zh-CN" sz="2400" dirty="0"/>
              <a:t>释放阿拉斯加安布勒矿区铜和其他关键矿产的国内供应。</a:t>
            </a:r>
            <a:r>
              <a:rPr lang="zh-CN" altLang="en-US" sz="2400" dirty="0"/>
              <a:t>（安布勒地区有世界已知最丰富的铜基矿床）</a:t>
            </a:r>
            <a:endParaRPr lang="en-US" altLang="zh-CN" sz="2400" dirty="0"/>
          </a:p>
          <a:p>
            <a:r>
              <a:rPr lang="zh-CN" altLang="en-US" sz="2400" dirty="0"/>
              <a:t>原料</a:t>
            </a:r>
            <a:r>
              <a:rPr lang="en-US" altLang="zh-CN" sz="2400" dirty="0"/>
              <a:t>·</a:t>
            </a:r>
            <a:r>
              <a:rPr lang="zh-CN" altLang="en-US" sz="2400" dirty="0"/>
              <a:t>美洲锂业：美国能源部（</a:t>
            </a:r>
            <a:r>
              <a:rPr lang="en-US" altLang="zh-CN" sz="2400" dirty="0"/>
              <a:t>DOE</a:t>
            </a:r>
            <a:r>
              <a:rPr lang="zh-CN" altLang="en-US" sz="2400" dirty="0"/>
              <a:t>）向提供</a:t>
            </a:r>
            <a:r>
              <a:rPr lang="en-US" altLang="zh-CN" sz="2400" dirty="0"/>
              <a:t>22.6</a:t>
            </a:r>
            <a:r>
              <a:rPr lang="zh-CN" altLang="en-US" sz="2400" dirty="0"/>
              <a:t>亿美元直接贷款，用于资助其位于内华达州的萨克帕斯（</a:t>
            </a:r>
            <a:r>
              <a:rPr lang="en-US" altLang="zh-CN" sz="2400" dirty="0"/>
              <a:t>Thacker Pass</a:t>
            </a:r>
            <a:r>
              <a:rPr lang="zh-CN" altLang="en-US" sz="2400" dirty="0"/>
              <a:t>）大型锂矿项目。 该项目是美国最大的锂矿项目，旨在提升美国国内电动汽车（</a:t>
            </a:r>
            <a:r>
              <a:rPr lang="en-US" altLang="zh-CN" sz="2400" dirty="0"/>
              <a:t>EV</a:t>
            </a:r>
            <a:r>
              <a:rPr lang="zh-CN" altLang="en-US" sz="2400" dirty="0"/>
              <a:t>）所需的关键矿物供应，并减少对中国的依赖。通用汽车（</a:t>
            </a:r>
            <a:r>
              <a:rPr lang="en-US" altLang="zh-CN" sz="2400" dirty="0"/>
              <a:t>GM</a:t>
            </a:r>
            <a:r>
              <a:rPr lang="zh-CN" altLang="en-US" sz="2400" dirty="0"/>
              <a:t>）是该项目的重要合作伙伴。该项贷款一期提款协议已经敲定，预计可以提取</a:t>
            </a:r>
            <a:r>
              <a:rPr lang="en-US" altLang="zh-CN" sz="2400" dirty="0"/>
              <a:t>4.35</a:t>
            </a:r>
            <a:r>
              <a:rPr lang="zh-CN" altLang="en-US" sz="2400" dirty="0"/>
              <a:t>亿美元。</a:t>
            </a:r>
            <a:endParaRPr lang="en-US" altLang="zh-CN" sz="2400" dirty="0"/>
          </a:p>
        </p:txBody>
      </p:sp>
      <p:sp>
        <p:nvSpPr>
          <p:cNvPr id="4" name="灯片编号占位符 3">
            <a:extLst>
              <a:ext uri="{FF2B5EF4-FFF2-40B4-BE49-F238E27FC236}">
                <a16:creationId xmlns:a16="http://schemas.microsoft.com/office/drawing/2014/main" id="{9ADC2C64-F5C0-F38A-5BCC-F52AAA48A709}"/>
              </a:ext>
            </a:extLst>
          </p:cNvPr>
          <p:cNvSpPr>
            <a:spLocks noGrp="1"/>
          </p:cNvSpPr>
          <p:nvPr>
            <p:ph type="sldNum" sz="quarter" idx="12"/>
          </p:nvPr>
        </p:nvSpPr>
        <p:spPr/>
        <p:txBody>
          <a:bodyPr/>
          <a:lstStyle/>
          <a:p>
            <a:fld id="{80A20FCA-19FD-493E-B829-F89FD60808BC}" type="slidenum">
              <a:rPr lang="zh-CN" altLang="en-US" smtClean="0"/>
              <a:t>10</a:t>
            </a:fld>
            <a:endParaRPr lang="zh-CN" altLang="en-US"/>
          </a:p>
        </p:txBody>
      </p:sp>
    </p:spTree>
    <p:extLst>
      <p:ext uri="{BB962C8B-B14F-4D97-AF65-F5344CB8AC3E}">
        <p14:creationId xmlns:p14="http://schemas.microsoft.com/office/powerpoint/2010/main" val="526080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2DCBA-B1FD-E21F-7DB6-E6A8B045659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32C08BB-CC0F-FFF0-6877-6F4A9AC11E40}"/>
              </a:ext>
            </a:extLst>
          </p:cNvPr>
          <p:cNvSpPr>
            <a:spLocks noGrp="1"/>
          </p:cNvSpPr>
          <p:nvPr>
            <p:ph type="title"/>
          </p:nvPr>
        </p:nvSpPr>
        <p:spPr/>
        <p:txBody>
          <a:bodyPr>
            <a:normAutofit/>
          </a:bodyPr>
          <a:lstStyle/>
          <a:p>
            <a:r>
              <a:rPr lang="zh-CN" altLang="en-US" sz="3200" dirty="0"/>
              <a:t>二</a:t>
            </a:r>
            <a:r>
              <a:rPr lang="en-US" altLang="zh-CN" sz="3200" dirty="0"/>
              <a:t>.</a:t>
            </a:r>
            <a:r>
              <a:rPr lang="zh-CN" altLang="en-US" sz="3200" dirty="0"/>
              <a:t>关键矿产</a:t>
            </a:r>
            <a:r>
              <a:rPr lang="en-US" altLang="zh-CN" sz="3200" dirty="0"/>
              <a:t>-</a:t>
            </a:r>
            <a:r>
              <a:rPr lang="zh-CN" altLang="en-US" sz="3200" dirty="0"/>
              <a:t>稀土提炼加工</a:t>
            </a:r>
          </a:p>
        </p:txBody>
      </p:sp>
      <p:sp>
        <p:nvSpPr>
          <p:cNvPr id="3" name="内容占位符 2">
            <a:extLst>
              <a:ext uri="{FF2B5EF4-FFF2-40B4-BE49-F238E27FC236}">
                <a16:creationId xmlns:a16="http://schemas.microsoft.com/office/drawing/2014/main" id="{BBAB0E4A-B294-C2B5-DE4F-D659FBD1E167}"/>
              </a:ext>
            </a:extLst>
          </p:cNvPr>
          <p:cNvSpPr>
            <a:spLocks noGrp="1"/>
          </p:cNvSpPr>
          <p:nvPr>
            <p:ph idx="1"/>
          </p:nvPr>
        </p:nvSpPr>
        <p:spPr>
          <a:xfrm>
            <a:off x="838200" y="1491795"/>
            <a:ext cx="10515600" cy="5001080"/>
          </a:xfrm>
        </p:spPr>
        <p:txBody>
          <a:bodyPr>
            <a:normAutofit/>
          </a:bodyPr>
          <a:lstStyle/>
          <a:p>
            <a:r>
              <a:rPr lang="zh-CN" altLang="en-US" sz="2400" dirty="0"/>
              <a:t>稀土提炼加工</a:t>
            </a:r>
            <a:r>
              <a:rPr lang="en-US" altLang="zh-CN" sz="2400" dirty="0"/>
              <a:t>·MP Materials</a:t>
            </a:r>
            <a:r>
              <a:rPr lang="zh-CN" altLang="en-US" sz="2400" dirty="0"/>
              <a:t>：今年七月得到联邦</a:t>
            </a:r>
            <a:r>
              <a:rPr lang="en-US" altLang="zh-CN" sz="2400" dirty="0"/>
              <a:t>1.5</a:t>
            </a:r>
            <a:r>
              <a:rPr lang="zh-CN" altLang="en-US" sz="2400" dirty="0"/>
              <a:t>亿贷款和二级市场购入四亿股票，政府成最大股东。</a:t>
            </a:r>
            <a:r>
              <a:rPr lang="en-US" altLang="zh-CN" sz="2400" dirty="0"/>
              <a:t>MP</a:t>
            </a:r>
            <a:r>
              <a:rPr lang="zh-CN" altLang="zh-CN" sz="2400" dirty="0"/>
              <a:t>是美国唯一一家仍在生产用于军事装备的特定稀土矿物的企业</a:t>
            </a:r>
            <a:r>
              <a:rPr lang="zh-CN" altLang="en-US" sz="2400" dirty="0"/>
              <a:t>，通过本次协议</a:t>
            </a:r>
            <a:r>
              <a:rPr lang="zh-CN" altLang="zh-CN" sz="2400" dirty="0"/>
              <a:t>承诺在未来</a:t>
            </a:r>
            <a:r>
              <a:rPr lang="en-US" altLang="zh-CN" sz="2400" dirty="0"/>
              <a:t> 10 </a:t>
            </a:r>
            <a:r>
              <a:rPr lang="zh-CN" altLang="zh-CN" sz="2400" dirty="0"/>
              <a:t>年内由联邦政府作为其所有产品的固定买家。</a:t>
            </a:r>
            <a:r>
              <a:rPr lang="zh-CN" altLang="en-US" sz="2400" dirty="0"/>
              <a:t>（直接受益于</a:t>
            </a:r>
            <a:r>
              <a:rPr lang="en-US" altLang="zh-CN" sz="2400" dirty="0"/>
              <a:t>OBBBA</a:t>
            </a:r>
            <a:r>
              <a:rPr lang="zh-CN" altLang="en-US" sz="2400" dirty="0"/>
              <a:t>）</a:t>
            </a:r>
            <a:endParaRPr lang="en-US" altLang="zh-CN" sz="2400" dirty="0"/>
          </a:p>
          <a:p>
            <a:r>
              <a:rPr lang="zh-CN" altLang="en-US" sz="2400" dirty="0"/>
              <a:t>稀土提炼加工</a:t>
            </a:r>
            <a:r>
              <a:rPr lang="en-US" altLang="zh-CN" sz="2400" dirty="0"/>
              <a:t>·Vulcan </a:t>
            </a:r>
            <a:r>
              <a:rPr lang="en-US" altLang="zh-CN" sz="2400" dirty="0" err="1"/>
              <a:t>Elements&amp;ReElement</a:t>
            </a:r>
            <a:r>
              <a:rPr lang="en-US" altLang="zh-CN" sz="2400" dirty="0"/>
              <a:t> Technologies</a:t>
            </a:r>
            <a:r>
              <a:rPr lang="zh-CN" altLang="en-US" sz="2400" dirty="0"/>
              <a:t>：与美国政府实现了</a:t>
            </a:r>
            <a:r>
              <a:rPr lang="en-US" altLang="zh-CN" sz="2400" dirty="0"/>
              <a:t>14</a:t>
            </a:r>
            <a:r>
              <a:rPr lang="zh-CN" altLang="en-US" sz="2400" dirty="0"/>
              <a:t>亿三方合作协议，用于</a:t>
            </a:r>
            <a:r>
              <a:rPr lang="zh-CN" altLang="zh-CN" sz="2400" dirty="0"/>
              <a:t>垂直整合的本土稀土磁体供应链规模。</a:t>
            </a:r>
            <a:r>
              <a:rPr lang="zh-CN" altLang="en-US" sz="2400" dirty="0"/>
              <a:t>扩大产能，以及对于磁体的加工回收能力</a:t>
            </a:r>
            <a:endParaRPr lang="en-US" altLang="zh-CN" sz="2400" dirty="0"/>
          </a:p>
          <a:p>
            <a:r>
              <a:rPr lang="zh-CN" altLang="en-US" sz="2400" dirty="0"/>
              <a:t>有色提炼加工</a:t>
            </a:r>
            <a:r>
              <a:rPr lang="en-US" altLang="zh-CN" sz="2400" dirty="0"/>
              <a:t>·</a:t>
            </a:r>
            <a:r>
              <a:rPr lang="zh-CN" altLang="en-US" sz="2400" dirty="0"/>
              <a:t>韩国锌业：田纳西州子公司立项，立项资金</a:t>
            </a:r>
            <a:r>
              <a:rPr lang="en-US" altLang="zh-CN" sz="2400" dirty="0"/>
              <a:t>66</a:t>
            </a:r>
            <a:r>
              <a:rPr lang="zh-CN" altLang="en-US" sz="2400" dirty="0"/>
              <a:t>亿，</a:t>
            </a:r>
            <a:r>
              <a:rPr lang="en-US" altLang="zh-CN" sz="2400" dirty="0"/>
              <a:t>25</a:t>
            </a:r>
            <a:r>
              <a:rPr lang="zh-CN" altLang="en-US" sz="2400" dirty="0"/>
              <a:t>年获</a:t>
            </a:r>
            <a:r>
              <a:rPr lang="en-US" altLang="zh-CN" sz="2400" dirty="0"/>
              <a:t>CHIPS</a:t>
            </a:r>
            <a:r>
              <a:rPr lang="zh-CN" altLang="en-US" sz="2400" dirty="0"/>
              <a:t>贷款</a:t>
            </a:r>
            <a:r>
              <a:rPr lang="en-US" altLang="zh-CN" sz="2400" dirty="0"/>
              <a:t>2.1</a:t>
            </a:r>
            <a:r>
              <a:rPr lang="zh-CN" altLang="en-US" sz="2400" dirty="0"/>
              <a:t>亿</a:t>
            </a:r>
            <a:r>
              <a:rPr lang="zh-CN" altLang="zh-CN" sz="2400" dirty="0"/>
              <a:t>用于在国内生产以下关键战略矿物的设备：镓、铋、锗、铟、锑、碲、镉、钯、铜、银、金、锌和铅，以及硫酸和半导体级硫酸。该设施每年将生产</a:t>
            </a:r>
            <a:r>
              <a:rPr lang="en-US" altLang="zh-CN" sz="2400" dirty="0"/>
              <a:t> 54 </a:t>
            </a:r>
            <a:r>
              <a:rPr lang="zh-CN" altLang="zh-CN" sz="2400" dirty="0"/>
              <a:t>万吨对美国战略产业至关重要的矿物。</a:t>
            </a:r>
            <a:r>
              <a:rPr lang="zh-CN" altLang="en-US" sz="2400" dirty="0"/>
              <a:t>（注：韩国锌业为蔚山冶炼场拥有者）</a:t>
            </a:r>
            <a:endParaRPr lang="en-US" altLang="zh-CN" sz="2400" dirty="0"/>
          </a:p>
          <a:p>
            <a:endParaRPr lang="zh-CN" altLang="en-US" sz="2400" dirty="0"/>
          </a:p>
          <a:p>
            <a:pPr marL="0" indent="0">
              <a:buNone/>
            </a:pPr>
            <a:endParaRPr lang="zh-CN" altLang="en-US" dirty="0"/>
          </a:p>
        </p:txBody>
      </p:sp>
      <p:sp>
        <p:nvSpPr>
          <p:cNvPr id="4" name="灯片编号占位符 3">
            <a:extLst>
              <a:ext uri="{FF2B5EF4-FFF2-40B4-BE49-F238E27FC236}">
                <a16:creationId xmlns:a16="http://schemas.microsoft.com/office/drawing/2014/main" id="{045D547B-ABE3-2842-2242-EBF697EBE739}"/>
              </a:ext>
            </a:extLst>
          </p:cNvPr>
          <p:cNvSpPr>
            <a:spLocks noGrp="1"/>
          </p:cNvSpPr>
          <p:nvPr>
            <p:ph type="sldNum" sz="quarter" idx="12"/>
          </p:nvPr>
        </p:nvSpPr>
        <p:spPr/>
        <p:txBody>
          <a:bodyPr/>
          <a:lstStyle/>
          <a:p>
            <a:fld id="{80A20FCA-19FD-493E-B829-F89FD60808BC}" type="slidenum">
              <a:rPr lang="zh-CN" altLang="en-US" smtClean="0"/>
              <a:t>11</a:t>
            </a:fld>
            <a:endParaRPr lang="zh-CN" altLang="en-US"/>
          </a:p>
        </p:txBody>
      </p:sp>
    </p:spTree>
    <p:extLst>
      <p:ext uri="{BB962C8B-B14F-4D97-AF65-F5344CB8AC3E}">
        <p14:creationId xmlns:p14="http://schemas.microsoft.com/office/powerpoint/2010/main" val="4148956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5CCD5-2A38-66CE-5271-77A75B2CB8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99C573F-2FB7-AF0C-5AF5-AC34B38F7264}"/>
              </a:ext>
            </a:extLst>
          </p:cNvPr>
          <p:cNvSpPr>
            <a:spLocks noGrp="1"/>
          </p:cNvSpPr>
          <p:nvPr>
            <p:ph type="title"/>
          </p:nvPr>
        </p:nvSpPr>
        <p:spPr/>
        <p:txBody>
          <a:bodyPr>
            <a:normAutofit/>
          </a:bodyPr>
          <a:lstStyle/>
          <a:p>
            <a:r>
              <a:rPr lang="zh-CN" altLang="en-US" sz="3200" dirty="0"/>
              <a:t>二</a:t>
            </a:r>
            <a:r>
              <a:rPr lang="en-US" altLang="zh-CN" sz="3200" dirty="0"/>
              <a:t>.</a:t>
            </a:r>
            <a:r>
              <a:rPr lang="zh-CN" altLang="en-US" sz="3200" dirty="0"/>
              <a:t>关键矿产</a:t>
            </a:r>
            <a:r>
              <a:rPr lang="en-US" altLang="zh-CN" sz="3200" dirty="0"/>
              <a:t>-</a:t>
            </a:r>
            <a:r>
              <a:rPr lang="zh-CN" altLang="en-US" sz="3200" dirty="0"/>
              <a:t>材料研究</a:t>
            </a:r>
          </a:p>
        </p:txBody>
      </p:sp>
      <p:sp>
        <p:nvSpPr>
          <p:cNvPr id="3" name="内容占位符 2">
            <a:extLst>
              <a:ext uri="{FF2B5EF4-FFF2-40B4-BE49-F238E27FC236}">
                <a16:creationId xmlns:a16="http://schemas.microsoft.com/office/drawing/2014/main" id="{5B7E4535-8863-BCBB-FFDE-004A81AB993D}"/>
              </a:ext>
            </a:extLst>
          </p:cNvPr>
          <p:cNvSpPr>
            <a:spLocks noGrp="1"/>
          </p:cNvSpPr>
          <p:nvPr>
            <p:ph idx="1"/>
          </p:nvPr>
        </p:nvSpPr>
        <p:spPr/>
        <p:txBody>
          <a:bodyPr>
            <a:normAutofit/>
          </a:bodyPr>
          <a:lstStyle/>
          <a:p>
            <a:pPr marL="0" indent="0">
              <a:buNone/>
            </a:pPr>
            <a:r>
              <a:rPr lang="zh-CN" altLang="en-US" sz="2000" dirty="0"/>
              <a:t>美国能源部制造与能源供应链办公室 </a:t>
            </a:r>
            <a:r>
              <a:rPr lang="en-US" altLang="zh-CN" sz="2000" dirty="0"/>
              <a:t>(MESC)</a:t>
            </a:r>
            <a:r>
              <a:rPr lang="zh-CN" altLang="zh-CN" sz="2000" dirty="0"/>
              <a:t>对于电池材料研究的补助</a:t>
            </a:r>
            <a:r>
              <a:rPr lang="zh-CN" altLang="en-US" sz="2000" dirty="0"/>
              <a:t>：</a:t>
            </a:r>
            <a:r>
              <a:rPr lang="zh-CN" altLang="zh-CN" sz="2000" dirty="0"/>
              <a:t>美国能源部发布意向通知，拟投入高达</a:t>
            </a:r>
            <a:r>
              <a:rPr lang="en-US" altLang="zh-CN" sz="2000" dirty="0"/>
              <a:t> 7.25 </a:t>
            </a:r>
            <a:r>
              <a:rPr lang="zh-CN" altLang="zh-CN" sz="2000" dirty="0"/>
              <a:t>亿美元，用于提升国内电池关键材料、电池组件和先进电池的生产能力 。构建电池供应链和提升国内产能，将有助于大规模部署，增强美国电网能源实力，扶持关键的国防和科技领域，并支持国内清洁能源汽车市场的增长。</a:t>
            </a:r>
            <a:r>
              <a:rPr lang="zh-CN" altLang="en-US" sz="2000" dirty="0"/>
              <a:t>投资将聚焦于：</a:t>
            </a:r>
            <a:endParaRPr lang="en-US" altLang="zh-CN" sz="2000" dirty="0"/>
          </a:p>
          <a:p>
            <a:pPr marL="514350" indent="-514350">
              <a:buFont typeface="+mj-lt"/>
              <a:buAutoNum type="arabicPeriod"/>
            </a:pPr>
            <a:r>
              <a:rPr lang="zh-CN" altLang="zh-CN" sz="2000" dirty="0"/>
              <a:t>建立美国制造和回收能力，以生产正极关键矿物和材料或负极材料。</a:t>
            </a:r>
            <a:endParaRPr lang="en-US" altLang="zh-CN" sz="2000" dirty="0"/>
          </a:p>
          <a:p>
            <a:pPr marL="514350" indent="-514350">
              <a:buFont typeface="+mj-lt"/>
              <a:buAutoNum type="arabicPeriod"/>
            </a:pPr>
            <a:r>
              <a:rPr lang="zh-CN" altLang="zh-CN" sz="2000" dirty="0"/>
              <a:t>建立美国制造能力以生产电解质和</a:t>
            </a:r>
            <a:r>
              <a:rPr lang="en-US" altLang="zh-CN" sz="2000" dirty="0"/>
              <a:t>/</a:t>
            </a:r>
            <a:r>
              <a:rPr lang="zh-CN" altLang="zh-CN" sz="2000" dirty="0"/>
              <a:t>或电解质盐</a:t>
            </a:r>
          </a:p>
          <a:p>
            <a:pPr marL="514350" indent="-514350">
              <a:buFont typeface="+mj-lt"/>
              <a:buAutoNum type="arabicPeriod"/>
            </a:pPr>
            <a:r>
              <a:rPr lang="zh-CN" altLang="zh-CN" sz="2000" dirty="0"/>
              <a:t>创建美国制造能力，以生产电池材料、组件或实现工艺技术</a:t>
            </a:r>
            <a:endParaRPr lang="en-US" altLang="zh-CN" sz="2000" dirty="0"/>
          </a:p>
          <a:p>
            <a:pPr marL="514350" indent="-514350">
              <a:buFont typeface="+mj-lt"/>
              <a:buAutoNum type="arabicPeriod"/>
            </a:pPr>
            <a:r>
              <a:rPr lang="zh-CN" altLang="zh-CN" sz="2000" dirty="0"/>
              <a:t>通过支持和增加共享电池生产线的可用性，加快新型电池和国产制造设备</a:t>
            </a:r>
            <a:r>
              <a:rPr lang="en-US" altLang="zh-CN" sz="2000" dirty="0"/>
              <a:t>/</a:t>
            </a:r>
            <a:r>
              <a:rPr lang="zh-CN" altLang="zh-CN" sz="2000" dirty="0"/>
              <a:t>机械技术的商业化进程。</a:t>
            </a:r>
            <a:endParaRPr lang="en-US" altLang="zh-CN" sz="2000" dirty="0"/>
          </a:p>
          <a:p>
            <a:pPr marL="514350" indent="-514350">
              <a:buFont typeface="+mj-lt"/>
              <a:buAutoNum type="arabicPeriod"/>
            </a:pPr>
            <a:endParaRPr lang="en-US" altLang="zh-CN" sz="2000" dirty="0"/>
          </a:p>
          <a:p>
            <a:pPr marL="0" indent="0">
              <a:buNone/>
            </a:pPr>
            <a:endParaRPr lang="zh-CN" altLang="en-US" dirty="0"/>
          </a:p>
        </p:txBody>
      </p:sp>
      <p:sp>
        <p:nvSpPr>
          <p:cNvPr id="4" name="灯片编号占位符 3">
            <a:extLst>
              <a:ext uri="{FF2B5EF4-FFF2-40B4-BE49-F238E27FC236}">
                <a16:creationId xmlns:a16="http://schemas.microsoft.com/office/drawing/2014/main" id="{7CB8A0CC-3930-7F4B-AD92-AE29FD4F9D98}"/>
              </a:ext>
            </a:extLst>
          </p:cNvPr>
          <p:cNvSpPr>
            <a:spLocks noGrp="1"/>
          </p:cNvSpPr>
          <p:nvPr>
            <p:ph type="sldNum" sz="quarter" idx="12"/>
          </p:nvPr>
        </p:nvSpPr>
        <p:spPr/>
        <p:txBody>
          <a:bodyPr/>
          <a:lstStyle/>
          <a:p>
            <a:fld id="{80A20FCA-19FD-493E-B829-F89FD60808BC}" type="slidenum">
              <a:rPr lang="zh-CN" altLang="en-US" smtClean="0"/>
              <a:t>12</a:t>
            </a:fld>
            <a:endParaRPr lang="zh-CN" altLang="en-US"/>
          </a:p>
        </p:txBody>
      </p:sp>
    </p:spTree>
    <p:extLst>
      <p:ext uri="{BB962C8B-B14F-4D97-AF65-F5344CB8AC3E}">
        <p14:creationId xmlns:p14="http://schemas.microsoft.com/office/powerpoint/2010/main" val="4001536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B2911-A526-F6DF-BB46-34B65E3203F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BD9E224-F385-0D76-63F5-0C4C53C7DBFF}"/>
              </a:ext>
            </a:extLst>
          </p:cNvPr>
          <p:cNvSpPr>
            <a:spLocks noGrp="1"/>
          </p:cNvSpPr>
          <p:nvPr>
            <p:ph type="title"/>
          </p:nvPr>
        </p:nvSpPr>
        <p:spPr/>
        <p:txBody>
          <a:bodyPr>
            <a:normAutofit/>
          </a:bodyPr>
          <a:lstStyle/>
          <a:p>
            <a:r>
              <a:rPr lang="zh-CN" altLang="en-US" sz="3200" dirty="0"/>
              <a:t>三</a:t>
            </a:r>
            <a:r>
              <a:rPr lang="en-US" altLang="zh-CN" sz="3200" dirty="0"/>
              <a:t>.</a:t>
            </a:r>
            <a:r>
              <a:rPr lang="zh-CN" altLang="en-US" sz="3200" dirty="0"/>
              <a:t>核工业</a:t>
            </a:r>
          </a:p>
        </p:txBody>
      </p:sp>
      <p:sp>
        <p:nvSpPr>
          <p:cNvPr id="3" name="内容占位符 2">
            <a:extLst>
              <a:ext uri="{FF2B5EF4-FFF2-40B4-BE49-F238E27FC236}">
                <a16:creationId xmlns:a16="http://schemas.microsoft.com/office/drawing/2014/main" id="{8F154486-83E1-FED5-5CA8-6E9838E58D0F}"/>
              </a:ext>
            </a:extLst>
          </p:cNvPr>
          <p:cNvSpPr>
            <a:spLocks noGrp="1"/>
          </p:cNvSpPr>
          <p:nvPr>
            <p:ph idx="1"/>
          </p:nvPr>
        </p:nvSpPr>
        <p:spPr/>
        <p:txBody>
          <a:bodyPr/>
          <a:lstStyle/>
          <a:p>
            <a:pPr marL="0" indent="0">
              <a:buNone/>
            </a:pPr>
            <a:r>
              <a:rPr lang="zh-CN" altLang="en-US" sz="2400" dirty="0"/>
              <a:t>特征：保障安全，新旧并用。</a:t>
            </a:r>
            <a:endParaRPr lang="en-US" altLang="zh-CN" sz="2400" dirty="0"/>
          </a:p>
          <a:p>
            <a:pPr marL="0" indent="0">
              <a:buNone/>
            </a:pPr>
            <a:r>
              <a:rPr lang="zh-CN" altLang="en-US" sz="2400" dirty="0"/>
              <a:t>分野</a:t>
            </a:r>
            <a:r>
              <a:rPr lang="en-US" altLang="zh-CN" sz="2400" dirty="0"/>
              <a:t>:  1. </a:t>
            </a:r>
            <a:r>
              <a:rPr lang="zh-CN" altLang="en-US" sz="2400" dirty="0"/>
              <a:t>安全：保障国内核原料供应链安全</a:t>
            </a:r>
            <a:endParaRPr lang="en-US" altLang="zh-CN" sz="2400" dirty="0"/>
          </a:p>
          <a:p>
            <a:pPr marL="0" indent="0">
              <a:buNone/>
            </a:pPr>
            <a:r>
              <a:rPr lang="en-US" altLang="zh-CN" sz="2400" dirty="0"/>
              <a:t>	 2. </a:t>
            </a:r>
            <a:r>
              <a:rPr lang="zh-CN" altLang="en-US" sz="2400" dirty="0"/>
              <a:t>启旧：对旧有核电设施进行维护后再启用</a:t>
            </a:r>
            <a:endParaRPr lang="en-US" altLang="zh-CN" sz="2400" dirty="0"/>
          </a:p>
          <a:p>
            <a:pPr marL="0" indent="0">
              <a:buNone/>
            </a:pPr>
            <a:r>
              <a:rPr lang="en-US" altLang="zh-CN" sz="2400" dirty="0"/>
              <a:t>       3. </a:t>
            </a:r>
            <a:r>
              <a:rPr lang="zh-CN" altLang="en-US" sz="2400" dirty="0"/>
              <a:t>立新：验证不同路线下的新式核反应堆可能性</a:t>
            </a:r>
            <a:endParaRPr lang="en-US" altLang="zh-CN" sz="2400" dirty="0"/>
          </a:p>
          <a:p>
            <a:pPr marL="0" indent="0">
              <a:buNone/>
            </a:pPr>
            <a:r>
              <a:rPr lang="zh-CN" altLang="en-US" sz="2400" dirty="0"/>
              <a:t>政策上：得到成文法，行政令的训导。包括国防部，能源部，</a:t>
            </a:r>
            <a:r>
              <a:rPr lang="en-US" altLang="zh-CN" sz="2400" dirty="0"/>
              <a:t>OBBBA</a:t>
            </a:r>
            <a:r>
              <a:rPr lang="zh-CN" altLang="en-US" sz="2400" dirty="0"/>
              <a:t>下属能源融资指导计划（</a:t>
            </a:r>
            <a:r>
              <a:rPr lang="en-US" altLang="zh-CN" sz="2400" dirty="0"/>
              <a:t>EDFP</a:t>
            </a:r>
            <a:r>
              <a:rPr lang="zh-CN" altLang="en-US" sz="2400" dirty="0"/>
              <a:t>）以及部分前民主党时代的直接主导，或者投资</a:t>
            </a:r>
            <a:r>
              <a:rPr lang="en-US" altLang="zh-CN" sz="2400" dirty="0"/>
              <a:t>	 </a:t>
            </a:r>
            <a:endParaRPr lang="zh-CN" altLang="en-US" sz="2400" dirty="0"/>
          </a:p>
          <a:p>
            <a:endParaRPr lang="zh-CN" altLang="en-US" dirty="0"/>
          </a:p>
        </p:txBody>
      </p:sp>
      <p:sp>
        <p:nvSpPr>
          <p:cNvPr id="4" name="灯片编号占位符 3">
            <a:extLst>
              <a:ext uri="{FF2B5EF4-FFF2-40B4-BE49-F238E27FC236}">
                <a16:creationId xmlns:a16="http://schemas.microsoft.com/office/drawing/2014/main" id="{FE2A6B69-241C-B314-0163-F0755C842846}"/>
              </a:ext>
            </a:extLst>
          </p:cNvPr>
          <p:cNvSpPr>
            <a:spLocks noGrp="1"/>
          </p:cNvSpPr>
          <p:nvPr>
            <p:ph type="sldNum" sz="quarter" idx="12"/>
          </p:nvPr>
        </p:nvSpPr>
        <p:spPr/>
        <p:txBody>
          <a:bodyPr/>
          <a:lstStyle/>
          <a:p>
            <a:fld id="{80A20FCA-19FD-493E-B829-F89FD60808BC}" type="slidenum">
              <a:rPr lang="zh-CN" altLang="en-US" smtClean="0"/>
              <a:t>13</a:t>
            </a:fld>
            <a:endParaRPr lang="zh-CN" altLang="en-US"/>
          </a:p>
        </p:txBody>
      </p:sp>
    </p:spTree>
    <p:extLst>
      <p:ext uri="{BB962C8B-B14F-4D97-AF65-F5344CB8AC3E}">
        <p14:creationId xmlns:p14="http://schemas.microsoft.com/office/powerpoint/2010/main" val="4192465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BEFE5-864F-C6FE-36A1-A7327559C48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0E377D0-9BED-6D1C-ACC0-086359EF1BB5}"/>
              </a:ext>
            </a:extLst>
          </p:cNvPr>
          <p:cNvSpPr>
            <a:spLocks noGrp="1"/>
          </p:cNvSpPr>
          <p:nvPr>
            <p:ph type="title"/>
          </p:nvPr>
        </p:nvSpPr>
        <p:spPr/>
        <p:txBody>
          <a:bodyPr>
            <a:normAutofit/>
          </a:bodyPr>
          <a:lstStyle/>
          <a:p>
            <a:r>
              <a:rPr lang="zh-CN" altLang="en-US" sz="3200" dirty="0"/>
              <a:t>三</a:t>
            </a:r>
            <a:r>
              <a:rPr lang="en-US" altLang="zh-CN" sz="3200" dirty="0"/>
              <a:t>.</a:t>
            </a:r>
            <a:r>
              <a:rPr lang="zh-CN" altLang="en-US" sz="3200" dirty="0"/>
              <a:t>核工业</a:t>
            </a:r>
            <a:r>
              <a:rPr lang="en-US" altLang="zh-CN" sz="3200" dirty="0"/>
              <a:t>-</a:t>
            </a:r>
            <a:r>
              <a:rPr lang="zh-CN" altLang="en-US" sz="3200" dirty="0"/>
              <a:t>原料</a:t>
            </a:r>
            <a:r>
              <a:rPr lang="en-US" altLang="zh-CN" sz="3200" dirty="0"/>
              <a:t>/</a:t>
            </a:r>
            <a:r>
              <a:rPr lang="zh-CN" altLang="en-US" sz="3200" dirty="0"/>
              <a:t>启旧</a:t>
            </a:r>
          </a:p>
        </p:txBody>
      </p:sp>
      <p:sp>
        <p:nvSpPr>
          <p:cNvPr id="3" name="内容占位符 2">
            <a:extLst>
              <a:ext uri="{FF2B5EF4-FFF2-40B4-BE49-F238E27FC236}">
                <a16:creationId xmlns:a16="http://schemas.microsoft.com/office/drawing/2014/main" id="{F4F33CA5-CD36-41A2-58C2-214376481806}"/>
              </a:ext>
            </a:extLst>
          </p:cNvPr>
          <p:cNvSpPr>
            <a:spLocks noGrp="1"/>
          </p:cNvSpPr>
          <p:nvPr>
            <p:ph idx="1"/>
          </p:nvPr>
        </p:nvSpPr>
        <p:spPr>
          <a:xfrm>
            <a:off x="838200" y="1506311"/>
            <a:ext cx="10515600" cy="4986564"/>
          </a:xfrm>
        </p:spPr>
        <p:txBody>
          <a:bodyPr>
            <a:normAutofit/>
          </a:bodyPr>
          <a:lstStyle/>
          <a:p>
            <a:r>
              <a:rPr lang="zh-CN" altLang="en-US" sz="2200" dirty="0"/>
              <a:t>原料安全：</a:t>
            </a:r>
            <a:r>
              <a:rPr lang="zh-CN" altLang="zh-CN" sz="2200" dirty="0"/>
              <a:t>美国于</a:t>
            </a:r>
            <a:r>
              <a:rPr lang="en-US" altLang="zh-CN" sz="2200" dirty="0"/>
              <a:t>2024</a:t>
            </a:r>
            <a:r>
              <a:rPr lang="zh-CN" altLang="zh-CN" sz="2200" dirty="0"/>
              <a:t>年</a:t>
            </a:r>
            <a:r>
              <a:rPr lang="en-US" altLang="zh-CN" sz="2200" dirty="0"/>
              <a:t>5</a:t>
            </a:r>
            <a:r>
              <a:rPr lang="zh-CN" altLang="zh-CN" sz="2200" dirty="0"/>
              <a:t>月颁布《禁止进口俄罗斯铀法案》，同时加大国内核燃料研究与开发力度。此外，为确保美英两国核燃料供应链安全可靠，并在</a:t>
            </a:r>
            <a:r>
              <a:rPr lang="en-US" altLang="zh-CN" sz="2200" dirty="0"/>
              <a:t>2028</a:t>
            </a:r>
            <a:r>
              <a:rPr lang="zh-CN" altLang="zh-CN" sz="2200" dirty="0"/>
              <a:t>年底前实现完全独立于俄罗斯核燃料</a:t>
            </a:r>
            <a:r>
              <a:rPr lang="zh-CN" altLang="en-US" sz="2200" dirty="0"/>
              <a:t>。</a:t>
            </a:r>
            <a:r>
              <a:rPr lang="en-US" altLang="zh-CN" sz="2200" dirty="0"/>
              <a:t>2026</a:t>
            </a:r>
            <a:r>
              <a:rPr lang="zh-CN" altLang="en-US" sz="2200" dirty="0"/>
              <a:t>年一月，两家燃料厂商得到政府</a:t>
            </a:r>
            <a:r>
              <a:rPr lang="en-US" altLang="zh-CN" sz="2200" dirty="0"/>
              <a:t>10</a:t>
            </a:r>
            <a:r>
              <a:rPr lang="zh-CN" altLang="en-US" sz="2200" dirty="0"/>
              <a:t>亿注资。</a:t>
            </a:r>
            <a:endParaRPr lang="en-US" altLang="zh-CN" sz="2200" dirty="0"/>
          </a:p>
          <a:p>
            <a:r>
              <a:rPr lang="zh-CN" altLang="en-US" sz="2200" dirty="0"/>
              <a:t>启用旧部</a:t>
            </a:r>
            <a:r>
              <a:rPr lang="en-US" altLang="zh-CN" sz="2200" dirty="0"/>
              <a:t>·</a:t>
            </a:r>
            <a:r>
              <a:rPr lang="zh-CN" altLang="en-US" sz="2200" dirty="0"/>
              <a:t>帕利塞兹：</a:t>
            </a:r>
            <a:r>
              <a:rPr lang="en-US" altLang="zh-CN" sz="2200" dirty="0"/>
              <a:t>2024</a:t>
            </a:r>
            <a:r>
              <a:rPr lang="zh-CN" altLang="en-US" sz="2200" dirty="0"/>
              <a:t>年</a:t>
            </a:r>
            <a:r>
              <a:rPr lang="en-US" altLang="zh-CN" sz="2200" dirty="0"/>
              <a:t>9</a:t>
            </a:r>
            <a:r>
              <a:rPr lang="zh-CN" altLang="en-US" sz="2200" dirty="0"/>
              <a:t>月拜登政府敲定了</a:t>
            </a:r>
            <a:r>
              <a:rPr lang="en-US" altLang="zh-CN" sz="2200" dirty="0"/>
              <a:t>15.2</a:t>
            </a:r>
            <a:r>
              <a:rPr lang="zh-CN" altLang="en-US" sz="2200" dirty="0"/>
              <a:t>亿美元的长期联邦直接贷款。该贷款于</a:t>
            </a:r>
            <a:r>
              <a:rPr lang="en-US" altLang="zh-CN" sz="2200" dirty="0"/>
              <a:t>2025</a:t>
            </a:r>
            <a:r>
              <a:rPr lang="zh-CN" altLang="en-US" sz="2200" dirty="0"/>
              <a:t>年陆续发放。（</a:t>
            </a:r>
            <a:r>
              <a:rPr lang="en-US" altLang="zh-CN" sz="2200" dirty="0"/>
              <a:t>35</a:t>
            </a:r>
            <a:r>
              <a:rPr lang="zh-CN" altLang="en-US" sz="2200" dirty="0"/>
              <a:t>）该贷款用于重启位于密歇根州的帕利塞兹核电站。旨在提供清洁可靠的电力，并通过确保该电站至少运行至</a:t>
            </a:r>
            <a:r>
              <a:rPr lang="en-US" altLang="zh-CN" sz="2200" dirty="0"/>
              <a:t>2051</a:t>
            </a:r>
            <a:r>
              <a:rPr lang="zh-CN" altLang="en-US" sz="2200" dirty="0"/>
              <a:t>年来支持美国的能源目标。</a:t>
            </a:r>
            <a:endParaRPr lang="en-US" altLang="zh-CN" sz="2200" dirty="0"/>
          </a:p>
          <a:p>
            <a:r>
              <a:rPr lang="zh-CN" altLang="en-US" sz="2200" dirty="0"/>
              <a:t>启用旧部</a:t>
            </a:r>
            <a:r>
              <a:rPr lang="en-US" altLang="zh-CN" sz="2200" dirty="0"/>
              <a:t>·</a:t>
            </a:r>
            <a:r>
              <a:rPr lang="zh-CN" altLang="en-US" sz="2200" dirty="0"/>
              <a:t>三哩岛：</a:t>
            </a:r>
            <a:r>
              <a:rPr lang="en-US" altLang="zh-CN" sz="2200" dirty="0"/>
              <a:t>EDPF</a:t>
            </a:r>
            <a:r>
              <a:rPr lang="zh-CN" altLang="en-US" sz="2200" dirty="0"/>
              <a:t>麾下</a:t>
            </a:r>
            <a:r>
              <a:rPr lang="zh-CN" altLang="zh-CN" sz="2200" dirty="0"/>
              <a:t>能源部贷款项目办公室（</a:t>
            </a:r>
            <a:r>
              <a:rPr lang="en-US" altLang="zh-CN" sz="2200" dirty="0"/>
              <a:t>LPO</a:t>
            </a:r>
            <a:r>
              <a:rPr lang="zh-CN" altLang="zh-CN" sz="2200" dirty="0"/>
              <a:t>）</a:t>
            </a:r>
            <a:r>
              <a:rPr lang="zh-CN" altLang="en-US" sz="2200" dirty="0"/>
              <a:t>主导</a:t>
            </a:r>
            <a:r>
              <a:rPr lang="en-US" altLang="zh-CN" sz="2200" dirty="0"/>
              <a:t>10</a:t>
            </a:r>
            <a:r>
              <a:rPr lang="zh-CN" altLang="en-US" sz="2200" dirty="0"/>
              <a:t>亿贷款，重启宾夕法尼亚三哩岛核电站以及</a:t>
            </a:r>
            <a:r>
              <a:rPr lang="en-US" altLang="zh-CN" sz="2200" dirty="0"/>
              <a:t>Crane</a:t>
            </a:r>
            <a:r>
              <a:rPr lang="zh-CN" altLang="en-US" sz="2200" dirty="0"/>
              <a:t>清洁能源中心。</a:t>
            </a:r>
            <a:r>
              <a:rPr lang="zh-CN" altLang="zh-CN" sz="2200" dirty="0"/>
              <a:t>预计</a:t>
            </a:r>
            <a:r>
              <a:rPr lang="en-US" altLang="zh-CN" sz="2200" dirty="0"/>
              <a:t> 2027-2028 </a:t>
            </a:r>
            <a:r>
              <a:rPr lang="zh-CN" altLang="zh-CN" sz="2200" dirty="0"/>
              <a:t>年重启，</a:t>
            </a:r>
            <a:r>
              <a:rPr lang="en-US" altLang="zh-CN" sz="2200" dirty="0"/>
              <a:t>835</a:t>
            </a:r>
            <a:r>
              <a:rPr lang="zh-CN" altLang="zh-CN" sz="2200" dirty="0"/>
              <a:t>兆瓦的电力将供应给微软的数据中心</a:t>
            </a:r>
            <a:r>
              <a:rPr lang="zh-CN" altLang="en-US" sz="2200" dirty="0"/>
              <a:t>以及周边居民</a:t>
            </a:r>
            <a:endParaRPr lang="en-US" altLang="zh-CN" sz="2200" dirty="0"/>
          </a:p>
          <a:p>
            <a:r>
              <a:rPr lang="zh-CN" altLang="en-US" sz="2200" dirty="0"/>
              <a:t>军方出面：</a:t>
            </a:r>
            <a:r>
              <a:rPr lang="en-US" altLang="zh-CN" sz="2200" dirty="0"/>
              <a:t>2025</a:t>
            </a:r>
            <a:r>
              <a:rPr lang="zh-CN" altLang="en-US" sz="2200" dirty="0"/>
              <a:t>年</a:t>
            </a:r>
            <a:r>
              <a:rPr lang="en-US" altLang="zh-CN" sz="2200" dirty="0"/>
              <a:t>5</a:t>
            </a:r>
            <a:r>
              <a:rPr lang="zh-CN" altLang="en-US" sz="2200" dirty="0"/>
              <a:t>月</a:t>
            </a:r>
            <a:r>
              <a:rPr lang="zh-CN" altLang="zh-CN" sz="2200" dirty="0"/>
              <a:t>特朗普总统签署了第</a:t>
            </a:r>
            <a:r>
              <a:rPr lang="en-US" altLang="zh-CN" sz="2200" dirty="0"/>
              <a:t> 14299 </a:t>
            </a:r>
            <a:r>
              <a:rPr lang="zh-CN" altLang="zh-CN" sz="2200" dirty="0"/>
              <a:t>号行政命令—— 《为国家安全部署先进核反应堆技术 》。该命令指示美国陆军部最迟于</a:t>
            </a:r>
            <a:r>
              <a:rPr lang="en-US" altLang="zh-CN" sz="2200" dirty="0"/>
              <a:t> 2028 </a:t>
            </a:r>
            <a:r>
              <a:rPr lang="zh-CN" altLang="zh-CN" sz="2200" dirty="0"/>
              <a:t>年</a:t>
            </a:r>
            <a:r>
              <a:rPr lang="en-US" altLang="zh-CN" sz="2200" dirty="0"/>
              <a:t> 9 </a:t>
            </a:r>
            <a:r>
              <a:rPr lang="zh-CN" altLang="zh-CN" sz="2200" dirty="0"/>
              <a:t>月</a:t>
            </a:r>
            <a:r>
              <a:rPr lang="en-US" altLang="zh-CN" sz="2200" dirty="0"/>
              <a:t> 30 </a:t>
            </a:r>
            <a:r>
              <a:rPr lang="zh-CN" altLang="zh-CN" sz="2200" dirty="0"/>
              <a:t>日在国内军事设施启动一座由陆军监管的核反应堆。</a:t>
            </a:r>
            <a:endParaRPr lang="en-US" altLang="zh-CN" sz="2200" dirty="0"/>
          </a:p>
          <a:p>
            <a:endParaRPr lang="zh-CN" altLang="zh-CN" sz="2200" dirty="0"/>
          </a:p>
          <a:p>
            <a:endParaRPr lang="zh-CN" altLang="en-US" dirty="0"/>
          </a:p>
        </p:txBody>
      </p:sp>
      <p:sp>
        <p:nvSpPr>
          <p:cNvPr id="4" name="灯片编号占位符 3">
            <a:extLst>
              <a:ext uri="{FF2B5EF4-FFF2-40B4-BE49-F238E27FC236}">
                <a16:creationId xmlns:a16="http://schemas.microsoft.com/office/drawing/2014/main" id="{5E2DFF2B-F091-D6C8-FB98-20C4C160150F}"/>
              </a:ext>
            </a:extLst>
          </p:cNvPr>
          <p:cNvSpPr>
            <a:spLocks noGrp="1"/>
          </p:cNvSpPr>
          <p:nvPr>
            <p:ph type="sldNum" sz="quarter" idx="12"/>
          </p:nvPr>
        </p:nvSpPr>
        <p:spPr/>
        <p:txBody>
          <a:bodyPr/>
          <a:lstStyle/>
          <a:p>
            <a:fld id="{80A20FCA-19FD-493E-B829-F89FD60808BC}" type="slidenum">
              <a:rPr lang="zh-CN" altLang="en-US" smtClean="0"/>
              <a:t>14</a:t>
            </a:fld>
            <a:endParaRPr lang="zh-CN" altLang="en-US"/>
          </a:p>
        </p:txBody>
      </p:sp>
    </p:spTree>
    <p:extLst>
      <p:ext uri="{BB962C8B-B14F-4D97-AF65-F5344CB8AC3E}">
        <p14:creationId xmlns:p14="http://schemas.microsoft.com/office/powerpoint/2010/main" val="3156555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A1E6D-1CFC-3E1F-D151-DB305C25688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F7DE741-CD22-48A7-3D6F-F83E1DEE6026}"/>
              </a:ext>
            </a:extLst>
          </p:cNvPr>
          <p:cNvSpPr>
            <a:spLocks noGrp="1"/>
          </p:cNvSpPr>
          <p:nvPr>
            <p:ph type="title"/>
          </p:nvPr>
        </p:nvSpPr>
        <p:spPr/>
        <p:txBody>
          <a:bodyPr>
            <a:normAutofit/>
          </a:bodyPr>
          <a:lstStyle/>
          <a:p>
            <a:r>
              <a:rPr lang="zh-CN" altLang="en-US" sz="3200" dirty="0"/>
              <a:t>三</a:t>
            </a:r>
            <a:r>
              <a:rPr lang="en-US" altLang="zh-CN" sz="3200" dirty="0"/>
              <a:t>.</a:t>
            </a:r>
            <a:r>
              <a:rPr lang="zh-CN" altLang="en-US" sz="3200" dirty="0"/>
              <a:t>核工业</a:t>
            </a:r>
            <a:r>
              <a:rPr lang="en-US" altLang="zh-CN" sz="3200" dirty="0"/>
              <a:t>-</a:t>
            </a:r>
            <a:r>
              <a:rPr lang="zh-CN" altLang="en-US" sz="3200" dirty="0"/>
              <a:t>立新</a:t>
            </a:r>
          </a:p>
        </p:txBody>
      </p:sp>
      <p:graphicFrame>
        <p:nvGraphicFramePr>
          <p:cNvPr id="12" name="内容占位符 11">
            <a:extLst>
              <a:ext uri="{FF2B5EF4-FFF2-40B4-BE49-F238E27FC236}">
                <a16:creationId xmlns:a16="http://schemas.microsoft.com/office/drawing/2014/main" id="{2DE0579F-039A-655D-27CE-8ADCA65E53C8}"/>
              </a:ext>
            </a:extLst>
          </p:cNvPr>
          <p:cNvGraphicFramePr>
            <a:graphicFrameLocks noGrp="1"/>
          </p:cNvGraphicFramePr>
          <p:nvPr>
            <p:ph idx="1"/>
            <p:extLst>
              <p:ext uri="{D42A27DB-BD31-4B8C-83A1-F6EECF244321}">
                <p14:modId xmlns:p14="http://schemas.microsoft.com/office/powerpoint/2010/main" val="1831974543"/>
              </p:ext>
            </p:extLst>
          </p:nvPr>
        </p:nvGraphicFramePr>
        <p:xfrm>
          <a:off x="4733120" y="807290"/>
          <a:ext cx="7052480" cy="5366976"/>
        </p:xfrm>
        <a:graphic>
          <a:graphicData uri="http://schemas.openxmlformats.org/drawingml/2006/table">
            <a:tbl>
              <a:tblPr>
                <a:tableStyleId>{5C22544A-7EE6-4342-B048-85BDC9FD1C3A}</a:tableStyleId>
              </a:tblPr>
              <a:tblGrid>
                <a:gridCol w="516484">
                  <a:extLst>
                    <a:ext uri="{9D8B030D-6E8A-4147-A177-3AD203B41FA5}">
                      <a16:colId xmlns:a16="http://schemas.microsoft.com/office/drawing/2014/main" val="2492829062"/>
                    </a:ext>
                  </a:extLst>
                </a:gridCol>
                <a:gridCol w="1275374">
                  <a:extLst>
                    <a:ext uri="{9D8B030D-6E8A-4147-A177-3AD203B41FA5}">
                      <a16:colId xmlns:a16="http://schemas.microsoft.com/office/drawing/2014/main" val="1389600395"/>
                    </a:ext>
                  </a:extLst>
                </a:gridCol>
                <a:gridCol w="1004711">
                  <a:extLst>
                    <a:ext uri="{9D8B030D-6E8A-4147-A177-3AD203B41FA5}">
                      <a16:colId xmlns:a16="http://schemas.microsoft.com/office/drawing/2014/main" val="4182075509"/>
                    </a:ext>
                  </a:extLst>
                </a:gridCol>
                <a:gridCol w="778933">
                  <a:extLst>
                    <a:ext uri="{9D8B030D-6E8A-4147-A177-3AD203B41FA5}">
                      <a16:colId xmlns:a16="http://schemas.microsoft.com/office/drawing/2014/main" val="3300543352"/>
                    </a:ext>
                  </a:extLst>
                </a:gridCol>
                <a:gridCol w="722489">
                  <a:extLst>
                    <a:ext uri="{9D8B030D-6E8A-4147-A177-3AD203B41FA5}">
                      <a16:colId xmlns:a16="http://schemas.microsoft.com/office/drawing/2014/main" val="3302749963"/>
                    </a:ext>
                  </a:extLst>
                </a:gridCol>
                <a:gridCol w="733778">
                  <a:extLst>
                    <a:ext uri="{9D8B030D-6E8A-4147-A177-3AD203B41FA5}">
                      <a16:colId xmlns:a16="http://schemas.microsoft.com/office/drawing/2014/main" val="4261172014"/>
                    </a:ext>
                  </a:extLst>
                </a:gridCol>
                <a:gridCol w="564445">
                  <a:extLst>
                    <a:ext uri="{9D8B030D-6E8A-4147-A177-3AD203B41FA5}">
                      <a16:colId xmlns:a16="http://schemas.microsoft.com/office/drawing/2014/main" val="2879601142"/>
                    </a:ext>
                  </a:extLst>
                </a:gridCol>
                <a:gridCol w="666044">
                  <a:extLst>
                    <a:ext uri="{9D8B030D-6E8A-4147-A177-3AD203B41FA5}">
                      <a16:colId xmlns:a16="http://schemas.microsoft.com/office/drawing/2014/main" val="3474883614"/>
                    </a:ext>
                  </a:extLst>
                </a:gridCol>
                <a:gridCol w="790222">
                  <a:extLst>
                    <a:ext uri="{9D8B030D-6E8A-4147-A177-3AD203B41FA5}">
                      <a16:colId xmlns:a16="http://schemas.microsoft.com/office/drawing/2014/main" val="4165621984"/>
                    </a:ext>
                  </a:extLst>
                </a:gridCol>
              </a:tblGrid>
              <a:tr h="194991">
                <a:tc>
                  <a:txBody>
                    <a:bodyPr/>
                    <a:lstStyle/>
                    <a:p>
                      <a:pPr algn="l" fontAlgn="b">
                        <a:buNone/>
                      </a:pPr>
                      <a:r>
                        <a:rPr lang="zh-CN" altLang="en-US" sz="1200" u="none" strike="noStrike" dirty="0">
                          <a:effectLst/>
                          <a:latin typeface="楷体" panose="02010609060101010101" pitchFamily="49" charset="-122"/>
                          <a:ea typeface="楷体" panose="02010609060101010101" pitchFamily="49" charset="-122"/>
                        </a:rPr>
                        <a:t>序号</a:t>
                      </a:r>
                      <a:endParaRPr lang="zh-CN" altLang="en-US"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申请主体</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项目名称</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规模分类</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技术路线</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燃料</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冷却</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单机电量</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能否并联</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1463051931"/>
                  </a:ext>
                </a:extLst>
              </a:tr>
              <a:tr h="290110">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1</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可部署能源 </a:t>
                      </a:r>
                      <a:r>
                        <a:rPr lang="en-US" altLang="zh-CN" sz="1200" u="none" strike="noStrike" dirty="0">
                          <a:effectLst/>
                        </a:rPr>
                        <a:t>(</a:t>
                      </a:r>
                      <a:r>
                        <a:rPr lang="en-US" sz="1200" u="none" strike="noStrike" dirty="0">
                          <a:effectLst/>
                        </a:rPr>
                        <a:t>Deployable)</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Unity</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MMR/</a:t>
                      </a:r>
                      <a:r>
                        <a:rPr lang="zh-CN" altLang="en-US" sz="1200" u="none" strike="noStrike" dirty="0">
                          <a:effectLst/>
                        </a:rPr>
                        <a:t>核电池</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高温气冷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TRISO (HALEU)</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氦气</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1-3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3112252065"/>
                  </a:ext>
                </a:extLst>
              </a:tr>
              <a:tr h="194991">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2</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通用原子 </a:t>
                      </a:r>
                      <a:r>
                        <a:rPr lang="en-US" altLang="zh-CN" sz="1200" u="none" strike="noStrike" dirty="0">
                          <a:effectLst/>
                        </a:rPr>
                        <a:t>(</a:t>
                      </a:r>
                      <a:r>
                        <a:rPr lang="en-US" sz="1200" u="none" strike="noStrike" dirty="0">
                          <a:effectLst/>
                        </a:rPr>
                        <a:t>GA-ASI)</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EM2 / FMR</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SMR/FMR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快中子气冷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UC (</a:t>
                      </a:r>
                      <a:r>
                        <a:rPr lang="zh-CN" altLang="en-US" sz="1200" u="none" strike="noStrike" dirty="0">
                          <a:effectLst/>
                        </a:rPr>
                        <a:t>碳化铀</a:t>
                      </a:r>
                      <a:r>
                        <a:rPr lang="en-US" altLang="zh-CN" sz="1200" u="none" strike="noStrike" dirty="0">
                          <a:effectLst/>
                        </a:rPr>
                        <a:t>)</a:t>
                      </a:r>
                      <a:endParaRPr lang="en-US" altLang="zh-CN"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氦气</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50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2342865713"/>
                  </a:ext>
                </a:extLst>
              </a:tr>
              <a:tr h="194991">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3</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西北新核 </a:t>
                      </a:r>
                      <a:r>
                        <a:rPr lang="en-US" altLang="zh-CN" sz="1200" u="none" strike="noStrike" dirty="0">
                          <a:effectLst/>
                        </a:rPr>
                        <a:t>(</a:t>
                      </a:r>
                      <a:r>
                        <a:rPr lang="en-US" sz="1200" u="none" strike="noStrike" dirty="0">
                          <a:effectLst/>
                        </a:rPr>
                        <a:t>Northwest)</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CAEF</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高温气冷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Xe-100 </a:t>
                      </a:r>
                      <a:r>
                        <a:rPr lang="zh-CN" altLang="en-US" sz="1200" u="none" strike="noStrike" dirty="0">
                          <a:effectLst/>
                        </a:rPr>
                        <a:t>变体</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氦气</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80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2701915847"/>
                  </a:ext>
                </a:extLst>
              </a:tr>
              <a:tr h="194991">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4</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电弧工业 </a:t>
                      </a:r>
                      <a:r>
                        <a:rPr lang="en-US" altLang="zh-CN" sz="1200" u="none" strike="noStrike" dirty="0">
                          <a:effectLst/>
                        </a:rPr>
                        <a:t>(</a:t>
                      </a:r>
                      <a:r>
                        <a:rPr lang="en-US" sz="1200" u="none" strike="noStrike" dirty="0">
                          <a:effectLst/>
                        </a:rPr>
                        <a:t>Radiant)</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err="1">
                          <a:effectLst/>
                          <a:latin typeface="楷体" panose="02010609060101010101" pitchFamily="49" charset="-122"/>
                        </a:rPr>
                        <a:t>Kaleidos</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MMR/</a:t>
                      </a:r>
                      <a:r>
                        <a:rPr lang="zh-CN" altLang="en-US" sz="1200" u="none" strike="noStrike" dirty="0">
                          <a:effectLst/>
                        </a:rPr>
                        <a:t>核电池</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高温气冷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TRISO</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氦气</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1.2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949287110"/>
                  </a:ext>
                </a:extLst>
              </a:tr>
              <a:tr h="385228">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5</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泰拉创新 </a:t>
                      </a:r>
                      <a:r>
                        <a:rPr lang="en-US" altLang="zh-CN" sz="1200" u="none" strike="noStrike" dirty="0">
                          <a:effectLst/>
                        </a:rPr>
                        <a:t>(</a:t>
                      </a:r>
                      <a:r>
                        <a:rPr lang="en-US" sz="1200" u="none" strike="noStrike" dirty="0">
                          <a:effectLst/>
                        </a:rPr>
                        <a:t>Ultra Safe)</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Micro-Modular (MMR)</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MMR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高温气冷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FCM (TRISO)</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氦气</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5-10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2132184155"/>
                  </a:ext>
                </a:extLst>
              </a:tr>
              <a:tr h="194991">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6</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en-US" altLang="zh-CN" sz="1200" u="none" strike="noStrike" dirty="0">
                          <a:effectLst/>
                          <a:latin typeface="楷体" panose="02010609060101010101" pitchFamily="49" charset="-122"/>
                          <a:ea typeface="楷体" panose="02010609060101010101" pitchFamily="49" charset="-122"/>
                        </a:rPr>
                        <a:t>UIUC (</a:t>
                      </a:r>
                      <a:r>
                        <a:rPr lang="zh-CN" altLang="en-US" sz="1200" u="none" strike="noStrike" dirty="0">
                          <a:effectLst/>
                        </a:rPr>
                        <a:t>伊利诺伊大学</a:t>
                      </a:r>
                      <a:r>
                        <a:rPr lang="en-US" altLang="zh-CN" sz="1200" u="none" strike="noStrike" dirty="0">
                          <a:effectLst/>
                        </a:rPr>
                        <a:t>)</a:t>
                      </a:r>
                      <a:endParaRPr lang="en-US" altLang="zh-CN"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校用研究堆</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研究堆</a:t>
                      </a:r>
                      <a:r>
                        <a:rPr lang="en-US" altLang="zh-CN" sz="1200" u="none" strike="noStrike" dirty="0">
                          <a:effectLst/>
                        </a:rPr>
                        <a:t>/</a:t>
                      </a:r>
                      <a:r>
                        <a:rPr lang="en-US" sz="1200" u="none" strike="noStrike" dirty="0">
                          <a:effectLst/>
                        </a:rPr>
                        <a:t>MMR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高温气冷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TRISO</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氦气</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15 </a:t>
                      </a:r>
                      <a:r>
                        <a:rPr lang="en-US" sz="1200" u="none" strike="noStrike" dirty="0" err="1">
                          <a:effectLst/>
                        </a:rPr>
                        <a:t>MWth</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示范用</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2504012755"/>
                  </a:ext>
                </a:extLst>
              </a:tr>
              <a:tr h="275842">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7</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en-US" sz="1200" u="none" strike="noStrike" dirty="0">
                          <a:effectLst/>
                          <a:latin typeface="楷体" panose="02010609060101010101" pitchFamily="49" charset="-122"/>
                        </a:rPr>
                        <a:t>X-energy</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Xe-100</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高温气冷 </a:t>
                      </a:r>
                      <a:r>
                        <a:rPr lang="en-US" altLang="zh-CN" sz="1200" u="none" strike="noStrike" dirty="0">
                          <a:effectLst/>
                        </a:rPr>
                        <a:t>(</a:t>
                      </a:r>
                      <a:r>
                        <a:rPr lang="zh-CN" altLang="en-US" sz="1200" u="none" strike="noStrike" dirty="0">
                          <a:effectLst/>
                        </a:rPr>
                        <a:t>球床</a:t>
                      </a:r>
                      <a:r>
                        <a:rPr lang="en-US" altLang="zh-CN" sz="1200" u="none" strike="noStrike" dirty="0">
                          <a:effectLst/>
                        </a:rPr>
                        <a:t>)</a:t>
                      </a:r>
                      <a:endParaRPr lang="en-US" altLang="zh-CN"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TRISO</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氦气</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80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 </a:t>
                      </a:r>
                      <a:r>
                        <a:rPr lang="en-US" altLang="zh-CN" sz="1200" u="none" strike="noStrike" dirty="0">
                          <a:effectLst/>
                        </a:rPr>
                        <a:t>(4</a:t>
                      </a:r>
                      <a:r>
                        <a:rPr lang="zh-CN" altLang="en-US" sz="1200" u="none" strike="noStrike" dirty="0">
                          <a:effectLst/>
                        </a:rPr>
                        <a:t>堆并联</a:t>
                      </a:r>
                      <a:r>
                        <a:rPr lang="en-US" altLang="zh-CN" sz="1200" u="none" strike="noStrike" dirty="0">
                          <a:effectLst/>
                        </a:rPr>
                        <a:t>)</a:t>
                      </a:r>
                      <a:endParaRPr lang="en-US" altLang="zh-CN"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1925595397"/>
                  </a:ext>
                </a:extLst>
              </a:tr>
              <a:tr h="194991">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8</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en-US" sz="1200" u="none" strike="noStrike" dirty="0">
                          <a:effectLst/>
                          <a:latin typeface="楷体" panose="02010609060101010101" pitchFamily="49" charset="-122"/>
                        </a:rPr>
                        <a:t>X-energy</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XENITH</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MMR/</a:t>
                      </a:r>
                      <a:r>
                        <a:rPr lang="zh-CN" altLang="en-US" sz="1200" u="none" strike="noStrike" dirty="0">
                          <a:effectLst/>
                        </a:rPr>
                        <a:t>微堆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移动式气冷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TRISO</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氦气</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3-10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极高移动性</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858781350"/>
                  </a:ext>
                </a:extLst>
              </a:tr>
              <a:tr h="243383">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9</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深度裂变 </a:t>
                      </a:r>
                      <a:r>
                        <a:rPr lang="en-US" altLang="zh-CN" sz="1200" u="none" strike="noStrike" dirty="0">
                          <a:effectLst/>
                        </a:rPr>
                        <a:t>(</a:t>
                      </a:r>
                      <a:r>
                        <a:rPr lang="en-US" sz="1200" u="none" strike="noStrike" dirty="0">
                          <a:effectLst/>
                        </a:rPr>
                        <a:t>Deep Fission)</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DFBR-1</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GRR (</a:t>
                      </a:r>
                      <a:r>
                        <a:rPr lang="zh-CN" altLang="en-US" sz="1200" u="none" strike="noStrike" dirty="0">
                          <a:effectLst/>
                        </a:rPr>
                        <a:t>深井</a:t>
                      </a:r>
                      <a:r>
                        <a:rPr lang="en-US" altLang="zh-CN" sz="1200" u="none" strike="noStrike" dirty="0">
                          <a:effectLst/>
                        </a:rPr>
                        <a:t>)</a:t>
                      </a:r>
                      <a:endParaRPr lang="en-US" altLang="zh-CN"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压水堆 </a:t>
                      </a:r>
                      <a:r>
                        <a:rPr lang="en-US" altLang="zh-CN" sz="1200" u="none" strike="noStrike" dirty="0">
                          <a:effectLst/>
                        </a:rPr>
                        <a:t>(</a:t>
                      </a:r>
                      <a:r>
                        <a:rPr lang="zh-CN" altLang="en-US" sz="1200" u="none" strike="noStrike" dirty="0">
                          <a:effectLst/>
                        </a:rPr>
                        <a:t>地下</a:t>
                      </a:r>
                      <a:r>
                        <a:rPr lang="en-US" altLang="zh-CN" sz="1200" u="none" strike="noStrike" dirty="0">
                          <a:effectLst/>
                        </a:rPr>
                        <a:t>)</a:t>
                      </a:r>
                      <a:endParaRPr lang="en-US" altLang="zh-CN"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标准 </a:t>
                      </a:r>
                      <a:r>
                        <a:rPr lang="en-US" sz="1200" u="none" strike="noStrike" dirty="0">
                          <a:effectLst/>
                        </a:rPr>
                        <a:t>LEU</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水冷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15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 </a:t>
                      </a:r>
                      <a:r>
                        <a:rPr lang="en-US" altLang="zh-CN" sz="1200" u="none" strike="noStrike" dirty="0">
                          <a:effectLst/>
                        </a:rPr>
                        <a:t>(</a:t>
                      </a:r>
                      <a:r>
                        <a:rPr lang="zh-CN" altLang="en-US" sz="1200" u="none" strike="noStrike" dirty="0">
                          <a:effectLst/>
                        </a:rPr>
                        <a:t>井阵列</a:t>
                      </a:r>
                      <a:r>
                        <a:rPr lang="en-US" altLang="zh-CN" sz="1200" u="none" strike="noStrike" dirty="0">
                          <a:effectLst/>
                        </a:rPr>
                        <a:t>)</a:t>
                      </a:r>
                      <a:endParaRPr lang="en-US" altLang="zh-CN"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1457975450"/>
                  </a:ext>
                </a:extLst>
              </a:tr>
              <a:tr h="194991">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10</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哈罗德能源 </a:t>
                      </a:r>
                      <a:r>
                        <a:rPr lang="en-US" altLang="zh-CN" sz="1200" u="none" strike="noStrike" dirty="0">
                          <a:effectLst/>
                        </a:rPr>
                        <a:t>(</a:t>
                      </a:r>
                      <a:r>
                        <a:rPr lang="en-US" sz="1200" u="none" strike="noStrike" dirty="0">
                          <a:effectLst/>
                        </a:rPr>
                        <a:t>Helios)</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未命名</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微堆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压水堆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LEU</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水冷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2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模块化</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5953882"/>
                  </a:ext>
                </a:extLst>
              </a:tr>
              <a:tr h="194991">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11</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en-US" sz="1200" u="none" strike="noStrike" dirty="0">
                          <a:effectLst/>
                          <a:latin typeface="楷体" panose="02010609060101010101" pitchFamily="49" charset="-122"/>
                        </a:rPr>
                        <a:t>Last Energy</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PWR-20</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MMR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压水堆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标准 </a:t>
                      </a:r>
                      <a:r>
                        <a:rPr lang="en-US" sz="1200" u="none" strike="noStrike" dirty="0">
                          <a:effectLst/>
                        </a:rPr>
                        <a:t>LEU</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水冷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20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1328240203"/>
                  </a:ext>
                </a:extLst>
              </a:tr>
              <a:tr h="194991">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12</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en-US" sz="1200" u="none" strike="noStrike" dirty="0">
                          <a:effectLst/>
                          <a:latin typeface="楷体" panose="02010609060101010101" pitchFamily="49" charset="-122"/>
                        </a:rPr>
                        <a:t>REPLOY Power</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SPS</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 (</a:t>
                      </a:r>
                      <a:r>
                        <a:rPr lang="zh-CN" altLang="en-US" sz="1200" u="none" strike="noStrike" dirty="0">
                          <a:effectLst/>
                        </a:rPr>
                        <a:t>海底</a:t>
                      </a:r>
                      <a:r>
                        <a:rPr lang="en-US" altLang="zh-CN" sz="1200" u="none" strike="noStrike" dirty="0">
                          <a:effectLst/>
                        </a:rPr>
                        <a:t>)</a:t>
                      </a:r>
                      <a:endParaRPr lang="en-US" altLang="zh-CN"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LWR (</a:t>
                      </a:r>
                      <a:r>
                        <a:rPr lang="zh-CN" altLang="en-US" sz="1200" u="none" strike="noStrike" dirty="0">
                          <a:effectLst/>
                        </a:rPr>
                        <a:t>轻水</a:t>
                      </a:r>
                      <a:r>
                        <a:rPr lang="en-US" altLang="zh-CN" sz="1200" u="none" strike="noStrike" dirty="0">
                          <a:effectLst/>
                        </a:rPr>
                        <a:t>)</a:t>
                      </a:r>
                      <a:endParaRPr lang="en-US" altLang="zh-CN"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LEU</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海水</a:t>
                      </a:r>
                      <a:r>
                        <a:rPr lang="en-US" altLang="zh-CN" sz="1200" u="none" strike="noStrike" dirty="0">
                          <a:effectLst/>
                        </a:rPr>
                        <a:t>/</a:t>
                      </a:r>
                      <a:r>
                        <a:rPr lang="zh-CN" altLang="en-US" sz="1200" u="none" strike="noStrike" dirty="0">
                          <a:effectLst/>
                        </a:rPr>
                        <a:t>水冷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300-600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1746176282"/>
                  </a:ext>
                </a:extLst>
              </a:tr>
              <a:tr h="290110">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13</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劳斯莱斯 </a:t>
                      </a:r>
                      <a:r>
                        <a:rPr lang="en-US" altLang="zh-CN" sz="1200" u="none" strike="noStrike" dirty="0">
                          <a:effectLst/>
                        </a:rPr>
                        <a:t>(</a:t>
                      </a:r>
                      <a:r>
                        <a:rPr lang="en-US" sz="1200" u="none" strike="noStrike" dirty="0">
                          <a:effectLst/>
                        </a:rPr>
                        <a:t>Rolls-Royce)</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RR SMR</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压水堆 </a:t>
                      </a:r>
                      <a:r>
                        <a:rPr lang="en-US" altLang="zh-CN" sz="1200" u="none" strike="noStrike" dirty="0">
                          <a:effectLst/>
                        </a:rPr>
                        <a:t>(</a:t>
                      </a:r>
                      <a:r>
                        <a:rPr lang="en-US" sz="1200" u="none" strike="noStrike" dirty="0">
                          <a:effectLst/>
                        </a:rPr>
                        <a:t>PWR)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标准 </a:t>
                      </a:r>
                      <a:r>
                        <a:rPr lang="en-US" sz="1200" u="none" strike="noStrike" dirty="0">
                          <a:effectLst/>
                        </a:rPr>
                        <a:t>LEU</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水冷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470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3340349385"/>
                  </a:ext>
                </a:extLst>
              </a:tr>
              <a:tr h="194991">
                <a:tc>
                  <a:txBody>
                    <a:bodyPr/>
                    <a:lstStyle/>
                    <a:p>
                      <a:pPr algn="r" fontAlgn="b">
                        <a:buNone/>
                      </a:pPr>
                      <a:r>
                        <a:rPr lang="en-US" altLang="zh-CN" sz="1200" u="none" strike="noStrike" dirty="0">
                          <a:effectLst/>
                          <a:latin typeface="楷体" panose="02010609060101010101" pitchFamily="49" charset="-122"/>
                          <a:ea typeface="楷体" panose="02010609060101010101" pitchFamily="49" charset="-122"/>
                        </a:rPr>
                        <a:t>14</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通用日立 </a:t>
                      </a:r>
                      <a:r>
                        <a:rPr lang="en-US" altLang="zh-CN" sz="1200" u="none" strike="noStrike" dirty="0">
                          <a:effectLst/>
                        </a:rPr>
                        <a:t>(</a:t>
                      </a:r>
                      <a:r>
                        <a:rPr lang="en-US" sz="1200" u="none" strike="noStrike" dirty="0">
                          <a:effectLst/>
                        </a:rPr>
                        <a:t>GEH)</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BWRX-300</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沸水堆 </a:t>
                      </a:r>
                      <a:r>
                        <a:rPr lang="en-US" altLang="zh-CN" sz="1200" u="none" strike="noStrike" dirty="0">
                          <a:effectLst/>
                        </a:rPr>
                        <a:t>(</a:t>
                      </a:r>
                      <a:r>
                        <a:rPr lang="en-US" sz="1200" u="none" strike="noStrike" dirty="0">
                          <a:effectLst/>
                        </a:rPr>
                        <a:t>BWR)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标准 </a:t>
                      </a:r>
                      <a:r>
                        <a:rPr lang="en-US" sz="1200" u="none" strike="noStrike" dirty="0">
                          <a:effectLst/>
                        </a:rPr>
                        <a:t>LEU</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水冷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300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2563862006"/>
                  </a:ext>
                </a:extLst>
              </a:tr>
            </a:tbl>
          </a:graphicData>
        </a:graphic>
      </p:graphicFrame>
      <p:sp>
        <p:nvSpPr>
          <p:cNvPr id="14" name="文本框 13">
            <a:extLst>
              <a:ext uri="{FF2B5EF4-FFF2-40B4-BE49-F238E27FC236}">
                <a16:creationId xmlns:a16="http://schemas.microsoft.com/office/drawing/2014/main" id="{5A7EA8F5-64C6-C229-664B-EA3E4AACA289}"/>
              </a:ext>
            </a:extLst>
          </p:cNvPr>
          <p:cNvSpPr txBox="1"/>
          <p:nvPr/>
        </p:nvSpPr>
        <p:spPr>
          <a:xfrm>
            <a:off x="286327" y="1782618"/>
            <a:ext cx="4050003" cy="3970318"/>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latin typeface="楷体" panose="02010609060101010101" pitchFamily="49" charset="-122"/>
                <a:ea typeface="楷体" panose="02010609060101010101" pitchFamily="49" charset="-122"/>
              </a:rPr>
              <a:t>AI </a:t>
            </a:r>
            <a:r>
              <a:rPr lang="zh-CN" altLang="zh-CN" b="1" dirty="0">
                <a:latin typeface="楷体" panose="02010609060101010101" pitchFamily="49" charset="-122"/>
                <a:ea typeface="楷体" panose="02010609060101010101" pitchFamily="49" charset="-122"/>
              </a:rPr>
              <a:t>是最强的催化剂：</a:t>
            </a:r>
            <a:r>
              <a:rPr lang="en-US" altLang="zh-CN" dirty="0">
                <a:latin typeface="楷体" panose="02010609060101010101" pitchFamily="49" charset="-122"/>
                <a:ea typeface="楷体" panose="02010609060101010101" pitchFamily="49" charset="-122"/>
              </a:rPr>
              <a:t> 2025 </a:t>
            </a:r>
            <a:r>
              <a:rPr lang="zh-CN" altLang="zh-CN" dirty="0">
                <a:latin typeface="楷体" panose="02010609060101010101" pitchFamily="49" charset="-122"/>
                <a:ea typeface="楷体" panose="02010609060101010101" pitchFamily="49" charset="-122"/>
              </a:rPr>
              <a:t>年几乎所有新增的</a:t>
            </a:r>
            <a:r>
              <a:rPr lang="en-US" altLang="zh-CN"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点对点</a:t>
            </a:r>
            <a:r>
              <a:rPr lang="en-US" altLang="zh-CN"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核能大单（</a:t>
            </a:r>
            <a:r>
              <a:rPr lang="en-US" altLang="zh-CN" dirty="0">
                <a:latin typeface="楷体" panose="02010609060101010101" pitchFamily="49" charset="-122"/>
                <a:ea typeface="楷体" panose="02010609060101010101" pitchFamily="49" charset="-122"/>
              </a:rPr>
              <a:t>Google</a:t>
            </a:r>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Microsoft</a:t>
            </a:r>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Crusoe</a:t>
            </a:r>
            <a:r>
              <a:rPr lang="zh-CN" altLang="zh-CN" dirty="0">
                <a:latin typeface="楷体" panose="02010609060101010101" pitchFamily="49" charset="-122"/>
                <a:ea typeface="楷体" panose="02010609060101010101" pitchFamily="49" charset="-122"/>
              </a:rPr>
              <a:t>）都是为了</a:t>
            </a:r>
            <a:r>
              <a:rPr lang="zh-CN" altLang="en-US" dirty="0">
                <a:latin typeface="楷体" panose="02010609060101010101" pitchFamily="49" charset="-122"/>
                <a:ea typeface="楷体" panose="02010609060101010101" pitchFamily="49" charset="-122"/>
              </a:rPr>
              <a:t>寻找支持</a:t>
            </a:r>
            <a:r>
              <a:rPr lang="zh-CN" altLang="zh-CN" dirty="0">
                <a:latin typeface="楷体" panose="02010609060101010101" pitchFamily="49" charset="-122"/>
                <a:ea typeface="楷体" panose="02010609060101010101" pitchFamily="49" charset="-122"/>
              </a:rPr>
              <a:t>算力</a:t>
            </a:r>
            <a:r>
              <a:rPr lang="zh-CN" altLang="en-US" dirty="0">
                <a:latin typeface="楷体" panose="02010609060101010101" pitchFamily="49" charset="-122"/>
                <a:ea typeface="楷体" panose="02010609060101010101" pitchFamily="49" charset="-122"/>
              </a:rPr>
              <a:t>的电力源</a:t>
            </a:r>
            <a:r>
              <a:rPr lang="zh-CN" altLang="zh-CN" dirty="0">
                <a:latin typeface="楷体" panose="02010609060101010101" pitchFamily="49" charset="-122"/>
                <a:ea typeface="楷体" panose="02010609060101010101" pitchFamily="49" charset="-122"/>
              </a:rPr>
              <a:t>。</a:t>
            </a:r>
          </a:p>
          <a:p>
            <a:pPr marL="285750" indent="-285750">
              <a:buFont typeface="Arial" panose="020B0604020202020204" pitchFamily="34" charset="0"/>
              <a:buChar char="•"/>
            </a:pPr>
            <a:r>
              <a:rPr lang="en-US" altLang="zh-CN" dirty="0">
                <a:latin typeface="楷体" panose="02010609060101010101" pitchFamily="49" charset="-122"/>
                <a:ea typeface="楷体" panose="02010609060101010101" pitchFamily="49" charset="-122"/>
              </a:rPr>
              <a:t> </a:t>
            </a:r>
            <a:r>
              <a:rPr lang="en-US" altLang="zh-CN" b="1" dirty="0">
                <a:latin typeface="楷体" panose="02010609060101010101" pitchFamily="49" charset="-122"/>
                <a:ea typeface="楷体" panose="02010609060101010101" pitchFamily="49" charset="-122"/>
              </a:rPr>
              <a:t>“</a:t>
            </a:r>
            <a:r>
              <a:rPr lang="zh-CN" altLang="zh-CN" b="1" dirty="0">
                <a:latin typeface="楷体" panose="02010609060101010101" pitchFamily="49" charset="-122"/>
                <a:ea typeface="楷体" panose="02010609060101010101" pitchFamily="49" charset="-122"/>
              </a:rPr>
              <a:t>煤</a:t>
            </a:r>
            <a:r>
              <a:rPr lang="en-US" altLang="zh-CN" b="1" dirty="0">
                <a:latin typeface="楷体" panose="02010609060101010101" pitchFamily="49" charset="-122"/>
                <a:ea typeface="楷体" panose="02010609060101010101" pitchFamily="49" charset="-122"/>
              </a:rPr>
              <a:t>/</a:t>
            </a:r>
            <a:r>
              <a:rPr lang="zh-CN" altLang="zh-CN" b="1" dirty="0">
                <a:latin typeface="楷体" panose="02010609060101010101" pitchFamily="49" charset="-122"/>
                <a:ea typeface="楷体" panose="02010609060101010101" pitchFamily="49" charset="-122"/>
              </a:rPr>
              <a:t>气转核</a:t>
            </a:r>
            <a:r>
              <a:rPr lang="en-US" altLang="zh-CN" b="1" dirty="0">
                <a:latin typeface="楷体" panose="02010609060101010101" pitchFamily="49" charset="-122"/>
                <a:ea typeface="楷体" panose="02010609060101010101" pitchFamily="49" charset="-122"/>
              </a:rPr>
              <a:t>”</a:t>
            </a:r>
            <a:r>
              <a:rPr lang="zh-CN" altLang="zh-CN" b="1" dirty="0">
                <a:latin typeface="楷体" panose="02010609060101010101" pitchFamily="49" charset="-122"/>
                <a:ea typeface="楷体" panose="02010609060101010101" pitchFamily="49" charset="-122"/>
              </a:rPr>
              <a:t>是主流商业模式：</a:t>
            </a:r>
            <a:r>
              <a:rPr lang="zh-CN" altLang="zh-CN" dirty="0">
                <a:latin typeface="楷体" panose="02010609060101010101" pitchFamily="49" charset="-122"/>
                <a:ea typeface="楷体" panose="02010609060101010101" pitchFamily="49" charset="-122"/>
              </a:rPr>
              <a:t> 像</a:t>
            </a:r>
            <a:r>
              <a:rPr lang="en-US" altLang="zh-CN" dirty="0">
                <a:latin typeface="楷体" panose="02010609060101010101" pitchFamily="49" charset="-122"/>
                <a:ea typeface="楷体" panose="02010609060101010101" pitchFamily="49" charset="-122"/>
              </a:rPr>
              <a:t> Belews Creek </a:t>
            </a:r>
            <a:r>
              <a:rPr lang="zh-CN" altLang="zh-CN" dirty="0">
                <a:latin typeface="楷体" panose="02010609060101010101" pitchFamily="49" charset="-122"/>
                <a:ea typeface="楷体" panose="02010609060101010101" pitchFamily="49" charset="-122"/>
              </a:rPr>
              <a:t>或</a:t>
            </a:r>
            <a:r>
              <a:rPr lang="en-US" altLang="zh-CN" dirty="0">
                <a:latin typeface="楷体" panose="02010609060101010101" pitchFamily="49" charset="-122"/>
                <a:ea typeface="楷体" panose="02010609060101010101" pitchFamily="49" charset="-122"/>
              </a:rPr>
              <a:t> Seadrift</a:t>
            </a:r>
            <a:r>
              <a:rPr lang="zh-CN" altLang="zh-CN" dirty="0">
                <a:latin typeface="楷体" panose="02010609060101010101" pitchFamily="49" charset="-122"/>
                <a:ea typeface="楷体" panose="02010609060101010101" pitchFamily="49" charset="-122"/>
              </a:rPr>
              <a:t>，利用旧火电厂的电网资产来部署新核能，是降低造价的关键。</a:t>
            </a:r>
          </a:p>
          <a:p>
            <a:pPr marL="285750" indent="-285750">
              <a:buFont typeface="Arial" panose="020B0604020202020204" pitchFamily="34" charset="0"/>
              <a:buChar char="•"/>
            </a:pPr>
            <a:r>
              <a:rPr lang="zh-CN" altLang="en-US" b="1" dirty="0">
                <a:latin typeface="楷体" panose="02010609060101010101" pitchFamily="49" charset="-122"/>
                <a:ea typeface="楷体" panose="02010609060101010101" pitchFamily="49" charset="-122"/>
              </a:rPr>
              <a:t>小型化，快速部署，并联成为刚需：</a:t>
            </a:r>
            <a:r>
              <a:rPr lang="zh-CN" altLang="en-US" dirty="0">
                <a:latin typeface="楷体" panose="02010609060101010101" pitchFamily="49" charset="-122"/>
                <a:ea typeface="楷体" panose="02010609060101010101" pitchFamily="49" charset="-122"/>
              </a:rPr>
              <a:t>重型一体化核电机构已经被抛弃，为了应对数据中心的灵活部署，小规模，可并联，成为了刚性需求</a:t>
            </a:r>
            <a:endParaRPr lang="en-US" altLang="zh-CN" dirty="0">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b="1" dirty="0">
                <a:latin typeface="楷体" panose="02010609060101010101" pitchFamily="49" charset="-122"/>
                <a:ea typeface="楷体" panose="02010609060101010101" pitchFamily="49" charset="-122"/>
              </a:rPr>
              <a:t>裂变堆为主：</a:t>
            </a:r>
            <a:r>
              <a:rPr lang="zh-CN" altLang="en-US" dirty="0">
                <a:latin typeface="楷体" panose="02010609060101010101" pitchFamily="49" charset="-122"/>
                <a:ea typeface="楷体" panose="02010609060101010101" pitchFamily="49" charset="-122"/>
              </a:rPr>
              <a:t>关于聚变堆的研究仍然处于起步阶段</a:t>
            </a:r>
          </a:p>
        </p:txBody>
      </p:sp>
      <p:sp>
        <p:nvSpPr>
          <p:cNvPr id="15" name="文本框 14">
            <a:extLst>
              <a:ext uri="{FF2B5EF4-FFF2-40B4-BE49-F238E27FC236}">
                <a16:creationId xmlns:a16="http://schemas.microsoft.com/office/drawing/2014/main" id="{7096FA3E-81E8-5A42-4C1F-ADB0712A2A83}"/>
              </a:ext>
            </a:extLst>
          </p:cNvPr>
          <p:cNvSpPr txBox="1"/>
          <p:nvPr/>
        </p:nvSpPr>
        <p:spPr>
          <a:xfrm>
            <a:off x="1311695" y="6538912"/>
            <a:ext cx="1999265" cy="261610"/>
          </a:xfrm>
          <a:prstGeom prst="rect">
            <a:avLst/>
          </a:prstGeom>
          <a:noFill/>
        </p:spPr>
        <p:txBody>
          <a:bodyPr wrap="none" rtlCol="0">
            <a:spAutoFit/>
          </a:bodyPr>
          <a:lstStyle/>
          <a:p>
            <a:r>
              <a:rPr lang="zh-CN" altLang="en-US" sz="1100" dirty="0">
                <a:latin typeface="楷体" panose="02010609060101010101" pitchFamily="49" charset="-122"/>
                <a:ea typeface="楷体" panose="02010609060101010101" pitchFamily="49" charset="-122"/>
              </a:rPr>
              <a:t>资料来源：</a:t>
            </a:r>
            <a:r>
              <a:rPr lang="en-US" altLang="zh-CN" sz="1100" dirty="0">
                <a:latin typeface="楷体" panose="02010609060101010101" pitchFamily="49" charset="-122"/>
                <a:ea typeface="楷体" panose="02010609060101010101" pitchFamily="49" charset="-122"/>
              </a:rPr>
              <a:t>NRC</a:t>
            </a:r>
            <a:r>
              <a:rPr lang="zh-CN" altLang="en-US" sz="1100" dirty="0">
                <a:latin typeface="楷体" panose="02010609060101010101" pitchFamily="49" charset="-122"/>
                <a:ea typeface="楷体" panose="02010609060101010101" pitchFamily="49" charset="-122"/>
              </a:rPr>
              <a:t>，</a:t>
            </a:r>
            <a:r>
              <a:rPr lang="en-US" altLang="zh-CN" sz="1100" dirty="0" err="1">
                <a:latin typeface="楷体" panose="02010609060101010101" pitchFamily="49" charset="-122"/>
                <a:ea typeface="楷体" panose="02010609060101010101" pitchFamily="49" charset="-122"/>
              </a:rPr>
              <a:t>gemini</a:t>
            </a:r>
            <a:r>
              <a:rPr lang="zh-CN" altLang="en-US" sz="1100" dirty="0">
                <a:latin typeface="楷体" panose="02010609060101010101" pitchFamily="49" charset="-122"/>
                <a:ea typeface="楷体" panose="02010609060101010101" pitchFamily="49" charset="-122"/>
              </a:rPr>
              <a:t>补充</a:t>
            </a:r>
          </a:p>
        </p:txBody>
      </p:sp>
      <p:sp>
        <p:nvSpPr>
          <p:cNvPr id="3" name="灯片编号占位符 2">
            <a:extLst>
              <a:ext uri="{FF2B5EF4-FFF2-40B4-BE49-F238E27FC236}">
                <a16:creationId xmlns:a16="http://schemas.microsoft.com/office/drawing/2014/main" id="{1C239606-53FA-0A97-D746-BC7E8BD2D6EC}"/>
              </a:ext>
            </a:extLst>
          </p:cNvPr>
          <p:cNvSpPr>
            <a:spLocks noGrp="1"/>
          </p:cNvSpPr>
          <p:nvPr>
            <p:ph type="sldNum" sz="quarter" idx="12"/>
          </p:nvPr>
        </p:nvSpPr>
        <p:spPr/>
        <p:txBody>
          <a:bodyPr/>
          <a:lstStyle/>
          <a:p>
            <a:fld id="{80A20FCA-19FD-493E-B829-F89FD60808BC}" type="slidenum">
              <a:rPr lang="zh-CN" altLang="en-US" smtClean="0"/>
              <a:t>15</a:t>
            </a:fld>
            <a:endParaRPr lang="zh-CN" altLang="en-US"/>
          </a:p>
        </p:txBody>
      </p:sp>
      <p:sp>
        <p:nvSpPr>
          <p:cNvPr id="4" name="文本框 3">
            <a:extLst>
              <a:ext uri="{FF2B5EF4-FFF2-40B4-BE49-F238E27FC236}">
                <a16:creationId xmlns:a16="http://schemas.microsoft.com/office/drawing/2014/main" id="{6112CB7A-4E7A-7877-6EC6-FAEADF8D8438}"/>
              </a:ext>
            </a:extLst>
          </p:cNvPr>
          <p:cNvSpPr txBox="1"/>
          <p:nvPr/>
        </p:nvSpPr>
        <p:spPr>
          <a:xfrm>
            <a:off x="5034845" y="6308209"/>
            <a:ext cx="5937844" cy="523220"/>
          </a:xfrm>
          <a:prstGeom prst="rect">
            <a:avLst/>
          </a:prstGeom>
          <a:noFill/>
        </p:spPr>
        <p:txBody>
          <a:bodyPr wrap="none" rtlCol="0">
            <a:spAutoFit/>
          </a:bodyPr>
          <a:lstStyle/>
          <a:p>
            <a:r>
              <a:rPr lang="en-US" altLang="zh-CN" sz="1400" dirty="0"/>
              <a:t>SMR=</a:t>
            </a:r>
            <a:r>
              <a:rPr lang="zh-CN" altLang="en-US" sz="1400" dirty="0"/>
              <a:t>小型模块化反应堆     </a:t>
            </a:r>
            <a:r>
              <a:rPr lang="en-US" altLang="zh-CN" sz="1400" dirty="0"/>
              <a:t>MMR=</a:t>
            </a:r>
            <a:r>
              <a:rPr lang="zh-CN" altLang="en-US" sz="1400" dirty="0"/>
              <a:t>中型模块化反应堆</a:t>
            </a:r>
            <a:endParaRPr lang="en-US" altLang="zh-CN" sz="1400" dirty="0"/>
          </a:p>
          <a:p>
            <a:r>
              <a:rPr lang="en-US" altLang="zh-CN" sz="1400" dirty="0"/>
              <a:t>TRISO = </a:t>
            </a:r>
            <a:r>
              <a:rPr lang="zh-CN" altLang="en-US" sz="1400" dirty="0"/>
              <a:t>三相微粒燃料   </a:t>
            </a:r>
            <a:r>
              <a:rPr lang="en-US" altLang="zh-CN" sz="1400" dirty="0"/>
              <a:t>LEU = </a:t>
            </a:r>
            <a:r>
              <a:rPr lang="zh-CN" altLang="en-US" sz="1400" dirty="0"/>
              <a:t>低浓度铀            </a:t>
            </a:r>
            <a:r>
              <a:rPr lang="en-US" altLang="zh-CN" sz="1400" dirty="0"/>
              <a:t>HALEU = </a:t>
            </a:r>
            <a:r>
              <a:rPr lang="zh-CN" altLang="en-US" sz="1400" dirty="0"/>
              <a:t>高丰度低浓度铀</a:t>
            </a:r>
          </a:p>
        </p:txBody>
      </p:sp>
    </p:spTree>
    <p:extLst>
      <p:ext uri="{BB962C8B-B14F-4D97-AF65-F5344CB8AC3E}">
        <p14:creationId xmlns:p14="http://schemas.microsoft.com/office/powerpoint/2010/main" val="1878086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3DC9D3BD-8C76-BE11-825D-450876878E5B}"/>
              </a:ext>
            </a:extLst>
          </p:cNvPr>
          <p:cNvGraphicFramePr>
            <a:graphicFrameLocks noGrp="1"/>
          </p:cNvGraphicFramePr>
          <p:nvPr>
            <p:extLst>
              <p:ext uri="{D42A27DB-BD31-4B8C-83A1-F6EECF244321}">
                <p14:modId xmlns:p14="http://schemas.microsoft.com/office/powerpoint/2010/main" val="510840134"/>
              </p:ext>
            </p:extLst>
          </p:nvPr>
        </p:nvGraphicFramePr>
        <p:xfrm>
          <a:off x="838200" y="1637719"/>
          <a:ext cx="10265833" cy="4855156"/>
        </p:xfrm>
        <a:graphic>
          <a:graphicData uri="http://schemas.openxmlformats.org/drawingml/2006/table">
            <a:tbl>
              <a:tblPr>
                <a:tableStyleId>{5C22544A-7EE6-4342-B048-85BDC9FD1C3A}</a:tableStyleId>
              </a:tblPr>
              <a:tblGrid>
                <a:gridCol w="754002">
                  <a:extLst>
                    <a:ext uri="{9D8B030D-6E8A-4147-A177-3AD203B41FA5}">
                      <a16:colId xmlns:a16="http://schemas.microsoft.com/office/drawing/2014/main" val="33656686"/>
                    </a:ext>
                  </a:extLst>
                </a:gridCol>
                <a:gridCol w="1828331">
                  <a:extLst>
                    <a:ext uri="{9D8B030D-6E8A-4147-A177-3AD203B41FA5}">
                      <a16:colId xmlns:a16="http://schemas.microsoft.com/office/drawing/2014/main" val="700708562"/>
                    </a:ext>
                  </a:extLst>
                </a:gridCol>
                <a:gridCol w="1241778">
                  <a:extLst>
                    <a:ext uri="{9D8B030D-6E8A-4147-A177-3AD203B41FA5}">
                      <a16:colId xmlns:a16="http://schemas.microsoft.com/office/drawing/2014/main" val="1209565239"/>
                    </a:ext>
                  </a:extLst>
                </a:gridCol>
                <a:gridCol w="1027289">
                  <a:extLst>
                    <a:ext uri="{9D8B030D-6E8A-4147-A177-3AD203B41FA5}">
                      <a16:colId xmlns:a16="http://schemas.microsoft.com/office/drawing/2014/main" val="1720383200"/>
                    </a:ext>
                  </a:extLst>
                </a:gridCol>
                <a:gridCol w="1309511">
                  <a:extLst>
                    <a:ext uri="{9D8B030D-6E8A-4147-A177-3AD203B41FA5}">
                      <a16:colId xmlns:a16="http://schemas.microsoft.com/office/drawing/2014/main" val="2392522820"/>
                    </a:ext>
                  </a:extLst>
                </a:gridCol>
                <a:gridCol w="1185333">
                  <a:extLst>
                    <a:ext uri="{9D8B030D-6E8A-4147-A177-3AD203B41FA5}">
                      <a16:colId xmlns:a16="http://schemas.microsoft.com/office/drawing/2014/main" val="160308104"/>
                    </a:ext>
                  </a:extLst>
                </a:gridCol>
                <a:gridCol w="970845">
                  <a:extLst>
                    <a:ext uri="{9D8B030D-6E8A-4147-A177-3AD203B41FA5}">
                      <a16:colId xmlns:a16="http://schemas.microsoft.com/office/drawing/2014/main" val="3258621593"/>
                    </a:ext>
                  </a:extLst>
                </a:gridCol>
                <a:gridCol w="993422">
                  <a:extLst>
                    <a:ext uri="{9D8B030D-6E8A-4147-A177-3AD203B41FA5}">
                      <a16:colId xmlns:a16="http://schemas.microsoft.com/office/drawing/2014/main" val="3217692260"/>
                    </a:ext>
                  </a:extLst>
                </a:gridCol>
                <a:gridCol w="955322">
                  <a:extLst>
                    <a:ext uri="{9D8B030D-6E8A-4147-A177-3AD203B41FA5}">
                      <a16:colId xmlns:a16="http://schemas.microsoft.com/office/drawing/2014/main" val="743853732"/>
                    </a:ext>
                  </a:extLst>
                </a:gridCol>
              </a:tblGrid>
              <a:tr h="187904">
                <a:tc>
                  <a:txBody>
                    <a:bodyPr/>
                    <a:lstStyle/>
                    <a:p>
                      <a:pPr algn="l" fontAlgn="b">
                        <a:buNone/>
                      </a:pPr>
                      <a:r>
                        <a:rPr lang="zh-CN" altLang="en-US" sz="1200" u="none" strike="noStrike" dirty="0">
                          <a:effectLst/>
                          <a:latin typeface="楷体" panose="02010609060101010101" pitchFamily="49" charset="-122"/>
                          <a:ea typeface="楷体" panose="02010609060101010101" pitchFamily="49" charset="-122"/>
                        </a:rPr>
                        <a:t>序号</a:t>
                      </a:r>
                      <a:endParaRPr lang="zh-CN" altLang="en-US"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申请主体</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项目名称</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规模分类</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技术路线</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燃料</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冷却</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单机电量</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能否并联</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2477308097"/>
                  </a:ext>
                </a:extLst>
              </a:tr>
              <a:tr h="400990">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15</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en-US" sz="1200" u="none" strike="noStrike" dirty="0">
                          <a:effectLst/>
                          <a:latin typeface="楷体" panose="02010609060101010101" pitchFamily="49" charset="-122"/>
                        </a:rPr>
                        <a:t>Holtec</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SMR-160 / 300</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压水堆 </a:t>
                      </a:r>
                      <a:r>
                        <a:rPr lang="en-US" altLang="zh-CN" sz="1200" u="none" strike="noStrike" dirty="0">
                          <a:effectLst/>
                        </a:rPr>
                        <a:t>(</a:t>
                      </a:r>
                      <a:r>
                        <a:rPr lang="zh-CN" altLang="en-US" sz="1200" u="none" strike="noStrike" dirty="0">
                          <a:effectLst/>
                        </a:rPr>
                        <a:t>非能动</a:t>
                      </a:r>
                      <a:r>
                        <a:rPr lang="en-US" altLang="zh-CN" sz="1200" u="none" strike="noStrike" dirty="0">
                          <a:effectLst/>
                        </a:rPr>
                        <a:t>)</a:t>
                      </a:r>
                      <a:endParaRPr lang="en-US" altLang="zh-CN"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LEU</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水冷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160/300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2685285389"/>
                  </a:ext>
                </a:extLst>
              </a:tr>
              <a:tr h="400990">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16</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西屋 </a:t>
                      </a:r>
                      <a:r>
                        <a:rPr lang="en-US" altLang="zh-CN" sz="1200" u="none" strike="noStrike" dirty="0">
                          <a:effectLst/>
                        </a:rPr>
                        <a:t>(</a:t>
                      </a:r>
                      <a:r>
                        <a:rPr lang="en-US" sz="1200" u="none" strike="noStrike" dirty="0">
                          <a:effectLst/>
                        </a:rPr>
                        <a:t>Westinghouse)</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AP300</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压水堆 </a:t>
                      </a:r>
                      <a:r>
                        <a:rPr lang="en-US" altLang="zh-CN" sz="1200" u="none" strike="noStrike" dirty="0">
                          <a:effectLst/>
                        </a:rPr>
                        <a:t>(</a:t>
                      </a:r>
                      <a:r>
                        <a:rPr lang="en-US" sz="1200" u="none" strike="noStrike" dirty="0">
                          <a:effectLst/>
                        </a:rPr>
                        <a:t>AP1000</a:t>
                      </a:r>
                      <a:r>
                        <a:rPr lang="zh-CN" altLang="en-US" sz="1200" u="none" strike="noStrike" dirty="0">
                          <a:effectLst/>
                        </a:rPr>
                        <a:t>型</a:t>
                      </a:r>
                      <a:r>
                        <a:rPr lang="en-US" altLang="zh-CN" sz="1200" u="none" strike="noStrike" dirty="0">
                          <a:effectLst/>
                        </a:rPr>
                        <a:t>)</a:t>
                      </a:r>
                      <a:endParaRPr lang="en-US" altLang="zh-CN"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LEU</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水冷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300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3780049789"/>
                  </a:ext>
                </a:extLst>
              </a:tr>
              <a:tr h="400990">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17</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西屋 </a:t>
                      </a:r>
                      <a:r>
                        <a:rPr lang="en-US" altLang="zh-CN" sz="1200" u="none" strike="noStrike" dirty="0">
                          <a:effectLst/>
                        </a:rPr>
                        <a:t>(</a:t>
                      </a:r>
                      <a:r>
                        <a:rPr lang="en-US" sz="1200" u="none" strike="noStrike" dirty="0">
                          <a:effectLst/>
                        </a:rPr>
                        <a:t>Westinghouse)</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err="1">
                          <a:effectLst/>
                          <a:latin typeface="楷体" panose="02010609060101010101" pitchFamily="49" charset="-122"/>
                        </a:rPr>
                        <a:t>eVinci</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MMR/</a:t>
                      </a:r>
                      <a:r>
                        <a:rPr lang="zh-CN" altLang="en-US" sz="1200" u="none" strike="noStrike" dirty="0">
                          <a:effectLst/>
                        </a:rPr>
                        <a:t>核电池</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热管微堆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TRISO/HALEU</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钠热管</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5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2488836529"/>
                  </a:ext>
                </a:extLst>
              </a:tr>
              <a:tr h="400990">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18</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en-US" sz="1200" u="none" strike="noStrike" dirty="0">
                          <a:effectLst/>
                          <a:latin typeface="楷体" panose="02010609060101010101" pitchFamily="49" charset="-122"/>
                        </a:rPr>
                        <a:t>ACU (</a:t>
                      </a:r>
                      <a:r>
                        <a:rPr lang="zh-CN" altLang="en-US" sz="1200" u="none" strike="noStrike" dirty="0">
                          <a:effectLst/>
                        </a:rPr>
                        <a:t>阿比林基督教大学</a:t>
                      </a:r>
                      <a:r>
                        <a:rPr lang="en-US" altLang="zh-CN" sz="1200" u="none" strike="noStrike" dirty="0">
                          <a:effectLst/>
                        </a:rPr>
                        <a:t>)</a:t>
                      </a:r>
                      <a:endParaRPr lang="en-US" altLang="zh-CN"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MSRR</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实验堆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液态燃料熔盐</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铀盐溶液</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氟化盐冷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 </a:t>
                      </a:r>
                      <a:r>
                        <a:rPr lang="en-US" sz="1200" u="none" strike="noStrike" dirty="0" err="1">
                          <a:effectLst/>
                        </a:rPr>
                        <a:t>MWth</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实验用</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573949692"/>
                  </a:ext>
                </a:extLst>
              </a:tr>
              <a:tr h="400990">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19</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凯洛能源 </a:t>
                      </a:r>
                      <a:r>
                        <a:rPr lang="en-US" altLang="zh-CN" sz="1200" u="none" strike="noStrike" dirty="0">
                          <a:effectLst/>
                        </a:rPr>
                        <a:t>(</a:t>
                      </a:r>
                      <a:r>
                        <a:rPr lang="en-US" sz="1200" u="none" strike="noStrike" dirty="0">
                          <a:effectLst/>
                        </a:rPr>
                        <a:t>Kairos)</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Hermes/KP-FHR</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先进堆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固态燃料盐冷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TRISO</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氟化盐 </a:t>
                      </a:r>
                      <a:r>
                        <a:rPr lang="en-US" altLang="zh-CN" sz="1200" u="none" strike="noStrike" dirty="0">
                          <a:effectLst/>
                        </a:rPr>
                        <a:t>(</a:t>
                      </a:r>
                      <a:r>
                        <a:rPr lang="en-US" sz="1200" u="none" strike="noStrike" dirty="0" err="1">
                          <a:effectLst/>
                        </a:rPr>
                        <a:t>Flibe</a:t>
                      </a:r>
                      <a:r>
                        <a:rPr lang="en-US" sz="1200" u="none" strike="noStrike" dirty="0">
                          <a:effectLst/>
                        </a:rPr>
                        <a:t>)</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140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1660930149"/>
                  </a:ext>
                </a:extLst>
              </a:tr>
              <a:tr h="269516">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20</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en-US" sz="1200" u="none" strike="noStrike" dirty="0">
                          <a:effectLst/>
                          <a:latin typeface="楷体" panose="02010609060101010101" pitchFamily="49" charset="-122"/>
                        </a:rPr>
                        <a:t>Natura Resources</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MSR-100</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SMR/MSR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液态燃料熔盐</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HALEU </a:t>
                      </a:r>
                      <a:r>
                        <a:rPr lang="zh-CN" altLang="en-US" sz="1200" u="none" strike="noStrike" dirty="0">
                          <a:effectLst/>
                        </a:rPr>
                        <a:t>盐</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氟化盐</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100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473200758"/>
                  </a:ext>
                </a:extLst>
              </a:tr>
              <a:tr h="400990">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21</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泰拉能源 </a:t>
                      </a:r>
                      <a:r>
                        <a:rPr lang="en-US" altLang="zh-CN" sz="1200" u="none" strike="noStrike" dirty="0">
                          <a:effectLst/>
                        </a:rPr>
                        <a:t>(</a:t>
                      </a:r>
                      <a:r>
                        <a:rPr lang="en-US" sz="1200" u="none" strike="noStrike" dirty="0" err="1">
                          <a:effectLst/>
                        </a:rPr>
                        <a:t>TerraPower</a:t>
                      </a:r>
                      <a:r>
                        <a:rPr lang="en-US" sz="1200" u="none" strike="noStrike" dirty="0">
                          <a:effectLst/>
                        </a:rPr>
                        <a:t>)</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MCFR</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快堆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液态氯化盐快堆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氯化铀盐</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氯化盐</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1200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大型堆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895285366"/>
                  </a:ext>
                </a:extLst>
              </a:tr>
              <a:tr h="400990">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22</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陆地能源 </a:t>
                      </a:r>
                      <a:r>
                        <a:rPr lang="en-US" altLang="zh-CN" sz="1200" u="none" strike="noStrike" dirty="0">
                          <a:effectLst/>
                        </a:rPr>
                        <a:t>(</a:t>
                      </a:r>
                      <a:r>
                        <a:rPr lang="en-US" sz="1200" u="none" strike="noStrike" dirty="0">
                          <a:effectLst/>
                        </a:rPr>
                        <a:t>Terrestrial)</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IMSR</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SMR/MSR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整体式熔盐</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LEU </a:t>
                      </a:r>
                      <a:r>
                        <a:rPr lang="zh-CN" altLang="en-US" sz="1200" u="none" strike="noStrike" dirty="0">
                          <a:effectLst/>
                        </a:rPr>
                        <a:t>铀盐</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氟化盐</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195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3858867646"/>
                  </a:ext>
                </a:extLst>
              </a:tr>
              <a:tr h="269516">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23</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en-US" sz="1200" u="none" strike="noStrike" dirty="0">
                          <a:effectLst/>
                          <a:latin typeface="楷体" panose="02010609060101010101" pitchFamily="49" charset="-122"/>
                        </a:rPr>
                        <a:t>ARC Clean Tech</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ARC-100</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a:t>
                      </a:r>
                      <a:r>
                        <a:rPr lang="zh-CN" altLang="en-US" sz="1200" u="none" strike="noStrike" dirty="0">
                          <a:effectLst/>
                        </a:rPr>
                        <a:t>快堆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钠冷快堆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U-Zr </a:t>
                      </a:r>
                      <a:r>
                        <a:rPr lang="zh-CN" altLang="en-US" sz="1200" u="none" strike="noStrike" dirty="0">
                          <a:effectLst/>
                        </a:rPr>
                        <a:t>金属</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钠冷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100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204425904"/>
                  </a:ext>
                </a:extLst>
              </a:tr>
              <a:tr h="269516">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24</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en-US" sz="1200" u="none" strike="noStrike" dirty="0" err="1">
                          <a:effectLst/>
                          <a:latin typeface="楷体" panose="02010609060101010101" pitchFamily="49" charset="-122"/>
                        </a:rPr>
                        <a:t>Oklo</a:t>
                      </a:r>
                      <a:r>
                        <a:rPr lang="en-US" sz="1200" u="none" strike="noStrike" dirty="0">
                          <a:effectLst/>
                        </a:rPr>
                        <a:t> Aurora</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Aurora</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MMR/</a:t>
                      </a:r>
                      <a:r>
                        <a:rPr lang="zh-CN" altLang="en-US" sz="1200" u="none" strike="noStrike" dirty="0">
                          <a:effectLst/>
                        </a:rPr>
                        <a:t>微堆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热管快堆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HALEU (</a:t>
                      </a:r>
                      <a:r>
                        <a:rPr lang="zh-CN" altLang="en-US" sz="1200" u="none" strike="noStrike" dirty="0">
                          <a:effectLst/>
                        </a:rPr>
                        <a:t>回收料</a:t>
                      </a:r>
                      <a:r>
                        <a:rPr lang="en-US" altLang="zh-CN" sz="1200" u="none" strike="noStrike" dirty="0">
                          <a:effectLst/>
                        </a:rPr>
                        <a:t>)</a:t>
                      </a:r>
                      <a:endParaRPr lang="en-US" altLang="zh-CN"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钠热管</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15-50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420839445"/>
                  </a:ext>
                </a:extLst>
              </a:tr>
              <a:tr h="400990">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25</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泰拉能源 </a:t>
                      </a:r>
                      <a:r>
                        <a:rPr lang="en-US" altLang="zh-CN" sz="1200" u="none" strike="noStrike" dirty="0">
                          <a:effectLst/>
                        </a:rPr>
                        <a:t>(</a:t>
                      </a:r>
                      <a:r>
                        <a:rPr lang="en-US" sz="1200" u="none" strike="noStrike" dirty="0" err="1">
                          <a:effectLst/>
                        </a:rPr>
                        <a:t>TerraPower</a:t>
                      </a:r>
                      <a:r>
                        <a:rPr lang="en-US" sz="1200" u="none" strike="noStrike" dirty="0">
                          <a:effectLst/>
                        </a:rPr>
                        <a:t>)</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Natrium</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SMR/</a:t>
                      </a:r>
                      <a:r>
                        <a:rPr lang="zh-CN" altLang="en-US" sz="1200" u="none" strike="noStrike" dirty="0">
                          <a:effectLst/>
                        </a:rPr>
                        <a:t>快堆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钠冷快堆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HALEU </a:t>
                      </a:r>
                      <a:r>
                        <a:rPr lang="zh-CN" altLang="en-US" sz="1200" u="none" strike="noStrike" dirty="0">
                          <a:effectLst/>
                        </a:rPr>
                        <a:t>金属</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钠冷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345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配储能 </a:t>
                      </a:r>
                      <a:r>
                        <a:rPr lang="en-US" altLang="zh-CN" sz="1200" u="none" strike="noStrike" dirty="0">
                          <a:effectLst/>
                        </a:rPr>
                        <a:t>(</a:t>
                      </a:r>
                      <a:r>
                        <a:rPr lang="zh-CN" altLang="en-US" sz="1200" u="none" strike="noStrike" dirty="0">
                          <a:effectLst/>
                        </a:rPr>
                        <a:t>可调峰</a:t>
                      </a:r>
                      <a:r>
                        <a:rPr lang="en-US" altLang="zh-CN" sz="1200" u="none" strike="noStrike" dirty="0">
                          <a:effectLst/>
                        </a:rPr>
                        <a:t>)</a:t>
                      </a:r>
                      <a:endParaRPr lang="en-US" altLang="zh-CN"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328946685"/>
                  </a:ext>
                </a:extLst>
              </a:tr>
              <a:tr h="381268">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26</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en-US" sz="1200" u="none" strike="noStrike" dirty="0" err="1">
                          <a:effectLst/>
                          <a:latin typeface="楷体" panose="02010609060101010101" pitchFamily="49" charset="-122"/>
                        </a:rPr>
                        <a:t>Aalo</a:t>
                      </a:r>
                      <a:r>
                        <a:rPr lang="en-US" sz="1200" u="none" strike="noStrike" dirty="0">
                          <a:effectLst/>
                        </a:rPr>
                        <a:t> Atomics</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Aalo-1 / Pod</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MMR/XMR</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钠冷微堆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UO2 (</a:t>
                      </a:r>
                      <a:r>
                        <a:rPr lang="zh-CN" altLang="en-US" sz="1200" u="none" strike="noStrike" dirty="0">
                          <a:effectLst/>
                        </a:rPr>
                        <a:t>二氧化铀</a:t>
                      </a:r>
                      <a:r>
                        <a:rPr lang="en-US" altLang="zh-CN" sz="1200" u="none" strike="noStrike" dirty="0">
                          <a:effectLst/>
                        </a:rPr>
                        <a:t>)</a:t>
                      </a:r>
                      <a:endParaRPr lang="en-US" altLang="zh-CN"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钠冷</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10 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 </a:t>
                      </a:r>
                      <a:r>
                        <a:rPr lang="en-US" altLang="zh-CN" sz="1200" u="none" strike="noStrike" dirty="0">
                          <a:effectLst/>
                        </a:rPr>
                        <a:t>(5</a:t>
                      </a:r>
                      <a:r>
                        <a:rPr lang="zh-CN" altLang="en-US" sz="1200" u="none" strike="noStrike" dirty="0">
                          <a:effectLst/>
                        </a:rPr>
                        <a:t>台一</a:t>
                      </a:r>
                      <a:r>
                        <a:rPr lang="en-US" sz="1200" u="none" strike="noStrike" dirty="0">
                          <a:effectLst/>
                        </a:rPr>
                        <a:t>Pod)</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1758959104"/>
                  </a:ext>
                </a:extLst>
              </a:tr>
              <a:tr h="269516">
                <a:tc>
                  <a:txBody>
                    <a:bodyPr/>
                    <a:lstStyle/>
                    <a:p>
                      <a:pPr algn="l" fontAlgn="b">
                        <a:buNone/>
                      </a:pPr>
                      <a:r>
                        <a:rPr lang="en-US" altLang="zh-CN" sz="1200" u="none" strike="noStrike" dirty="0">
                          <a:effectLst/>
                          <a:latin typeface="楷体" panose="02010609060101010101" pitchFamily="49" charset="-122"/>
                          <a:ea typeface="楷体" panose="02010609060101010101" pitchFamily="49" charset="-122"/>
                        </a:rPr>
                        <a:t>27</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3018" marR="3018" marT="3018" marB="0" anchor="b"/>
                </a:tc>
                <a:tc>
                  <a:txBody>
                    <a:bodyPr/>
                    <a:lstStyle/>
                    <a:p>
                      <a:pPr algn="l" rtl="0" fontAlgn="ctr">
                        <a:buNone/>
                      </a:pPr>
                      <a:r>
                        <a:rPr lang="en-US" sz="1200" u="none" strike="noStrike" dirty="0">
                          <a:effectLst/>
                          <a:latin typeface="楷体" panose="02010609060101010101" pitchFamily="49" charset="-122"/>
                        </a:rPr>
                        <a:t>Antares Nuclear</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R1</a:t>
                      </a:r>
                      <a:endParaRPr 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MMR/</a:t>
                      </a:r>
                      <a:r>
                        <a:rPr lang="zh-CN" altLang="en-US" sz="1200" u="none" strike="noStrike" dirty="0">
                          <a:effectLst/>
                        </a:rPr>
                        <a:t>微堆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钠热管快堆</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TRISO/HALEU</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钠热管</a:t>
                      </a:r>
                      <a:endParaRPr lang="zh-CN" altLang="en-US" sz="1200" b="1"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en-US" sz="1200" u="none" strike="noStrike" dirty="0">
                          <a:effectLst/>
                          <a:latin typeface="楷体" panose="02010609060101010101" pitchFamily="49" charset="-122"/>
                        </a:rPr>
                        <a:t>200kW-1MW</a:t>
                      </a:r>
                      <a:endParaRPr 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tc>
                  <a:txBody>
                    <a:bodyPr/>
                    <a:lstStyle/>
                    <a:p>
                      <a:pPr algn="l" rtl="0" fontAlgn="ctr">
                        <a:buNone/>
                      </a:pPr>
                      <a:r>
                        <a:rPr lang="zh-CN" altLang="en-US" sz="1200" u="none" strike="noStrike" dirty="0">
                          <a:effectLst/>
                          <a:latin typeface="楷体" panose="02010609060101010101" pitchFamily="49" charset="-122"/>
                          <a:ea typeface="楷体" panose="02010609060101010101" pitchFamily="49" charset="-122"/>
                        </a:rPr>
                        <a:t>可以</a:t>
                      </a:r>
                      <a:endParaRPr lang="zh-CN" altLang="en-US" sz="1200" b="0" i="0" u="none" strike="noStrike" dirty="0">
                        <a:solidFill>
                          <a:srgbClr val="1F1F1F"/>
                        </a:solidFill>
                        <a:effectLst/>
                        <a:latin typeface="楷体" panose="02010609060101010101" pitchFamily="49" charset="-122"/>
                        <a:ea typeface="楷体" panose="02010609060101010101" pitchFamily="49" charset="-122"/>
                      </a:endParaRPr>
                    </a:p>
                  </a:txBody>
                  <a:tcPr marL="36211" marR="3018" marT="3018" marB="0" anchor="ctr"/>
                </a:tc>
                <a:extLst>
                  <a:ext uri="{0D108BD9-81ED-4DB2-BD59-A6C34878D82A}">
                    <a16:rowId xmlns:a16="http://schemas.microsoft.com/office/drawing/2014/main" val="106278484"/>
                  </a:ext>
                </a:extLst>
              </a:tr>
            </a:tbl>
          </a:graphicData>
        </a:graphic>
      </p:graphicFrame>
      <p:sp>
        <p:nvSpPr>
          <p:cNvPr id="10" name="标题 1">
            <a:extLst>
              <a:ext uri="{FF2B5EF4-FFF2-40B4-BE49-F238E27FC236}">
                <a16:creationId xmlns:a16="http://schemas.microsoft.com/office/drawing/2014/main" id="{559F48E3-6CE9-2EA4-2E77-5DD692B3D225}"/>
              </a:ext>
            </a:extLst>
          </p:cNvPr>
          <p:cNvSpPr>
            <a:spLocks noGrp="1"/>
          </p:cNvSpPr>
          <p:nvPr>
            <p:ph type="title"/>
          </p:nvPr>
        </p:nvSpPr>
        <p:spPr>
          <a:xfrm>
            <a:off x="838200" y="365125"/>
            <a:ext cx="10515600" cy="1325563"/>
          </a:xfrm>
        </p:spPr>
        <p:txBody>
          <a:bodyPr>
            <a:normAutofit/>
          </a:bodyPr>
          <a:lstStyle/>
          <a:p>
            <a:r>
              <a:rPr lang="zh-CN" altLang="en-US" sz="3200" dirty="0"/>
              <a:t>三</a:t>
            </a:r>
            <a:r>
              <a:rPr lang="en-US" altLang="zh-CN" sz="3200" dirty="0"/>
              <a:t>.</a:t>
            </a:r>
            <a:r>
              <a:rPr lang="zh-CN" altLang="en-US" sz="3200" dirty="0"/>
              <a:t>核工业</a:t>
            </a:r>
            <a:r>
              <a:rPr lang="en-US" altLang="zh-CN" sz="3200" dirty="0"/>
              <a:t>-</a:t>
            </a:r>
            <a:r>
              <a:rPr lang="zh-CN" altLang="en-US" sz="3200" dirty="0"/>
              <a:t>立新</a:t>
            </a:r>
          </a:p>
        </p:txBody>
      </p:sp>
      <p:sp>
        <p:nvSpPr>
          <p:cNvPr id="2" name="灯片编号占位符 1">
            <a:extLst>
              <a:ext uri="{FF2B5EF4-FFF2-40B4-BE49-F238E27FC236}">
                <a16:creationId xmlns:a16="http://schemas.microsoft.com/office/drawing/2014/main" id="{215826CE-F570-C30E-FED8-A9F7C6706B4B}"/>
              </a:ext>
            </a:extLst>
          </p:cNvPr>
          <p:cNvSpPr>
            <a:spLocks noGrp="1"/>
          </p:cNvSpPr>
          <p:nvPr>
            <p:ph type="sldNum" sz="quarter" idx="12"/>
          </p:nvPr>
        </p:nvSpPr>
        <p:spPr/>
        <p:txBody>
          <a:bodyPr/>
          <a:lstStyle/>
          <a:p>
            <a:fld id="{80A20FCA-19FD-493E-B829-F89FD60808BC}" type="slidenum">
              <a:rPr lang="zh-CN" altLang="en-US" smtClean="0"/>
              <a:t>16</a:t>
            </a:fld>
            <a:endParaRPr lang="zh-CN" altLang="en-US"/>
          </a:p>
        </p:txBody>
      </p:sp>
    </p:spTree>
    <p:extLst>
      <p:ext uri="{BB962C8B-B14F-4D97-AF65-F5344CB8AC3E}">
        <p14:creationId xmlns:p14="http://schemas.microsoft.com/office/powerpoint/2010/main" val="1463164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D0D8E9-5971-D4F2-E635-1E8B484B8999}"/>
              </a:ext>
            </a:extLst>
          </p:cNvPr>
          <p:cNvSpPr>
            <a:spLocks noGrp="1"/>
          </p:cNvSpPr>
          <p:nvPr>
            <p:ph type="title"/>
          </p:nvPr>
        </p:nvSpPr>
        <p:spPr/>
        <p:txBody>
          <a:bodyPr>
            <a:normAutofit/>
          </a:bodyPr>
          <a:lstStyle/>
          <a:p>
            <a:r>
              <a:rPr lang="zh-CN" altLang="en-US" sz="3200" dirty="0"/>
              <a:t>四</a:t>
            </a:r>
            <a:r>
              <a:rPr lang="en-US" altLang="zh-CN" sz="3200" dirty="0"/>
              <a:t>.</a:t>
            </a:r>
            <a:r>
              <a:rPr lang="zh-CN" altLang="en-US" sz="3200" dirty="0"/>
              <a:t>人工智能</a:t>
            </a:r>
          </a:p>
        </p:txBody>
      </p:sp>
      <p:sp>
        <p:nvSpPr>
          <p:cNvPr id="4" name="内容占位符 2">
            <a:extLst>
              <a:ext uri="{FF2B5EF4-FFF2-40B4-BE49-F238E27FC236}">
                <a16:creationId xmlns:a16="http://schemas.microsoft.com/office/drawing/2014/main" id="{33C0FBEC-CBB5-9C5B-8935-4852BC5E6135}"/>
              </a:ext>
            </a:extLst>
          </p:cNvPr>
          <p:cNvSpPr>
            <a:spLocks noGrp="1"/>
          </p:cNvSpPr>
          <p:nvPr>
            <p:ph idx="1"/>
          </p:nvPr>
        </p:nvSpPr>
        <p:spPr>
          <a:xfrm>
            <a:off x="838200" y="1825625"/>
            <a:ext cx="10515600" cy="4351338"/>
          </a:xfrm>
        </p:spPr>
        <p:txBody>
          <a:bodyPr/>
          <a:lstStyle/>
          <a:p>
            <a:pPr marL="0" indent="0">
              <a:buNone/>
            </a:pPr>
            <a:r>
              <a:rPr lang="zh-CN" altLang="en-US" dirty="0"/>
              <a:t>特征：政策松绑，官方采用</a:t>
            </a:r>
            <a:endParaRPr lang="en-US" altLang="zh-CN" dirty="0"/>
          </a:p>
          <a:p>
            <a:pPr marL="0" indent="0">
              <a:buNone/>
            </a:pPr>
            <a:r>
              <a:rPr lang="zh-CN" altLang="en-US" dirty="0"/>
              <a:t>分野</a:t>
            </a:r>
            <a:r>
              <a:rPr lang="en-US" altLang="zh-CN" dirty="0"/>
              <a:t>:  1. </a:t>
            </a:r>
            <a:r>
              <a:rPr lang="zh-CN" altLang="en-US" dirty="0"/>
              <a:t>政策面：提供最大限度的支持</a:t>
            </a:r>
            <a:endParaRPr lang="en-US" altLang="zh-CN" dirty="0"/>
          </a:p>
          <a:p>
            <a:pPr marL="0" indent="0">
              <a:buNone/>
            </a:pPr>
            <a:r>
              <a:rPr lang="en-US" altLang="zh-CN" dirty="0"/>
              <a:t>	  2. </a:t>
            </a:r>
            <a:r>
              <a:rPr lang="zh-CN" altLang="en-US" dirty="0"/>
              <a:t>官方应用：行政，后勤，供应链，情报分析</a:t>
            </a:r>
            <a:endParaRPr lang="en-US" altLang="zh-CN" dirty="0"/>
          </a:p>
          <a:p>
            <a:pPr marL="0" indent="0">
              <a:buNone/>
            </a:pPr>
            <a:r>
              <a:rPr lang="zh-CN" altLang="en-US" dirty="0"/>
              <a:t>政策上：得到行政令的训导。</a:t>
            </a:r>
            <a:r>
              <a:rPr lang="en-US" altLang="zh-CN" dirty="0"/>
              <a:t>OBBBA</a:t>
            </a:r>
            <a:r>
              <a:rPr lang="zh-CN" altLang="en-US" dirty="0"/>
              <a:t>，</a:t>
            </a:r>
            <a:r>
              <a:rPr lang="en-US" altLang="zh-CN" dirty="0"/>
              <a:t>OSC</a:t>
            </a:r>
            <a:r>
              <a:rPr lang="zh-CN" altLang="en-US" dirty="0"/>
              <a:t>，</a:t>
            </a:r>
            <a:r>
              <a:rPr lang="en-US" altLang="zh-CN" dirty="0"/>
              <a:t>IBF</a:t>
            </a:r>
            <a:r>
              <a:rPr lang="zh-CN" altLang="en-US" dirty="0"/>
              <a:t>支持。</a:t>
            </a:r>
            <a:r>
              <a:rPr lang="en-US" altLang="zh-CN" dirty="0"/>
              <a:t>	 </a:t>
            </a:r>
            <a:endParaRPr lang="zh-CN" altLang="en-US" dirty="0"/>
          </a:p>
          <a:p>
            <a:endParaRPr lang="zh-CN" altLang="en-US" dirty="0"/>
          </a:p>
        </p:txBody>
      </p:sp>
      <p:sp>
        <p:nvSpPr>
          <p:cNvPr id="3" name="灯片编号占位符 2">
            <a:extLst>
              <a:ext uri="{FF2B5EF4-FFF2-40B4-BE49-F238E27FC236}">
                <a16:creationId xmlns:a16="http://schemas.microsoft.com/office/drawing/2014/main" id="{9A1CD177-F7DE-4698-43AE-D94A166008C7}"/>
              </a:ext>
            </a:extLst>
          </p:cNvPr>
          <p:cNvSpPr>
            <a:spLocks noGrp="1"/>
          </p:cNvSpPr>
          <p:nvPr>
            <p:ph type="sldNum" sz="quarter" idx="12"/>
          </p:nvPr>
        </p:nvSpPr>
        <p:spPr/>
        <p:txBody>
          <a:bodyPr/>
          <a:lstStyle/>
          <a:p>
            <a:fld id="{80A20FCA-19FD-493E-B829-F89FD60808BC}" type="slidenum">
              <a:rPr lang="zh-CN" altLang="en-US" smtClean="0"/>
              <a:t>17</a:t>
            </a:fld>
            <a:endParaRPr lang="zh-CN" altLang="en-US"/>
          </a:p>
        </p:txBody>
      </p:sp>
    </p:spTree>
    <p:extLst>
      <p:ext uri="{BB962C8B-B14F-4D97-AF65-F5344CB8AC3E}">
        <p14:creationId xmlns:p14="http://schemas.microsoft.com/office/powerpoint/2010/main" val="1645789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5910C-B9C0-6D0A-4884-DCCB3DECFB3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7BDA2B3-FA60-66C8-2FC5-6EADFC49F8E0}"/>
              </a:ext>
            </a:extLst>
          </p:cNvPr>
          <p:cNvSpPr>
            <a:spLocks noGrp="1"/>
          </p:cNvSpPr>
          <p:nvPr>
            <p:ph type="title"/>
          </p:nvPr>
        </p:nvSpPr>
        <p:spPr/>
        <p:txBody>
          <a:bodyPr>
            <a:normAutofit/>
          </a:bodyPr>
          <a:lstStyle/>
          <a:p>
            <a:r>
              <a:rPr lang="zh-CN" altLang="en-US" sz="3200" dirty="0"/>
              <a:t>四</a:t>
            </a:r>
            <a:r>
              <a:rPr lang="en-US" altLang="zh-CN" sz="3200" dirty="0"/>
              <a:t>.</a:t>
            </a:r>
            <a:r>
              <a:rPr lang="zh-CN" altLang="en-US" sz="3200" dirty="0"/>
              <a:t>人工智能</a:t>
            </a:r>
            <a:r>
              <a:rPr lang="en-US" altLang="zh-CN" sz="3200" dirty="0"/>
              <a:t>-</a:t>
            </a:r>
            <a:r>
              <a:rPr lang="zh-CN" altLang="en-US" sz="3200" dirty="0"/>
              <a:t>政策</a:t>
            </a:r>
          </a:p>
        </p:txBody>
      </p:sp>
      <p:sp>
        <p:nvSpPr>
          <p:cNvPr id="4" name="内容占位符 2">
            <a:extLst>
              <a:ext uri="{FF2B5EF4-FFF2-40B4-BE49-F238E27FC236}">
                <a16:creationId xmlns:a16="http://schemas.microsoft.com/office/drawing/2014/main" id="{7488B9DF-A0F4-893A-60D7-B1805E589A07}"/>
              </a:ext>
            </a:extLst>
          </p:cNvPr>
          <p:cNvSpPr>
            <a:spLocks noGrp="1"/>
          </p:cNvSpPr>
          <p:nvPr>
            <p:ph idx="1"/>
          </p:nvPr>
        </p:nvSpPr>
        <p:spPr>
          <a:xfrm>
            <a:off x="838200" y="1404710"/>
            <a:ext cx="10515600" cy="5213803"/>
          </a:xfrm>
        </p:spPr>
        <p:txBody>
          <a:bodyPr>
            <a:normAutofit/>
          </a:bodyPr>
          <a:lstStyle/>
          <a:p>
            <a:r>
              <a:rPr lang="zh-CN" altLang="en-US" sz="2000" dirty="0"/>
              <a:t>政策面：</a:t>
            </a:r>
            <a:endParaRPr lang="en-US" altLang="zh-CN" sz="2000" dirty="0"/>
          </a:p>
          <a:p>
            <a:r>
              <a:rPr lang="en-US" altLang="zh-CN" sz="2000" dirty="0"/>
              <a:t>1.《</a:t>
            </a:r>
            <a:r>
              <a:rPr lang="zh-CN" altLang="en-US" sz="2000" dirty="0"/>
              <a:t>美国人工智能行动计划</a:t>
            </a:r>
            <a:r>
              <a:rPr lang="en-US" altLang="zh-CN" sz="2000" dirty="0"/>
              <a:t>》</a:t>
            </a:r>
            <a:r>
              <a:rPr lang="zh-CN" altLang="en-US" sz="2000" dirty="0"/>
              <a:t>（</a:t>
            </a:r>
            <a:r>
              <a:rPr lang="en-US" altLang="zh-CN" sz="2000" dirty="0"/>
              <a:t>America‘s AI Action Plan</a:t>
            </a:r>
            <a:r>
              <a:rPr lang="zh-CN" altLang="en-US" sz="2000" dirty="0"/>
              <a:t>）由白宫科技政策办公室于 </a:t>
            </a:r>
            <a:r>
              <a:rPr lang="en-US" altLang="zh-CN" sz="2000" dirty="0"/>
              <a:t>2025</a:t>
            </a:r>
            <a:r>
              <a:rPr lang="zh-CN" altLang="en-US" sz="2000" dirty="0"/>
              <a:t>年</a:t>
            </a:r>
            <a:r>
              <a:rPr lang="en-US" altLang="zh-CN" sz="2000" dirty="0"/>
              <a:t>7</a:t>
            </a:r>
            <a:r>
              <a:rPr lang="zh-CN" altLang="en-US" sz="2000" dirty="0"/>
              <a:t>月 发布 。该计划旨在确立美国在人工智能领域的全球主导地位。该文件的三大支柱分别阐述了美国加速</a:t>
            </a:r>
            <a:r>
              <a:rPr lang="en-US" altLang="zh-CN" sz="2000" dirty="0"/>
              <a:t>AI</a:t>
            </a:r>
            <a:r>
              <a:rPr lang="zh-CN" altLang="en-US" sz="2000" dirty="0"/>
              <a:t>创新，建设</a:t>
            </a:r>
            <a:r>
              <a:rPr lang="en-US" altLang="zh-CN" sz="2000" dirty="0"/>
              <a:t>AI</a:t>
            </a:r>
            <a:r>
              <a:rPr lang="zh-CN" altLang="en-US" sz="2000" dirty="0"/>
              <a:t>基建，引领国际</a:t>
            </a:r>
            <a:r>
              <a:rPr lang="en-US" altLang="zh-CN" sz="2000" dirty="0"/>
              <a:t>AI</a:t>
            </a:r>
            <a:r>
              <a:rPr lang="zh-CN" altLang="en-US" sz="2000" dirty="0"/>
              <a:t>发展的愿景。</a:t>
            </a:r>
            <a:endParaRPr lang="en-US" altLang="zh-CN" sz="2000" dirty="0"/>
          </a:p>
          <a:p>
            <a:endParaRPr lang="en-US" altLang="zh-CN" sz="2000" dirty="0"/>
          </a:p>
          <a:p>
            <a:r>
              <a:rPr lang="en-US" altLang="zh-CN" sz="2000" dirty="0"/>
              <a:t>2.</a:t>
            </a:r>
            <a:r>
              <a:rPr lang="zh-CN" altLang="en-US" sz="2000" dirty="0"/>
              <a:t>美国国务院于 </a:t>
            </a:r>
            <a:r>
              <a:rPr lang="en-US" altLang="zh-CN" sz="2000" dirty="0"/>
              <a:t>2025</a:t>
            </a:r>
            <a:r>
              <a:rPr lang="zh-CN" altLang="en-US" sz="2000" dirty="0"/>
              <a:t>年</a:t>
            </a:r>
            <a:r>
              <a:rPr lang="en-US" altLang="zh-CN" sz="2000" dirty="0"/>
              <a:t>9</a:t>
            </a:r>
            <a:r>
              <a:rPr lang="zh-CN" altLang="en-US" sz="2000" dirty="0"/>
              <a:t>月 发布了</a:t>
            </a:r>
            <a:r>
              <a:rPr lang="en-US" altLang="zh-CN" sz="2000" dirty="0"/>
              <a:t>《</a:t>
            </a:r>
            <a:r>
              <a:rPr lang="zh-CN" altLang="en-US" sz="2000" dirty="0"/>
              <a:t>企业数据与人工智能战略</a:t>
            </a:r>
            <a:r>
              <a:rPr lang="en-US" altLang="zh-CN" sz="2000" dirty="0"/>
              <a:t>》</a:t>
            </a:r>
            <a:r>
              <a:rPr lang="zh-CN" altLang="en-US" sz="2000" dirty="0"/>
              <a:t>，核心目标是实施“美国优先”的外交政策，利用数据和</a:t>
            </a:r>
            <a:r>
              <a:rPr lang="en-US" altLang="zh-CN" sz="2000" dirty="0"/>
              <a:t>AI</a:t>
            </a:r>
            <a:r>
              <a:rPr lang="zh-CN" altLang="en-US" sz="2000" dirty="0"/>
              <a:t>强化外交手段、提高任务效率及运营效能 。</a:t>
            </a:r>
            <a:endParaRPr lang="en-US" altLang="zh-CN" sz="2000" dirty="0"/>
          </a:p>
          <a:p>
            <a:endParaRPr lang="en-US" altLang="zh-CN" sz="2000" dirty="0"/>
          </a:p>
          <a:p>
            <a:r>
              <a:rPr lang="en-US" altLang="zh-CN" sz="2000" dirty="0"/>
              <a:t>3.</a:t>
            </a:r>
            <a:r>
              <a:rPr lang="zh-CN" altLang="zh-CN" sz="2000" dirty="0"/>
              <a:t>白宫于</a:t>
            </a:r>
            <a:r>
              <a:rPr lang="en-US" altLang="zh-CN" sz="2000" dirty="0"/>
              <a:t>12</a:t>
            </a:r>
            <a:r>
              <a:rPr lang="zh-CN" altLang="zh-CN" sz="2000" dirty="0"/>
              <a:t>月</a:t>
            </a:r>
            <a:r>
              <a:rPr lang="en-US" altLang="zh-CN" sz="2000" dirty="0"/>
              <a:t>11</a:t>
            </a:r>
            <a:r>
              <a:rPr lang="zh-CN" altLang="zh-CN" sz="2000" dirty="0"/>
              <a:t>日发布了</a:t>
            </a:r>
            <a:r>
              <a:rPr lang="en-US" altLang="zh-CN" sz="2000" dirty="0"/>
              <a:t>《</a:t>
            </a:r>
            <a:r>
              <a:rPr lang="zh-CN" altLang="en-US" sz="2000" dirty="0"/>
              <a:t>确保人工智能国家政策框架</a:t>
            </a:r>
            <a:r>
              <a:rPr lang="en-US" altLang="zh-CN" sz="2000" dirty="0"/>
              <a:t>》</a:t>
            </a:r>
            <a:r>
              <a:rPr lang="zh-CN" altLang="en-US" sz="2000" dirty="0"/>
              <a:t>行政令</a:t>
            </a:r>
            <a:r>
              <a:rPr lang="zh-CN" altLang="zh-CN" sz="2000" dirty="0"/>
              <a:t>旨在阻止地方法规对于统一的人工智能标准与范式在推向地方的过程中遭遇地方法规阻碍。该命令试图禁止各州制定有关人工智能的法律</a:t>
            </a:r>
            <a:r>
              <a:rPr lang="zh-CN" altLang="en-US" sz="2000" dirty="0"/>
              <a:t>，从而实现人工智能在美国发展的全国协同。</a:t>
            </a:r>
          </a:p>
        </p:txBody>
      </p:sp>
      <p:sp>
        <p:nvSpPr>
          <p:cNvPr id="3" name="灯片编号占位符 2">
            <a:extLst>
              <a:ext uri="{FF2B5EF4-FFF2-40B4-BE49-F238E27FC236}">
                <a16:creationId xmlns:a16="http://schemas.microsoft.com/office/drawing/2014/main" id="{C6291A7E-E78A-637B-B02B-2AAA7F55C6CC}"/>
              </a:ext>
            </a:extLst>
          </p:cNvPr>
          <p:cNvSpPr>
            <a:spLocks noGrp="1"/>
          </p:cNvSpPr>
          <p:nvPr>
            <p:ph type="sldNum" sz="quarter" idx="12"/>
          </p:nvPr>
        </p:nvSpPr>
        <p:spPr/>
        <p:txBody>
          <a:bodyPr/>
          <a:lstStyle/>
          <a:p>
            <a:fld id="{80A20FCA-19FD-493E-B829-F89FD60808BC}" type="slidenum">
              <a:rPr lang="zh-CN" altLang="en-US" smtClean="0"/>
              <a:t>18</a:t>
            </a:fld>
            <a:endParaRPr lang="zh-CN" altLang="en-US"/>
          </a:p>
        </p:txBody>
      </p:sp>
    </p:spTree>
    <p:extLst>
      <p:ext uri="{BB962C8B-B14F-4D97-AF65-F5344CB8AC3E}">
        <p14:creationId xmlns:p14="http://schemas.microsoft.com/office/powerpoint/2010/main" val="618769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6BA24-0B30-B16E-F353-00EBB62931F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2A3D25B-C77A-0375-63B4-367AB9903FE6}"/>
              </a:ext>
            </a:extLst>
          </p:cNvPr>
          <p:cNvSpPr>
            <a:spLocks noGrp="1"/>
          </p:cNvSpPr>
          <p:nvPr>
            <p:ph type="title"/>
          </p:nvPr>
        </p:nvSpPr>
        <p:spPr/>
        <p:txBody>
          <a:bodyPr>
            <a:normAutofit/>
          </a:bodyPr>
          <a:lstStyle/>
          <a:p>
            <a:r>
              <a:rPr lang="zh-CN" altLang="en-US" sz="3200" dirty="0"/>
              <a:t>四</a:t>
            </a:r>
            <a:r>
              <a:rPr lang="en-US" altLang="zh-CN" sz="3200" dirty="0"/>
              <a:t>.</a:t>
            </a:r>
            <a:r>
              <a:rPr lang="zh-CN" altLang="en-US" sz="3200" dirty="0"/>
              <a:t>人工智能</a:t>
            </a:r>
            <a:r>
              <a:rPr lang="en-US" altLang="zh-CN" sz="3200" dirty="0"/>
              <a:t>-</a:t>
            </a:r>
            <a:r>
              <a:rPr lang="zh-CN" altLang="en-US" sz="3200" dirty="0"/>
              <a:t>官方应用</a:t>
            </a:r>
          </a:p>
        </p:txBody>
      </p:sp>
      <p:sp>
        <p:nvSpPr>
          <p:cNvPr id="4" name="内容占位符 2">
            <a:extLst>
              <a:ext uri="{FF2B5EF4-FFF2-40B4-BE49-F238E27FC236}">
                <a16:creationId xmlns:a16="http://schemas.microsoft.com/office/drawing/2014/main" id="{4225B58A-FF37-CAB8-565B-6FAAEE9A8BA3}"/>
              </a:ext>
            </a:extLst>
          </p:cNvPr>
          <p:cNvSpPr>
            <a:spLocks noGrp="1"/>
          </p:cNvSpPr>
          <p:nvPr>
            <p:ph idx="1"/>
          </p:nvPr>
        </p:nvSpPr>
        <p:spPr>
          <a:xfrm>
            <a:off x="838200" y="1409988"/>
            <a:ext cx="10515600" cy="4351338"/>
          </a:xfrm>
        </p:spPr>
        <p:txBody>
          <a:bodyPr/>
          <a:lstStyle/>
          <a:p>
            <a:pPr marL="0" indent="0">
              <a:buNone/>
            </a:pPr>
            <a:r>
              <a:rPr lang="en-US" altLang="zh-CN" dirty="0"/>
              <a:t>2025</a:t>
            </a:r>
            <a:r>
              <a:rPr lang="zh-CN" altLang="en-US" dirty="0"/>
              <a:t>年</a:t>
            </a:r>
            <a:r>
              <a:rPr lang="en-US" altLang="zh-CN" dirty="0"/>
              <a:t>7</a:t>
            </a:r>
            <a:r>
              <a:rPr lang="zh-CN" altLang="en-US" dirty="0"/>
              <a:t>月，美国国防部首席数字与人工智能办公室（</a:t>
            </a:r>
            <a:r>
              <a:rPr lang="en-US" altLang="zh-CN" dirty="0"/>
              <a:t>CDAO</a:t>
            </a:r>
            <a:r>
              <a:rPr lang="zh-CN" altLang="en-US" dirty="0"/>
              <a:t>）宣布，向四家顶级</a:t>
            </a:r>
            <a:r>
              <a:rPr lang="en-US" altLang="zh-CN" dirty="0"/>
              <a:t>AI</a:t>
            </a:r>
            <a:r>
              <a:rPr lang="zh-CN" altLang="en-US" dirty="0"/>
              <a:t>公司分别授予最高达 </a:t>
            </a:r>
            <a:r>
              <a:rPr lang="en-US" altLang="zh-CN" dirty="0"/>
              <a:t>2</a:t>
            </a:r>
            <a:r>
              <a:rPr lang="zh-CN" altLang="en-US" dirty="0"/>
              <a:t>亿美元 的合同。这标志着大语言模型正式进入核心作战系统。</a:t>
            </a:r>
            <a:endParaRPr lang="en-US" altLang="zh-CN" dirty="0"/>
          </a:p>
          <a:p>
            <a:pPr marL="0" indent="0">
              <a:buNone/>
            </a:pPr>
            <a:endParaRPr lang="en-US" altLang="zh-CN" dirty="0"/>
          </a:p>
        </p:txBody>
      </p:sp>
      <p:graphicFrame>
        <p:nvGraphicFramePr>
          <p:cNvPr id="3" name="表格 2">
            <a:extLst>
              <a:ext uri="{FF2B5EF4-FFF2-40B4-BE49-F238E27FC236}">
                <a16:creationId xmlns:a16="http://schemas.microsoft.com/office/drawing/2014/main" id="{FD50BA6B-2D89-2A6F-7EEE-2111D6704AC6}"/>
              </a:ext>
            </a:extLst>
          </p:cNvPr>
          <p:cNvGraphicFramePr>
            <a:graphicFrameLocks noGrp="1"/>
          </p:cNvGraphicFramePr>
          <p:nvPr>
            <p:extLst>
              <p:ext uri="{D42A27DB-BD31-4B8C-83A1-F6EECF244321}">
                <p14:modId xmlns:p14="http://schemas.microsoft.com/office/powerpoint/2010/main" val="338866098"/>
              </p:ext>
            </p:extLst>
          </p:nvPr>
        </p:nvGraphicFramePr>
        <p:xfrm>
          <a:off x="838200" y="2733675"/>
          <a:ext cx="10515600" cy="3759198"/>
        </p:xfrm>
        <a:graphic>
          <a:graphicData uri="http://schemas.openxmlformats.org/drawingml/2006/table">
            <a:tbl>
              <a:tblPr firstRow="1" firstCol="1" bandRow="1">
                <a:tableStyleId>{5C22544A-7EE6-4342-B048-85BDC9FD1C3A}</a:tableStyleId>
              </a:tblPr>
              <a:tblGrid>
                <a:gridCol w="2442029">
                  <a:extLst>
                    <a:ext uri="{9D8B030D-6E8A-4147-A177-3AD203B41FA5}">
                      <a16:colId xmlns:a16="http://schemas.microsoft.com/office/drawing/2014/main" val="564173869"/>
                    </a:ext>
                  </a:extLst>
                </a:gridCol>
                <a:gridCol w="8073571">
                  <a:extLst>
                    <a:ext uri="{9D8B030D-6E8A-4147-A177-3AD203B41FA5}">
                      <a16:colId xmlns:a16="http://schemas.microsoft.com/office/drawing/2014/main" val="3699090971"/>
                    </a:ext>
                  </a:extLst>
                </a:gridCol>
              </a:tblGrid>
              <a:tr h="406853">
                <a:tc>
                  <a:txBody>
                    <a:bodyPr/>
                    <a:lstStyle/>
                    <a:p>
                      <a:pPr>
                        <a:lnSpc>
                          <a:spcPct val="115000"/>
                        </a:lnSpc>
                        <a:spcAft>
                          <a:spcPts val="800"/>
                        </a:spcAft>
                        <a:buNone/>
                      </a:pPr>
                      <a:r>
                        <a:rPr lang="zh-CN" sz="2000" kern="100" dirty="0">
                          <a:effectLst/>
                          <a:latin typeface="楷体" panose="02010609060101010101" pitchFamily="49" charset="-122"/>
                          <a:ea typeface="楷体" panose="02010609060101010101" pitchFamily="49" charset="-122"/>
                        </a:rPr>
                        <a:t>企业名称</a:t>
                      </a:r>
                      <a:endParaRPr lang="zh-CN" sz="20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zh-CN" sz="2000" kern="100" dirty="0">
                          <a:effectLst/>
                          <a:latin typeface="楷体" panose="02010609060101010101" pitchFamily="49" charset="-122"/>
                          <a:ea typeface="楷体" panose="02010609060101010101" pitchFamily="49" charset="-122"/>
                        </a:rPr>
                        <a:t>核心订单</a:t>
                      </a:r>
                      <a:r>
                        <a:rPr lang="en-US" sz="2000" kern="100" dirty="0">
                          <a:effectLst/>
                          <a:latin typeface="楷体" panose="02010609060101010101" pitchFamily="49" charset="-122"/>
                          <a:ea typeface="楷体" panose="02010609060101010101" pitchFamily="49" charset="-122"/>
                        </a:rPr>
                        <a:t>/</a:t>
                      </a:r>
                      <a:r>
                        <a:rPr lang="zh-CN" sz="2000" kern="100" dirty="0">
                          <a:effectLst/>
                          <a:latin typeface="楷体" panose="02010609060101010101" pitchFamily="49" charset="-122"/>
                          <a:ea typeface="楷体" panose="02010609060101010101" pitchFamily="49" charset="-122"/>
                        </a:rPr>
                        <a:t>动态</a:t>
                      </a:r>
                      <a:endParaRPr lang="zh-CN" sz="20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183677547"/>
                  </a:ext>
                </a:extLst>
              </a:tr>
              <a:tr h="797245">
                <a:tc>
                  <a:txBody>
                    <a:bodyPr/>
                    <a:lstStyle/>
                    <a:p>
                      <a:pPr>
                        <a:lnSpc>
                          <a:spcPct val="115000"/>
                        </a:lnSpc>
                        <a:spcAft>
                          <a:spcPts val="800"/>
                        </a:spcAft>
                        <a:buNone/>
                      </a:pPr>
                      <a:r>
                        <a:rPr lang="en-US" sz="2000" kern="100" dirty="0">
                          <a:effectLst/>
                          <a:latin typeface="楷体" panose="02010609060101010101" pitchFamily="49" charset="-122"/>
                        </a:rPr>
                        <a:t>OpenAI</a:t>
                      </a:r>
                      <a:endParaRPr lang="zh-CN" sz="20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zh-CN" sz="2000" kern="100" dirty="0">
                          <a:effectLst/>
                          <a:latin typeface="楷体" panose="02010609060101010101" pitchFamily="49" charset="-122"/>
                          <a:ea typeface="楷体" panose="02010609060101010101" pitchFamily="49" charset="-122"/>
                        </a:rPr>
                        <a:t>帮助国防部开发</a:t>
                      </a:r>
                      <a:r>
                        <a:rPr lang="en-US" sz="2000" kern="100" dirty="0">
                          <a:effectLst/>
                          <a:latin typeface="楷体" panose="02010609060101010101" pitchFamily="49" charset="-122"/>
                          <a:ea typeface="楷体" panose="02010609060101010101" pitchFamily="49" charset="-122"/>
                        </a:rPr>
                        <a:t>“</a:t>
                      </a:r>
                      <a:r>
                        <a:rPr lang="zh-CN" sz="2000" kern="100" dirty="0">
                          <a:effectLst/>
                          <a:latin typeface="楷体" panose="02010609060101010101" pitchFamily="49" charset="-122"/>
                          <a:ea typeface="楷体" panose="02010609060101010101" pitchFamily="49" charset="-122"/>
                        </a:rPr>
                        <a:t>智能体工作流（</a:t>
                      </a:r>
                      <a:r>
                        <a:rPr lang="en-US" sz="2000" kern="100" dirty="0">
                          <a:effectLst/>
                          <a:latin typeface="楷体" panose="02010609060101010101" pitchFamily="49" charset="-122"/>
                          <a:ea typeface="楷体" panose="02010609060101010101" pitchFamily="49" charset="-122"/>
                        </a:rPr>
                        <a:t>Agentic Workflows</a:t>
                      </a:r>
                      <a:r>
                        <a:rPr lang="zh-CN" sz="2000" kern="100" dirty="0">
                          <a:effectLst/>
                          <a:latin typeface="楷体" panose="02010609060101010101" pitchFamily="49" charset="-122"/>
                          <a:ea typeface="楷体" panose="02010609060101010101" pitchFamily="49" charset="-122"/>
                        </a:rPr>
                        <a:t>）</a:t>
                      </a:r>
                      <a:r>
                        <a:rPr lang="en-US" sz="2000" kern="100" dirty="0">
                          <a:effectLst/>
                          <a:latin typeface="楷体" panose="02010609060101010101" pitchFamily="49" charset="-122"/>
                          <a:ea typeface="楷体" panose="02010609060101010101" pitchFamily="49" charset="-122"/>
                        </a:rPr>
                        <a:t>”</a:t>
                      </a:r>
                      <a:r>
                        <a:rPr lang="zh-CN" sz="2000" kern="100" dirty="0">
                          <a:effectLst/>
                          <a:latin typeface="楷体" panose="02010609060101010101" pitchFamily="49" charset="-122"/>
                          <a:ea typeface="楷体" panose="02010609060101010101" pitchFamily="49" charset="-122"/>
                        </a:rPr>
                        <a:t>，用于任务规划和作战分析，并推出了名为 </a:t>
                      </a:r>
                      <a:r>
                        <a:rPr lang="en-US" sz="2000" kern="100" dirty="0">
                          <a:effectLst/>
                          <a:latin typeface="楷体" panose="02010609060101010101" pitchFamily="49" charset="-122"/>
                          <a:ea typeface="楷体" panose="02010609060101010101" pitchFamily="49" charset="-122"/>
                        </a:rPr>
                        <a:t>OpenAI for Government </a:t>
                      </a:r>
                      <a:r>
                        <a:rPr lang="zh-CN" sz="2000" kern="100" dirty="0">
                          <a:effectLst/>
                          <a:latin typeface="楷体" panose="02010609060101010101" pitchFamily="49" charset="-122"/>
                          <a:ea typeface="楷体" panose="02010609060101010101" pitchFamily="49" charset="-122"/>
                        </a:rPr>
                        <a:t>的定制化方案。</a:t>
                      </a:r>
                      <a:endParaRPr lang="zh-CN" sz="20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04692031"/>
                  </a:ext>
                </a:extLst>
              </a:tr>
              <a:tr h="797245">
                <a:tc>
                  <a:txBody>
                    <a:bodyPr/>
                    <a:lstStyle/>
                    <a:p>
                      <a:pPr>
                        <a:lnSpc>
                          <a:spcPct val="115000"/>
                        </a:lnSpc>
                        <a:spcAft>
                          <a:spcPts val="800"/>
                        </a:spcAft>
                        <a:buNone/>
                      </a:pPr>
                      <a:r>
                        <a:rPr lang="en-US" sz="2000" kern="100" dirty="0" err="1">
                          <a:effectLst/>
                          <a:latin typeface="楷体" panose="02010609060101010101" pitchFamily="49" charset="-122"/>
                        </a:rPr>
                        <a:t>xAI</a:t>
                      </a:r>
                      <a:endParaRPr lang="zh-CN" sz="20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zh-CN" sz="2000" kern="100" dirty="0">
                          <a:effectLst/>
                          <a:latin typeface="楷体" panose="02010609060101010101" pitchFamily="49" charset="-122"/>
                          <a:ea typeface="楷体" panose="02010609060101010101" pitchFamily="49" charset="-122"/>
                        </a:rPr>
                        <a:t>获得了最高</a:t>
                      </a:r>
                      <a:r>
                        <a:rPr lang="en-US" sz="2000" kern="100" dirty="0">
                          <a:effectLst/>
                          <a:latin typeface="楷体" panose="02010609060101010101" pitchFamily="49" charset="-122"/>
                          <a:ea typeface="楷体" panose="02010609060101010101" pitchFamily="49" charset="-122"/>
                        </a:rPr>
                        <a:t>2</a:t>
                      </a:r>
                      <a:r>
                        <a:rPr lang="zh-CN" sz="2000" kern="100" dirty="0">
                          <a:effectLst/>
                          <a:latin typeface="楷体" panose="02010609060101010101" pitchFamily="49" charset="-122"/>
                          <a:ea typeface="楷体" panose="02010609060101010101" pitchFamily="49" charset="-122"/>
                        </a:rPr>
                        <a:t>亿美元订单，并同步推出了 </a:t>
                      </a:r>
                      <a:r>
                        <a:rPr lang="en-US" sz="2000" kern="100" dirty="0">
                          <a:effectLst/>
                          <a:latin typeface="楷体" panose="02010609060101010101" pitchFamily="49" charset="-122"/>
                          <a:ea typeface="楷体" panose="02010609060101010101" pitchFamily="49" charset="-122"/>
                        </a:rPr>
                        <a:t>Grok for Government </a:t>
                      </a:r>
                      <a:r>
                        <a:rPr lang="zh-CN" sz="2000" kern="100" dirty="0">
                          <a:effectLst/>
                          <a:latin typeface="楷体" panose="02010609060101010101" pitchFamily="49" charset="-122"/>
                          <a:ea typeface="楷体" panose="02010609060101010101" pitchFamily="49" charset="-122"/>
                        </a:rPr>
                        <a:t>系列产品，专门为联邦和国家安全客户提供最新模型。</a:t>
                      </a:r>
                      <a:endParaRPr lang="zh-CN" sz="20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353339165"/>
                  </a:ext>
                </a:extLst>
              </a:tr>
              <a:tr h="1060028">
                <a:tc>
                  <a:txBody>
                    <a:bodyPr/>
                    <a:lstStyle/>
                    <a:p>
                      <a:pPr>
                        <a:lnSpc>
                          <a:spcPct val="115000"/>
                        </a:lnSpc>
                        <a:spcAft>
                          <a:spcPts val="800"/>
                        </a:spcAft>
                        <a:buNone/>
                      </a:pPr>
                      <a:r>
                        <a:rPr lang="en-US" sz="2000" kern="100" dirty="0">
                          <a:effectLst/>
                          <a:latin typeface="楷体" panose="02010609060101010101" pitchFamily="49" charset="-122"/>
                        </a:rPr>
                        <a:t>Anthropic</a:t>
                      </a:r>
                      <a:endParaRPr lang="zh-CN" sz="20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zh-CN" sz="2000" kern="100" dirty="0">
                          <a:effectLst/>
                          <a:latin typeface="楷体" panose="02010609060101010101" pitchFamily="49" charset="-122"/>
                          <a:ea typeface="楷体" panose="02010609060101010101" pitchFamily="49" charset="-122"/>
                        </a:rPr>
                        <a:t>提供了针对政府的高安全级别模型 </a:t>
                      </a:r>
                      <a:r>
                        <a:rPr lang="en-US" sz="2000" kern="100" dirty="0">
                          <a:effectLst/>
                          <a:latin typeface="楷体" panose="02010609060101010101" pitchFamily="49" charset="-122"/>
                          <a:ea typeface="楷体" panose="02010609060101010101" pitchFamily="49" charset="-122"/>
                        </a:rPr>
                        <a:t>Claude Gov</a:t>
                      </a:r>
                      <a:r>
                        <a:rPr lang="zh-CN" sz="2000" kern="100" dirty="0">
                          <a:effectLst/>
                          <a:latin typeface="楷体" panose="02010609060101010101" pitchFamily="49" charset="-122"/>
                          <a:ea typeface="楷体" panose="02010609060101010101" pitchFamily="49" charset="-122"/>
                        </a:rPr>
                        <a:t>，专注于情报分析和跨部门协作。</a:t>
                      </a:r>
                      <a:r>
                        <a:rPr lang="zh-CN" altLang="en-US" sz="2000" kern="100" dirty="0">
                          <a:effectLst/>
                          <a:latin typeface="楷体" panose="02010609060101010101" pitchFamily="49" charset="-122"/>
                          <a:ea typeface="楷体" panose="02010609060101010101" pitchFamily="49" charset="-122"/>
                        </a:rPr>
                        <a:t>参与了委内瑞拉事件和</a:t>
                      </a:r>
                      <a:r>
                        <a:rPr lang="en-US" altLang="zh-CN" sz="2000" kern="100" dirty="0">
                          <a:effectLst/>
                          <a:latin typeface="楷体" panose="02010609060101010101" pitchFamily="49" charset="-122"/>
                          <a:ea typeface="楷体" panose="02010609060101010101" pitchFamily="49" charset="-122"/>
                        </a:rPr>
                        <a:t>2026.2.8</a:t>
                      </a:r>
                      <a:r>
                        <a:rPr lang="zh-CN" altLang="en-US" sz="2000" kern="100" dirty="0">
                          <a:effectLst/>
                          <a:latin typeface="楷体" panose="02010609060101010101" pitchFamily="49" charset="-122"/>
                          <a:ea typeface="楷体" panose="02010609060101010101" pitchFamily="49" charset="-122"/>
                        </a:rPr>
                        <a:t>的对伊战争。但是截至</a:t>
                      </a:r>
                      <a:r>
                        <a:rPr lang="en-US" altLang="zh-CN" sz="2000" kern="100" dirty="0">
                          <a:effectLst/>
                          <a:latin typeface="楷体" panose="02010609060101010101" pitchFamily="49" charset="-122"/>
                          <a:ea typeface="楷体" panose="02010609060101010101" pitchFamily="49" charset="-122"/>
                        </a:rPr>
                        <a:t>2026.3.3</a:t>
                      </a:r>
                      <a:r>
                        <a:rPr lang="zh-CN" altLang="en-US" sz="2000" kern="100" dirty="0">
                          <a:effectLst/>
                          <a:latin typeface="楷体" panose="02010609060101010101" pitchFamily="49" charset="-122"/>
                          <a:ea typeface="楷体" panose="02010609060101010101" pitchFamily="49" charset="-122"/>
                        </a:rPr>
                        <a:t>和美国国防部谈判破裂</a:t>
                      </a:r>
                      <a:endParaRPr lang="zh-CN" sz="20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05150226"/>
                  </a:ext>
                </a:extLst>
              </a:tr>
              <a:tr h="697827">
                <a:tc>
                  <a:txBody>
                    <a:bodyPr/>
                    <a:lstStyle/>
                    <a:p>
                      <a:pPr>
                        <a:lnSpc>
                          <a:spcPct val="115000"/>
                        </a:lnSpc>
                        <a:spcAft>
                          <a:spcPts val="800"/>
                        </a:spcAft>
                        <a:buNone/>
                      </a:pPr>
                      <a:r>
                        <a:rPr lang="en-US" sz="2000" kern="100" dirty="0">
                          <a:effectLst/>
                          <a:latin typeface="楷体" panose="02010609060101010101" pitchFamily="49" charset="-122"/>
                        </a:rPr>
                        <a:t>Google (Google Public Sector)</a:t>
                      </a:r>
                      <a:endParaRPr lang="zh-CN" sz="20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zh-CN" sz="2000" kern="100" dirty="0">
                          <a:effectLst/>
                          <a:latin typeface="楷体" panose="02010609060101010101" pitchFamily="49" charset="-122"/>
                          <a:ea typeface="楷体" panose="02010609060101010101" pitchFamily="49" charset="-122"/>
                        </a:rPr>
                        <a:t>获得上述</a:t>
                      </a:r>
                      <a:r>
                        <a:rPr lang="en-US" sz="2000" kern="100" dirty="0">
                          <a:effectLst/>
                          <a:latin typeface="楷体" panose="02010609060101010101" pitchFamily="49" charset="-122"/>
                          <a:ea typeface="楷体" panose="02010609060101010101" pitchFamily="49" charset="-122"/>
                        </a:rPr>
                        <a:t>2</a:t>
                      </a:r>
                      <a:r>
                        <a:rPr lang="zh-CN" sz="2000" kern="100" dirty="0">
                          <a:effectLst/>
                          <a:latin typeface="楷体" panose="02010609060101010101" pitchFamily="49" charset="-122"/>
                          <a:ea typeface="楷体" panose="02010609060101010101" pitchFamily="49" charset="-122"/>
                        </a:rPr>
                        <a:t>亿美元订单外，其</a:t>
                      </a:r>
                      <a:r>
                        <a:rPr lang="en-US" sz="2000" kern="100" dirty="0">
                          <a:effectLst/>
                          <a:latin typeface="楷体" panose="02010609060101010101" pitchFamily="49" charset="-122"/>
                          <a:ea typeface="楷体" panose="02010609060101010101" pitchFamily="49" charset="-122"/>
                        </a:rPr>
                        <a:t>“Google</a:t>
                      </a:r>
                      <a:r>
                        <a:rPr lang="zh-CN" sz="2000" kern="100" dirty="0">
                          <a:effectLst/>
                          <a:latin typeface="楷体" panose="02010609060101010101" pitchFamily="49" charset="-122"/>
                          <a:ea typeface="楷体" panose="02010609060101010101" pitchFamily="49" charset="-122"/>
                        </a:rPr>
                        <a:t>分布式云</a:t>
                      </a:r>
                      <a:r>
                        <a:rPr lang="en-US" sz="2000" kern="100" dirty="0">
                          <a:effectLst/>
                          <a:latin typeface="楷体" panose="02010609060101010101" pitchFamily="49" charset="-122"/>
                          <a:ea typeface="楷体" panose="02010609060101010101" pitchFamily="49" charset="-122"/>
                        </a:rPr>
                        <a:t>”</a:t>
                      </a:r>
                      <a:r>
                        <a:rPr lang="zh-CN" sz="2000" kern="100" dirty="0">
                          <a:effectLst/>
                          <a:latin typeface="楷体" panose="02010609060101010101" pitchFamily="49" charset="-122"/>
                          <a:ea typeface="楷体" panose="02010609060101010101" pitchFamily="49" charset="-122"/>
                        </a:rPr>
                        <a:t>还通过了国防部最高安全级别的认证（</a:t>
                      </a:r>
                      <a:r>
                        <a:rPr lang="en-US" sz="2000" kern="100" dirty="0">
                          <a:effectLst/>
                          <a:latin typeface="楷体" panose="02010609060101010101" pitchFamily="49" charset="-122"/>
                          <a:ea typeface="楷体" panose="02010609060101010101" pitchFamily="49" charset="-122"/>
                        </a:rPr>
                        <a:t>IL6</a:t>
                      </a:r>
                      <a:r>
                        <a:rPr lang="zh-CN" sz="2000" kern="100" dirty="0">
                          <a:effectLst/>
                          <a:latin typeface="楷体" panose="02010609060101010101" pitchFamily="49" charset="-122"/>
                          <a:ea typeface="楷体" panose="02010609060101010101" pitchFamily="49" charset="-122"/>
                        </a:rPr>
                        <a:t>），可处理高度敏感的军事数据。</a:t>
                      </a:r>
                      <a:endParaRPr lang="zh-CN" sz="20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063408402"/>
                  </a:ext>
                </a:extLst>
              </a:tr>
            </a:tbl>
          </a:graphicData>
        </a:graphic>
      </p:graphicFrame>
      <p:sp>
        <p:nvSpPr>
          <p:cNvPr id="5" name="灯片编号占位符 4">
            <a:extLst>
              <a:ext uri="{FF2B5EF4-FFF2-40B4-BE49-F238E27FC236}">
                <a16:creationId xmlns:a16="http://schemas.microsoft.com/office/drawing/2014/main" id="{FC3343C9-45D2-B120-A2B5-1129425A4FD0}"/>
              </a:ext>
            </a:extLst>
          </p:cNvPr>
          <p:cNvSpPr>
            <a:spLocks noGrp="1"/>
          </p:cNvSpPr>
          <p:nvPr>
            <p:ph type="sldNum" sz="quarter" idx="12"/>
          </p:nvPr>
        </p:nvSpPr>
        <p:spPr/>
        <p:txBody>
          <a:bodyPr/>
          <a:lstStyle/>
          <a:p>
            <a:fld id="{80A20FCA-19FD-493E-B829-F89FD60808BC}" type="slidenum">
              <a:rPr lang="zh-CN" altLang="en-US" smtClean="0"/>
              <a:t>19</a:t>
            </a:fld>
            <a:endParaRPr lang="zh-CN" altLang="en-US"/>
          </a:p>
        </p:txBody>
      </p:sp>
    </p:spTree>
    <p:extLst>
      <p:ext uri="{BB962C8B-B14F-4D97-AF65-F5344CB8AC3E}">
        <p14:creationId xmlns:p14="http://schemas.microsoft.com/office/powerpoint/2010/main" val="1759130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EAB85-3611-D3CE-E3D2-DDD9D90F800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2CEE1DC-370E-C3E9-F828-0548488834B2}"/>
              </a:ext>
            </a:extLst>
          </p:cNvPr>
          <p:cNvSpPr>
            <a:spLocks noGrp="1"/>
          </p:cNvSpPr>
          <p:nvPr>
            <p:ph type="title"/>
          </p:nvPr>
        </p:nvSpPr>
        <p:spPr/>
        <p:txBody>
          <a:bodyPr>
            <a:normAutofit/>
          </a:bodyPr>
          <a:lstStyle/>
          <a:p>
            <a:r>
              <a:rPr lang="zh-CN" altLang="en-US" sz="3200" dirty="0"/>
              <a:t>四</a:t>
            </a:r>
            <a:r>
              <a:rPr lang="en-US" altLang="zh-CN" sz="3200" dirty="0"/>
              <a:t>.</a:t>
            </a:r>
            <a:r>
              <a:rPr lang="zh-CN" altLang="en-US" sz="3200" dirty="0"/>
              <a:t>人工智能</a:t>
            </a:r>
            <a:r>
              <a:rPr lang="en-US" altLang="zh-CN" sz="3200" dirty="0"/>
              <a:t>-</a:t>
            </a:r>
            <a:r>
              <a:rPr lang="zh-CN" altLang="en-US" sz="3200" dirty="0"/>
              <a:t>官方应用</a:t>
            </a:r>
          </a:p>
        </p:txBody>
      </p:sp>
      <p:sp>
        <p:nvSpPr>
          <p:cNvPr id="4" name="内容占位符 2">
            <a:extLst>
              <a:ext uri="{FF2B5EF4-FFF2-40B4-BE49-F238E27FC236}">
                <a16:creationId xmlns:a16="http://schemas.microsoft.com/office/drawing/2014/main" id="{311D82E9-E93C-7927-61CA-DBEC2A1B5639}"/>
              </a:ext>
            </a:extLst>
          </p:cNvPr>
          <p:cNvSpPr>
            <a:spLocks noGrp="1"/>
          </p:cNvSpPr>
          <p:nvPr>
            <p:ph idx="1"/>
          </p:nvPr>
        </p:nvSpPr>
        <p:spPr>
          <a:xfrm>
            <a:off x="838200" y="1825625"/>
            <a:ext cx="10515600" cy="4351338"/>
          </a:xfrm>
        </p:spPr>
        <p:txBody>
          <a:bodyPr>
            <a:normAutofit/>
          </a:bodyPr>
          <a:lstStyle/>
          <a:p>
            <a:r>
              <a:rPr lang="zh-CN" altLang="en-US" sz="2000" dirty="0"/>
              <a:t>作战框架</a:t>
            </a:r>
            <a:r>
              <a:rPr lang="en-US" altLang="zh-CN" sz="2000" dirty="0"/>
              <a:t>-Palantir</a:t>
            </a:r>
            <a:r>
              <a:rPr lang="zh-CN" altLang="en-US" sz="2000" dirty="0"/>
              <a:t>：</a:t>
            </a:r>
            <a:r>
              <a:rPr lang="zh-CN" altLang="zh-CN" sz="2000" dirty="0"/>
              <a:t>拿到了国防部的</a:t>
            </a:r>
            <a:r>
              <a:rPr lang="en-US" altLang="zh-CN" sz="2000" dirty="0"/>
              <a:t>10</a:t>
            </a:r>
            <a:r>
              <a:rPr lang="zh-CN" altLang="zh-CN" sz="2000" dirty="0"/>
              <a:t>年长协，用于将人工智能工作流，数据处理模式和运行框架更好地嵌入美国陆军的作战和运行体系。</a:t>
            </a:r>
            <a:r>
              <a:rPr lang="zh-CN" altLang="en-US" sz="2000" dirty="0"/>
              <a:t>总合同规模在</a:t>
            </a:r>
            <a:r>
              <a:rPr lang="en-US" altLang="zh-CN" sz="2000" dirty="0"/>
              <a:t>100</a:t>
            </a:r>
            <a:r>
              <a:rPr lang="zh-CN" altLang="en-US" sz="2000" dirty="0"/>
              <a:t>亿美元往上。</a:t>
            </a:r>
            <a:endParaRPr lang="en-US" altLang="zh-CN" sz="2000" dirty="0"/>
          </a:p>
          <a:p>
            <a:endParaRPr lang="en-US" altLang="zh-CN" sz="2000" dirty="0"/>
          </a:p>
          <a:p>
            <a:r>
              <a:rPr lang="zh-CN" altLang="en-US" sz="2000" dirty="0"/>
              <a:t>情报侦查</a:t>
            </a:r>
            <a:r>
              <a:rPr lang="en-US" altLang="zh-CN" sz="2000" dirty="0"/>
              <a:t>-BAH</a:t>
            </a:r>
            <a:r>
              <a:rPr lang="zh-CN" altLang="en-US" sz="2000" dirty="0"/>
              <a:t>：</a:t>
            </a:r>
            <a:r>
              <a:rPr lang="zh-CN" altLang="zh-CN" sz="2000" dirty="0"/>
              <a:t>获得一份为期五年、总额上限为</a:t>
            </a:r>
            <a:r>
              <a:rPr lang="en-US" altLang="zh-CN" sz="2000" dirty="0"/>
              <a:t> 15.8 </a:t>
            </a:r>
            <a:r>
              <a:rPr lang="zh-CN" altLang="zh-CN" sz="2000" dirty="0"/>
              <a:t>亿美元的单一任务订单，旨在提供与应对大规模杀伤性武器（</a:t>
            </a:r>
            <a:r>
              <a:rPr lang="en-US" altLang="zh-CN" sz="2000" dirty="0"/>
              <a:t>CWMD</a:t>
            </a:r>
            <a:r>
              <a:rPr lang="zh-CN" altLang="zh-CN" sz="2000" dirty="0"/>
              <a:t>）相关的情报分析。</a:t>
            </a:r>
            <a:endParaRPr lang="en-US" altLang="zh-CN" sz="2000" dirty="0"/>
          </a:p>
          <a:p>
            <a:endParaRPr lang="en-US" altLang="zh-CN" sz="2000" dirty="0"/>
          </a:p>
          <a:p>
            <a:r>
              <a:rPr lang="zh-CN" altLang="en-US" sz="2000" dirty="0"/>
              <a:t>供应链安全</a:t>
            </a:r>
            <a:r>
              <a:rPr lang="en-US" altLang="zh-CN" sz="2000" dirty="0"/>
              <a:t>-</a:t>
            </a:r>
            <a:r>
              <a:rPr lang="en-US" altLang="zh-CN" sz="2000" dirty="0" err="1"/>
              <a:t>Exiger</a:t>
            </a:r>
            <a:r>
              <a:rPr lang="zh-CN" altLang="en-US" sz="2000" dirty="0"/>
              <a:t>：</a:t>
            </a:r>
            <a:r>
              <a:rPr lang="zh-CN" altLang="zh-CN" sz="2000" dirty="0"/>
              <a:t>赢得了一项潜在的为期</a:t>
            </a:r>
            <a:r>
              <a:rPr lang="en-US" altLang="zh-CN" sz="2000" dirty="0"/>
              <a:t> 10 </a:t>
            </a:r>
            <a:r>
              <a:rPr lang="zh-CN" altLang="zh-CN" sz="2000" dirty="0"/>
              <a:t>年、价值</a:t>
            </a:r>
            <a:r>
              <a:rPr lang="en-US" altLang="zh-CN" sz="2000" dirty="0"/>
              <a:t> 9.19 </a:t>
            </a:r>
            <a:r>
              <a:rPr lang="zh-CN" altLang="zh-CN" sz="2000" dirty="0"/>
              <a:t>亿美元的总括采购协议的席位，该协议由美国总务管理局授予，旨在促进供应链风险评估工具和分析支持服务的采购</a:t>
            </a:r>
            <a:r>
              <a:rPr lang="zh-CN" altLang="en-US" sz="2000" dirty="0"/>
              <a:t>，从而</a:t>
            </a:r>
            <a:r>
              <a:rPr lang="zh-CN" altLang="zh-CN" sz="2000" dirty="0"/>
              <a:t>全面革新美军的后勤保障模式。</a:t>
            </a:r>
            <a:endParaRPr lang="zh-CN" altLang="en-US" sz="2000" dirty="0"/>
          </a:p>
        </p:txBody>
      </p:sp>
      <p:sp>
        <p:nvSpPr>
          <p:cNvPr id="3" name="灯片编号占位符 2">
            <a:extLst>
              <a:ext uri="{FF2B5EF4-FFF2-40B4-BE49-F238E27FC236}">
                <a16:creationId xmlns:a16="http://schemas.microsoft.com/office/drawing/2014/main" id="{CFF147AE-9C29-F536-08ED-DECAF764584F}"/>
              </a:ext>
            </a:extLst>
          </p:cNvPr>
          <p:cNvSpPr>
            <a:spLocks noGrp="1"/>
          </p:cNvSpPr>
          <p:nvPr>
            <p:ph type="sldNum" sz="quarter" idx="12"/>
          </p:nvPr>
        </p:nvSpPr>
        <p:spPr/>
        <p:txBody>
          <a:bodyPr/>
          <a:lstStyle/>
          <a:p>
            <a:fld id="{80A20FCA-19FD-493E-B829-F89FD60808BC}" type="slidenum">
              <a:rPr lang="zh-CN" altLang="en-US" smtClean="0"/>
              <a:t>20</a:t>
            </a:fld>
            <a:endParaRPr lang="zh-CN" altLang="en-US"/>
          </a:p>
        </p:txBody>
      </p:sp>
    </p:spTree>
    <p:extLst>
      <p:ext uri="{BB962C8B-B14F-4D97-AF65-F5344CB8AC3E}">
        <p14:creationId xmlns:p14="http://schemas.microsoft.com/office/powerpoint/2010/main" val="2901015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58F0C-1489-F67A-52E7-016CD69237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EB734EF-6238-F543-4D08-BC2A3A1456B7}"/>
              </a:ext>
            </a:extLst>
          </p:cNvPr>
          <p:cNvSpPr>
            <a:spLocks noGrp="1"/>
          </p:cNvSpPr>
          <p:nvPr>
            <p:ph type="title"/>
          </p:nvPr>
        </p:nvSpPr>
        <p:spPr/>
        <p:txBody>
          <a:bodyPr>
            <a:normAutofit/>
          </a:bodyPr>
          <a:lstStyle/>
          <a:p>
            <a:r>
              <a:rPr lang="zh-CN" altLang="en-US" sz="3200" dirty="0"/>
              <a:t>五</a:t>
            </a:r>
            <a:r>
              <a:rPr lang="en-US" altLang="zh-CN" sz="3200" dirty="0"/>
              <a:t>.</a:t>
            </a:r>
            <a:r>
              <a:rPr lang="zh-CN" altLang="en-US" sz="3200" dirty="0"/>
              <a:t>半导体</a:t>
            </a:r>
          </a:p>
        </p:txBody>
      </p:sp>
      <p:sp>
        <p:nvSpPr>
          <p:cNvPr id="3" name="内容占位符 2">
            <a:extLst>
              <a:ext uri="{FF2B5EF4-FFF2-40B4-BE49-F238E27FC236}">
                <a16:creationId xmlns:a16="http://schemas.microsoft.com/office/drawing/2014/main" id="{F1795573-CAA3-62A0-4F19-E0FD89E34888}"/>
              </a:ext>
            </a:extLst>
          </p:cNvPr>
          <p:cNvSpPr>
            <a:spLocks noGrp="1"/>
          </p:cNvSpPr>
          <p:nvPr>
            <p:ph idx="1"/>
          </p:nvPr>
        </p:nvSpPr>
        <p:spPr>
          <a:xfrm>
            <a:off x="838199" y="1825625"/>
            <a:ext cx="10874830" cy="4351338"/>
          </a:xfrm>
        </p:spPr>
        <p:txBody>
          <a:bodyPr/>
          <a:lstStyle/>
          <a:p>
            <a:pPr marL="0" indent="0">
              <a:buNone/>
            </a:pPr>
            <a:r>
              <a:rPr lang="zh-CN" altLang="en-US" dirty="0"/>
              <a:t>特征：国家持股，政商合作，引入大厂，重建产能</a:t>
            </a:r>
            <a:endParaRPr lang="en-US" altLang="zh-CN" dirty="0"/>
          </a:p>
          <a:p>
            <a:pPr marL="0" indent="0">
              <a:buNone/>
            </a:pPr>
            <a:r>
              <a:rPr lang="zh-CN" altLang="en-US" dirty="0"/>
              <a:t>分野</a:t>
            </a:r>
            <a:r>
              <a:rPr lang="en-US" altLang="zh-CN" dirty="0"/>
              <a:t>:  1. </a:t>
            </a:r>
            <a:r>
              <a:rPr lang="zh-CN" altLang="en-US" dirty="0"/>
              <a:t>政府方面：法案支持，直接注资，持股</a:t>
            </a:r>
            <a:endParaRPr lang="en-US" altLang="zh-CN" dirty="0"/>
          </a:p>
          <a:p>
            <a:pPr marL="0" indent="0">
              <a:buNone/>
            </a:pPr>
            <a:r>
              <a:rPr lang="en-US" altLang="zh-CN" dirty="0"/>
              <a:t>	 2. </a:t>
            </a:r>
            <a:r>
              <a:rPr lang="zh-CN" altLang="en-US" dirty="0"/>
              <a:t>产业界：官方带动民间形成投资框架与资金池，引入大厂</a:t>
            </a:r>
            <a:endParaRPr lang="en-US" altLang="zh-CN" dirty="0"/>
          </a:p>
          <a:p>
            <a:pPr marL="0" indent="0">
              <a:buNone/>
            </a:pPr>
            <a:r>
              <a:rPr lang="zh-CN" altLang="en-US" dirty="0"/>
              <a:t>政策上：得到</a:t>
            </a:r>
            <a:r>
              <a:rPr lang="en-US" altLang="zh-CN" dirty="0"/>
              <a:t>OBBBA</a:t>
            </a:r>
            <a:r>
              <a:rPr lang="zh-CN" altLang="en-US" dirty="0"/>
              <a:t>，</a:t>
            </a:r>
            <a:r>
              <a:rPr lang="en-US" altLang="zh-CN" dirty="0"/>
              <a:t>OSC</a:t>
            </a:r>
            <a:r>
              <a:rPr lang="zh-CN" altLang="en-US" dirty="0"/>
              <a:t>，以及芯片与科学法案的支持。</a:t>
            </a:r>
          </a:p>
        </p:txBody>
      </p:sp>
      <p:sp>
        <p:nvSpPr>
          <p:cNvPr id="4" name="灯片编号占位符 3">
            <a:extLst>
              <a:ext uri="{FF2B5EF4-FFF2-40B4-BE49-F238E27FC236}">
                <a16:creationId xmlns:a16="http://schemas.microsoft.com/office/drawing/2014/main" id="{68812F14-EC45-3510-CC22-E3C46FC9F0AF}"/>
              </a:ext>
            </a:extLst>
          </p:cNvPr>
          <p:cNvSpPr>
            <a:spLocks noGrp="1"/>
          </p:cNvSpPr>
          <p:nvPr>
            <p:ph type="sldNum" sz="quarter" idx="12"/>
          </p:nvPr>
        </p:nvSpPr>
        <p:spPr/>
        <p:txBody>
          <a:bodyPr/>
          <a:lstStyle/>
          <a:p>
            <a:fld id="{80A20FCA-19FD-493E-B829-F89FD60808BC}" type="slidenum">
              <a:rPr lang="zh-CN" altLang="en-US" smtClean="0"/>
              <a:t>21</a:t>
            </a:fld>
            <a:endParaRPr lang="zh-CN" altLang="en-US"/>
          </a:p>
        </p:txBody>
      </p:sp>
    </p:spTree>
    <p:extLst>
      <p:ext uri="{BB962C8B-B14F-4D97-AF65-F5344CB8AC3E}">
        <p14:creationId xmlns:p14="http://schemas.microsoft.com/office/powerpoint/2010/main" val="2890107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1BD12-6F7C-2433-4FCD-B98F609F8A4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193FB35-B425-7F96-6E33-C1B90F4D5F6A}"/>
              </a:ext>
            </a:extLst>
          </p:cNvPr>
          <p:cNvSpPr>
            <a:spLocks noGrp="1"/>
          </p:cNvSpPr>
          <p:nvPr>
            <p:ph type="title"/>
          </p:nvPr>
        </p:nvSpPr>
        <p:spPr/>
        <p:txBody>
          <a:bodyPr>
            <a:normAutofit/>
          </a:bodyPr>
          <a:lstStyle/>
          <a:p>
            <a:r>
              <a:rPr lang="zh-CN" altLang="en-US" sz="3200" dirty="0"/>
              <a:t>五</a:t>
            </a:r>
            <a:r>
              <a:rPr lang="en-US" altLang="zh-CN" sz="3200" dirty="0"/>
              <a:t>.</a:t>
            </a:r>
            <a:r>
              <a:rPr lang="zh-CN" altLang="en-US" sz="3200" dirty="0"/>
              <a:t>半导体</a:t>
            </a:r>
            <a:r>
              <a:rPr lang="en-US" altLang="zh-CN" sz="3200" dirty="0"/>
              <a:t>-</a:t>
            </a:r>
            <a:r>
              <a:rPr lang="zh-CN" altLang="en-US" sz="3200" dirty="0"/>
              <a:t>官方</a:t>
            </a:r>
          </a:p>
        </p:txBody>
      </p:sp>
      <p:sp>
        <p:nvSpPr>
          <p:cNvPr id="4" name="内容占位符 2">
            <a:extLst>
              <a:ext uri="{FF2B5EF4-FFF2-40B4-BE49-F238E27FC236}">
                <a16:creationId xmlns:a16="http://schemas.microsoft.com/office/drawing/2014/main" id="{D107C239-113B-985C-3BC6-83C2DD21BB57}"/>
              </a:ext>
            </a:extLst>
          </p:cNvPr>
          <p:cNvSpPr>
            <a:spLocks noGrp="1"/>
          </p:cNvSpPr>
          <p:nvPr>
            <p:ph idx="1"/>
          </p:nvPr>
        </p:nvSpPr>
        <p:spPr>
          <a:xfrm>
            <a:off x="838200" y="1690687"/>
            <a:ext cx="10515600" cy="4876367"/>
          </a:xfrm>
        </p:spPr>
        <p:txBody>
          <a:bodyPr>
            <a:normAutofit/>
          </a:bodyPr>
          <a:lstStyle/>
          <a:p>
            <a:pPr marL="0" indent="0">
              <a:buNone/>
            </a:pPr>
            <a:r>
              <a:rPr lang="zh-CN" altLang="en-US" sz="2000" dirty="0"/>
              <a:t>政策</a:t>
            </a:r>
            <a:endParaRPr lang="en-US" altLang="zh-CN" sz="2000" dirty="0"/>
          </a:p>
          <a:p>
            <a:pPr marL="0" indent="0">
              <a:buNone/>
            </a:pPr>
            <a:r>
              <a:rPr lang="en-US" altLang="zh-CN" sz="2000" dirty="0"/>
              <a:t>1. </a:t>
            </a:r>
            <a:r>
              <a:rPr lang="zh-CN" altLang="en-US" sz="2000" dirty="0"/>
              <a:t>政策：</a:t>
            </a:r>
            <a:r>
              <a:rPr lang="en-US" altLang="zh-CN" sz="2000" dirty="0"/>
              <a:t>《</a:t>
            </a:r>
            <a:r>
              <a:rPr lang="zh-CN" altLang="en-US" sz="2000" dirty="0"/>
              <a:t>美国人工智能行动计划</a:t>
            </a:r>
            <a:r>
              <a:rPr lang="en-US" altLang="zh-CN" sz="2000" dirty="0"/>
              <a:t>》</a:t>
            </a:r>
            <a:r>
              <a:rPr lang="zh-CN" altLang="en-US" sz="2000" dirty="0"/>
              <a:t>提出要以战时速度，加快半导体基础设施建设的速度。提出环境审批豁免，加速落地。</a:t>
            </a:r>
            <a:endParaRPr lang="en-US" altLang="zh-CN" sz="2000" dirty="0"/>
          </a:p>
          <a:p>
            <a:pPr marL="0" indent="0">
              <a:buNone/>
            </a:pPr>
            <a:r>
              <a:rPr lang="en-US" altLang="zh-CN" sz="2000" dirty="0"/>
              <a:t>2. </a:t>
            </a:r>
            <a:r>
              <a:rPr lang="zh-CN" altLang="en-US" sz="2000" dirty="0"/>
              <a:t>政策：</a:t>
            </a:r>
            <a:r>
              <a:rPr lang="en-US" altLang="zh-CN" sz="2000" dirty="0"/>
              <a:t>《</a:t>
            </a:r>
            <a:r>
              <a:rPr lang="zh-CN" altLang="en-US" sz="2000" dirty="0"/>
              <a:t>芯片与科学法案</a:t>
            </a:r>
            <a:r>
              <a:rPr lang="en-US" altLang="zh-CN" sz="2000" dirty="0"/>
              <a:t>》</a:t>
            </a:r>
            <a:r>
              <a:rPr lang="zh-CN" altLang="en-US" sz="2000" dirty="0"/>
              <a:t>得到继承，改造，与投资加速兑现。</a:t>
            </a:r>
            <a:endParaRPr lang="en-US" altLang="zh-CN" sz="2000" dirty="0"/>
          </a:p>
          <a:p>
            <a:pPr marL="0" indent="0">
              <a:buNone/>
            </a:pPr>
            <a:r>
              <a:rPr lang="zh-CN" altLang="en-US" sz="2000" dirty="0"/>
              <a:t>注资</a:t>
            </a:r>
            <a:endParaRPr lang="en-US" altLang="zh-CN" sz="2000" dirty="0"/>
          </a:p>
          <a:p>
            <a:pPr marL="0" indent="0">
              <a:buNone/>
            </a:pPr>
            <a:r>
              <a:rPr lang="en-US" altLang="zh-CN" sz="2000" dirty="0"/>
              <a:t>1. </a:t>
            </a:r>
            <a:r>
              <a:rPr lang="zh-CN" altLang="en-US" sz="2000" dirty="0"/>
              <a:t>注资：</a:t>
            </a:r>
            <a:r>
              <a:rPr lang="zh-CN" altLang="en-US" sz="2000" dirty="0">
                <a:solidFill>
                  <a:schemeClr val="accent1"/>
                </a:solidFill>
              </a:rPr>
              <a:t>格罗方德</a:t>
            </a:r>
            <a:r>
              <a:rPr lang="zh-CN" altLang="en-US" sz="2000" dirty="0"/>
              <a:t>半导体与美国商务部宣布，将根据</a:t>
            </a:r>
            <a:r>
              <a:rPr lang="en-US" altLang="zh-CN" sz="2000" dirty="0"/>
              <a:t>《</a:t>
            </a:r>
            <a:r>
              <a:rPr lang="zh-CN" altLang="en-US" sz="2000" dirty="0"/>
              <a:t>芯片与科学法案</a:t>
            </a:r>
            <a:r>
              <a:rPr lang="en-US" altLang="zh-CN" sz="2000" dirty="0"/>
              <a:t>》</a:t>
            </a:r>
            <a:r>
              <a:rPr lang="zh-CN" altLang="en-US" sz="2000" dirty="0"/>
              <a:t>向 </a:t>
            </a:r>
            <a:r>
              <a:rPr lang="en-US" altLang="zh-CN" sz="2000" dirty="0"/>
              <a:t>GF </a:t>
            </a:r>
            <a:r>
              <a:rPr lang="zh-CN" altLang="en-US" sz="2000" dirty="0"/>
              <a:t>提供高达 </a:t>
            </a:r>
            <a:r>
              <a:rPr lang="en-US" altLang="zh-CN" sz="2000" dirty="0"/>
              <a:t>15 </a:t>
            </a:r>
            <a:r>
              <a:rPr lang="zh-CN" altLang="en-US" sz="2000" dirty="0"/>
              <a:t>亿美元的直接资金。扩大其在美国的关键芯片制造和技术研发规模，强化供应链</a:t>
            </a:r>
            <a:endParaRPr lang="en-US" altLang="zh-CN" sz="2000" dirty="0"/>
          </a:p>
          <a:p>
            <a:pPr marL="0" indent="0">
              <a:buNone/>
            </a:pPr>
            <a:r>
              <a:rPr lang="en-US" altLang="zh-CN" sz="2000" dirty="0"/>
              <a:t>2. </a:t>
            </a:r>
            <a:r>
              <a:rPr lang="zh-CN" altLang="en-US" sz="2000" dirty="0"/>
              <a:t>注资：美国商务部最终确定向</a:t>
            </a:r>
            <a:r>
              <a:rPr lang="zh-CN" altLang="en-US" sz="2000" dirty="0">
                <a:solidFill>
                  <a:schemeClr val="accent1"/>
                </a:solidFill>
              </a:rPr>
              <a:t>美光</a:t>
            </a:r>
            <a:r>
              <a:rPr lang="zh-CN" altLang="en-US" sz="2000" dirty="0"/>
              <a:t>科技提供 </a:t>
            </a:r>
            <a:r>
              <a:rPr lang="en-US" altLang="zh-CN" sz="2000" dirty="0"/>
              <a:t>61.65 </a:t>
            </a:r>
            <a:r>
              <a:rPr lang="zh-CN" altLang="en-US" sz="2000" dirty="0"/>
              <a:t>亿美元的政府补贴，用于在纽约州和爱达荷州生产半导体。</a:t>
            </a:r>
            <a:endParaRPr lang="en-US" altLang="zh-CN" sz="2000" dirty="0"/>
          </a:p>
          <a:p>
            <a:pPr marL="0" indent="0">
              <a:buNone/>
            </a:pPr>
            <a:r>
              <a:rPr lang="en-US" altLang="zh-CN" sz="2000" dirty="0"/>
              <a:t>3. </a:t>
            </a:r>
            <a:r>
              <a:rPr lang="zh-CN" altLang="en-US" sz="2000" dirty="0"/>
              <a:t>注资：</a:t>
            </a:r>
            <a:r>
              <a:rPr lang="zh-CN" altLang="en-US" sz="2000" dirty="0">
                <a:solidFill>
                  <a:schemeClr val="accent1"/>
                </a:solidFill>
              </a:rPr>
              <a:t>安靠科技</a:t>
            </a:r>
            <a:r>
              <a:rPr lang="zh-CN" altLang="en-US" sz="2000" dirty="0"/>
              <a:t>联邦政府达成合作，获得</a:t>
            </a:r>
            <a:r>
              <a:rPr lang="en-US" altLang="zh-CN" sz="2000" dirty="0"/>
              <a:t>70</a:t>
            </a:r>
            <a:r>
              <a:rPr lang="zh-CN" altLang="en-US" sz="2000" dirty="0"/>
              <a:t>亿美元投资计划，宣布对其位于亚利桑那州的新型最先进的外包半导体先进封装和测试园区进行突破性的扩大投资计划。（台积电配套</a:t>
            </a:r>
            <a:endParaRPr lang="en-US" altLang="zh-CN" sz="2000" dirty="0"/>
          </a:p>
          <a:p>
            <a:pPr marL="0" indent="0">
              <a:buNone/>
            </a:pPr>
            <a:r>
              <a:rPr lang="en-US" altLang="zh-CN" sz="2000" dirty="0"/>
              <a:t>4. </a:t>
            </a:r>
            <a:r>
              <a:rPr lang="zh-CN" altLang="en-US" sz="2000" dirty="0"/>
              <a:t>持股：</a:t>
            </a:r>
            <a:r>
              <a:rPr lang="zh-CN" altLang="zh-CN" sz="2000" dirty="0"/>
              <a:t>美国政府收购了芯片制造商</a:t>
            </a:r>
            <a:r>
              <a:rPr lang="zh-CN" altLang="zh-CN" sz="2000" dirty="0">
                <a:solidFill>
                  <a:schemeClr val="accent1"/>
                </a:solidFill>
              </a:rPr>
              <a:t>英特尔</a:t>
            </a:r>
            <a:r>
              <a:rPr lang="en-US" altLang="zh-CN" sz="2000" dirty="0"/>
              <a:t> 10%</a:t>
            </a:r>
            <a:r>
              <a:rPr lang="zh-CN" altLang="zh-CN" sz="2000" dirty="0"/>
              <a:t>的股权（</a:t>
            </a:r>
            <a:r>
              <a:rPr lang="en-US" altLang="zh-CN" sz="2000" dirty="0"/>
              <a:t>89</a:t>
            </a:r>
            <a:r>
              <a:rPr lang="zh-CN" altLang="zh-CN" sz="2000" dirty="0"/>
              <a:t>亿美元） 。这项交易将英特尔根据《芯片与科学法案》二期应得的数十亿美元拨款转化为股权，使联邦政府成为英特尔的最大股东。</a:t>
            </a:r>
            <a:endParaRPr lang="en-US" altLang="zh-CN" sz="2000" dirty="0"/>
          </a:p>
        </p:txBody>
      </p:sp>
      <p:sp>
        <p:nvSpPr>
          <p:cNvPr id="3" name="灯片编号占位符 2">
            <a:extLst>
              <a:ext uri="{FF2B5EF4-FFF2-40B4-BE49-F238E27FC236}">
                <a16:creationId xmlns:a16="http://schemas.microsoft.com/office/drawing/2014/main" id="{1504D867-C1D1-3A76-3343-B25BBFA94697}"/>
              </a:ext>
            </a:extLst>
          </p:cNvPr>
          <p:cNvSpPr>
            <a:spLocks noGrp="1"/>
          </p:cNvSpPr>
          <p:nvPr>
            <p:ph type="sldNum" sz="quarter" idx="12"/>
          </p:nvPr>
        </p:nvSpPr>
        <p:spPr/>
        <p:txBody>
          <a:bodyPr/>
          <a:lstStyle/>
          <a:p>
            <a:fld id="{80A20FCA-19FD-493E-B829-F89FD60808BC}" type="slidenum">
              <a:rPr lang="zh-CN" altLang="en-US" smtClean="0"/>
              <a:t>22</a:t>
            </a:fld>
            <a:endParaRPr lang="zh-CN" altLang="en-US"/>
          </a:p>
        </p:txBody>
      </p:sp>
    </p:spTree>
    <p:extLst>
      <p:ext uri="{BB962C8B-B14F-4D97-AF65-F5344CB8AC3E}">
        <p14:creationId xmlns:p14="http://schemas.microsoft.com/office/powerpoint/2010/main" val="18632391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7A8F1-8E28-8031-0B7D-141B7A01BEE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E18CA08-4B30-D2C7-5EE0-14B8D463E477}"/>
              </a:ext>
            </a:extLst>
          </p:cNvPr>
          <p:cNvSpPr>
            <a:spLocks noGrp="1"/>
          </p:cNvSpPr>
          <p:nvPr>
            <p:ph type="title"/>
          </p:nvPr>
        </p:nvSpPr>
        <p:spPr/>
        <p:txBody>
          <a:bodyPr>
            <a:normAutofit/>
          </a:bodyPr>
          <a:lstStyle/>
          <a:p>
            <a:r>
              <a:rPr lang="zh-CN" altLang="en-US" sz="3200" dirty="0"/>
              <a:t>五</a:t>
            </a:r>
            <a:r>
              <a:rPr lang="en-US" altLang="zh-CN" sz="3200" dirty="0"/>
              <a:t>.</a:t>
            </a:r>
            <a:r>
              <a:rPr lang="zh-CN" altLang="en-US" sz="3200" dirty="0"/>
              <a:t>半导体</a:t>
            </a:r>
            <a:r>
              <a:rPr lang="en-US" altLang="zh-CN" sz="3200" dirty="0"/>
              <a:t>-</a:t>
            </a:r>
            <a:r>
              <a:rPr lang="zh-CN" altLang="en-US" sz="3200" dirty="0"/>
              <a:t>业界</a:t>
            </a:r>
            <a:r>
              <a:rPr lang="en-US" altLang="zh-CN" sz="3200" dirty="0"/>
              <a:t>-</a:t>
            </a:r>
            <a:r>
              <a:rPr lang="zh-CN" altLang="en-US" sz="3200" dirty="0"/>
              <a:t>引入大厂</a:t>
            </a:r>
          </a:p>
        </p:txBody>
      </p:sp>
      <p:sp>
        <p:nvSpPr>
          <p:cNvPr id="3" name="内容占位符 2">
            <a:extLst>
              <a:ext uri="{FF2B5EF4-FFF2-40B4-BE49-F238E27FC236}">
                <a16:creationId xmlns:a16="http://schemas.microsoft.com/office/drawing/2014/main" id="{13D596D4-2458-5E37-2E5E-D3E4532B568D}"/>
              </a:ext>
            </a:extLst>
          </p:cNvPr>
          <p:cNvSpPr>
            <a:spLocks noGrp="1"/>
          </p:cNvSpPr>
          <p:nvPr>
            <p:ph idx="1"/>
          </p:nvPr>
        </p:nvSpPr>
        <p:spPr>
          <a:xfrm>
            <a:off x="838200" y="1491796"/>
            <a:ext cx="10515600" cy="4351338"/>
          </a:xfrm>
        </p:spPr>
        <p:txBody>
          <a:bodyPr>
            <a:normAutofit lnSpcReduction="10000"/>
          </a:bodyPr>
          <a:lstStyle/>
          <a:p>
            <a:r>
              <a:rPr lang="zh-CN" altLang="en-US" sz="2000" dirty="0"/>
              <a:t>苹果：苹果官宣将在美国追加</a:t>
            </a:r>
            <a:r>
              <a:rPr lang="en-US" altLang="zh-CN" sz="2000" dirty="0"/>
              <a:t>1000</a:t>
            </a:r>
            <a:r>
              <a:rPr lang="zh-CN" altLang="en-US" sz="2000" dirty="0"/>
              <a:t>亿美元投资。藉此，苹果未来四年在美国的投资额将达</a:t>
            </a:r>
            <a:r>
              <a:rPr lang="en-US" altLang="zh-CN" sz="2000" dirty="0"/>
              <a:t>6000</a:t>
            </a:r>
            <a:r>
              <a:rPr lang="zh-CN" altLang="en-US" sz="2000" dirty="0"/>
              <a:t>亿美元。苹果还同步启动了一项“美国制造计划”（</a:t>
            </a:r>
            <a:r>
              <a:rPr lang="en-US" altLang="zh-CN" sz="2000" dirty="0"/>
              <a:t>AMP</a:t>
            </a:r>
            <a:r>
              <a:rPr lang="zh-CN" altLang="en-US" sz="2000" dirty="0"/>
              <a:t>），这包括与全美</a:t>
            </a:r>
            <a:r>
              <a:rPr lang="en-US" altLang="zh-CN" sz="2000" dirty="0"/>
              <a:t>10</a:t>
            </a:r>
            <a:r>
              <a:rPr lang="zh-CN" altLang="en-US" sz="2000" dirty="0"/>
              <a:t>家公司开展新的、更广泛的合作。</a:t>
            </a:r>
            <a:endParaRPr lang="en-US" altLang="zh-CN" sz="2000" dirty="0"/>
          </a:p>
          <a:p>
            <a:endParaRPr lang="en-US" altLang="zh-CN" sz="2000" dirty="0"/>
          </a:p>
          <a:p>
            <a:r>
              <a:rPr lang="zh-CN" altLang="en-US" sz="2000" dirty="0"/>
              <a:t>英伟达：芯片制造巨头英伟达、宣布 ，将首次完全在美国生产其人工智能超级计算机</a:t>
            </a:r>
            <a:r>
              <a:rPr lang="en-US" altLang="zh-CN" sz="2000" dirty="0"/>
              <a:t>——</a:t>
            </a:r>
            <a:r>
              <a:rPr lang="zh-CN" altLang="en-US" sz="2000" dirty="0"/>
              <a:t>这是该公司承诺在未来四年内在美国生产价值 </a:t>
            </a:r>
            <a:r>
              <a:rPr lang="en-US" altLang="zh-CN" sz="2000" dirty="0"/>
              <a:t>5000 </a:t>
            </a:r>
            <a:r>
              <a:rPr lang="zh-CN" altLang="en-US" sz="2000" dirty="0"/>
              <a:t>亿美元的人工智能基础设施的一部分。</a:t>
            </a:r>
            <a:endParaRPr lang="en-US" altLang="zh-CN" sz="2000" dirty="0"/>
          </a:p>
          <a:p>
            <a:endParaRPr lang="zh-CN" altLang="en-US" sz="2000" dirty="0"/>
          </a:p>
          <a:p>
            <a:r>
              <a:rPr lang="zh-CN" altLang="en-US" sz="2000" dirty="0">
                <a:solidFill>
                  <a:srgbClr val="FF0000"/>
                </a:solidFill>
              </a:rPr>
              <a:t>三星</a:t>
            </a:r>
            <a:r>
              <a:rPr lang="zh-CN" altLang="en-US" sz="2000" dirty="0"/>
              <a:t>：德克萨斯泰勒市的芯片生产与研发中心项目得到订单和追加投资，得以重启。之前因为美韩分期和运营问题一度中止进度，预期投资</a:t>
            </a:r>
            <a:r>
              <a:rPr lang="en-US" altLang="zh-CN" sz="2000" dirty="0"/>
              <a:t>400</a:t>
            </a:r>
            <a:r>
              <a:rPr lang="zh-CN" altLang="en-US" sz="2000" dirty="0"/>
              <a:t>亿。美国政府最高补贴</a:t>
            </a:r>
            <a:r>
              <a:rPr lang="en-US" altLang="zh-CN" sz="2000" dirty="0"/>
              <a:t>47</a:t>
            </a:r>
            <a:r>
              <a:rPr lang="zh-CN" altLang="en-US" sz="2000" dirty="0"/>
              <a:t>亿</a:t>
            </a:r>
            <a:endParaRPr lang="en-US" altLang="zh-CN" sz="2000" dirty="0"/>
          </a:p>
          <a:p>
            <a:endParaRPr lang="en-US" altLang="zh-CN" sz="2000" dirty="0"/>
          </a:p>
          <a:p>
            <a:r>
              <a:rPr lang="zh-CN" altLang="en-US" sz="2000" dirty="0">
                <a:solidFill>
                  <a:srgbClr val="FF0000"/>
                </a:solidFill>
              </a:rPr>
              <a:t>台积电</a:t>
            </a:r>
            <a:r>
              <a:rPr lang="zh-CN" altLang="en-US" sz="2000" dirty="0"/>
              <a:t>：亚利桑那凤凰城的项目在曲折中逐渐走向正轨，</a:t>
            </a:r>
            <a:r>
              <a:rPr lang="en-US" altLang="zh-CN" sz="2000" dirty="0"/>
              <a:t>25</a:t>
            </a:r>
            <a:r>
              <a:rPr lang="zh-CN" altLang="en-US" sz="2000" dirty="0"/>
              <a:t>年首次扭亏为盈，但是以牺牲台积电本土产能为代价。三月，魏哲家宣布会进行</a:t>
            </a:r>
            <a:r>
              <a:rPr lang="en-US" altLang="zh-CN" sz="2000" dirty="0"/>
              <a:t>1000</a:t>
            </a:r>
            <a:r>
              <a:rPr lang="zh-CN" altLang="en-US" sz="2000" dirty="0"/>
              <a:t>亿投资，并开启芯片学徒计划。美国政府最高补贴</a:t>
            </a:r>
            <a:r>
              <a:rPr lang="en-US" altLang="zh-CN" sz="2000" dirty="0"/>
              <a:t>116</a:t>
            </a:r>
            <a:r>
              <a:rPr lang="zh-CN" altLang="en-US" sz="2000" dirty="0"/>
              <a:t>亿</a:t>
            </a:r>
            <a:r>
              <a:rPr lang="en-US" altLang="zh-CN" sz="2000" dirty="0"/>
              <a:t>+50</a:t>
            </a:r>
            <a:r>
              <a:rPr lang="zh-CN" altLang="en-US" sz="2000" dirty="0"/>
              <a:t>亿贷款。</a:t>
            </a:r>
            <a:endParaRPr lang="en-US" altLang="zh-CN" sz="2000" dirty="0"/>
          </a:p>
          <a:p>
            <a:endParaRPr lang="en-US" altLang="zh-CN" dirty="0"/>
          </a:p>
        </p:txBody>
      </p:sp>
      <p:sp>
        <p:nvSpPr>
          <p:cNvPr id="4" name="灯片编号占位符 3">
            <a:extLst>
              <a:ext uri="{FF2B5EF4-FFF2-40B4-BE49-F238E27FC236}">
                <a16:creationId xmlns:a16="http://schemas.microsoft.com/office/drawing/2014/main" id="{89C772B2-37BC-68C3-67ED-92DBA2C18E76}"/>
              </a:ext>
            </a:extLst>
          </p:cNvPr>
          <p:cNvSpPr>
            <a:spLocks noGrp="1"/>
          </p:cNvSpPr>
          <p:nvPr>
            <p:ph type="sldNum" sz="quarter" idx="12"/>
          </p:nvPr>
        </p:nvSpPr>
        <p:spPr/>
        <p:txBody>
          <a:bodyPr/>
          <a:lstStyle/>
          <a:p>
            <a:fld id="{80A20FCA-19FD-493E-B829-F89FD60808BC}" type="slidenum">
              <a:rPr lang="zh-CN" altLang="en-US" smtClean="0"/>
              <a:t>23</a:t>
            </a:fld>
            <a:endParaRPr lang="zh-CN" altLang="en-US"/>
          </a:p>
        </p:txBody>
      </p:sp>
    </p:spTree>
    <p:extLst>
      <p:ext uri="{BB962C8B-B14F-4D97-AF65-F5344CB8AC3E}">
        <p14:creationId xmlns:p14="http://schemas.microsoft.com/office/powerpoint/2010/main" val="2986892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50B47-A755-3AAA-3DF7-E34A1C592A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3AB528-2E40-2FCD-4EE2-2703D52D9559}"/>
              </a:ext>
            </a:extLst>
          </p:cNvPr>
          <p:cNvSpPr>
            <a:spLocks noGrp="1"/>
          </p:cNvSpPr>
          <p:nvPr>
            <p:ph type="title"/>
          </p:nvPr>
        </p:nvSpPr>
        <p:spPr/>
        <p:txBody>
          <a:bodyPr>
            <a:normAutofit/>
          </a:bodyPr>
          <a:lstStyle/>
          <a:p>
            <a:r>
              <a:rPr lang="zh-CN" altLang="en-US" sz="3200" dirty="0"/>
              <a:t>五</a:t>
            </a:r>
            <a:r>
              <a:rPr lang="en-US" altLang="zh-CN" sz="3200" dirty="0"/>
              <a:t>.</a:t>
            </a:r>
            <a:r>
              <a:rPr lang="zh-CN" altLang="en-US" sz="3200" dirty="0"/>
              <a:t>半导体</a:t>
            </a:r>
            <a:r>
              <a:rPr lang="en-US" altLang="zh-CN" sz="3200" dirty="0"/>
              <a:t>-</a:t>
            </a:r>
            <a:r>
              <a:rPr lang="zh-CN" altLang="en-US" sz="3200" dirty="0"/>
              <a:t>业界</a:t>
            </a:r>
            <a:r>
              <a:rPr lang="en-US" altLang="zh-CN" sz="3200" dirty="0"/>
              <a:t>-</a:t>
            </a:r>
            <a:r>
              <a:rPr lang="zh-CN" altLang="en-US" sz="3200" dirty="0"/>
              <a:t>资金池</a:t>
            </a:r>
          </a:p>
        </p:txBody>
      </p:sp>
      <p:sp>
        <p:nvSpPr>
          <p:cNvPr id="4" name="内容占位符 2">
            <a:extLst>
              <a:ext uri="{FF2B5EF4-FFF2-40B4-BE49-F238E27FC236}">
                <a16:creationId xmlns:a16="http://schemas.microsoft.com/office/drawing/2014/main" id="{5BDEC1A7-F089-63C2-BB44-6B16D0956B0A}"/>
              </a:ext>
            </a:extLst>
          </p:cNvPr>
          <p:cNvSpPr>
            <a:spLocks noGrp="1"/>
          </p:cNvSpPr>
          <p:nvPr>
            <p:ph idx="1"/>
          </p:nvPr>
        </p:nvSpPr>
        <p:spPr>
          <a:xfrm>
            <a:off x="838200" y="1825625"/>
            <a:ext cx="10515600" cy="4807404"/>
          </a:xfrm>
        </p:spPr>
        <p:txBody>
          <a:bodyPr>
            <a:normAutofit/>
          </a:bodyPr>
          <a:lstStyle/>
          <a:p>
            <a:pPr marL="0" indent="0">
              <a:buNone/>
            </a:pPr>
            <a:r>
              <a:rPr lang="en-US" altLang="zh-CN" sz="2000" dirty="0"/>
              <a:t>1.</a:t>
            </a:r>
            <a:r>
              <a:rPr lang="zh-CN" altLang="en-US" sz="2000" dirty="0"/>
              <a:t>星门计划：星门项目（</a:t>
            </a:r>
            <a:r>
              <a:rPr lang="en-US" altLang="zh-CN" sz="2000" dirty="0"/>
              <a:t>Stargate</a:t>
            </a:r>
            <a:r>
              <a:rPr lang="zh-CN" altLang="en-US" sz="2000" dirty="0"/>
              <a:t>） 是软银、</a:t>
            </a:r>
            <a:r>
              <a:rPr lang="en-US" altLang="zh-CN" sz="2000" dirty="0"/>
              <a:t>OpenAI </a:t>
            </a:r>
            <a:r>
              <a:rPr lang="zh-CN" altLang="en-US" sz="2000" dirty="0"/>
              <a:t>和甲骨文三家公司合资成立的数据中心建设项目。该项目于今年 </a:t>
            </a:r>
            <a:r>
              <a:rPr lang="en-US" altLang="zh-CN" sz="2000" dirty="0"/>
              <a:t>1 </a:t>
            </a:r>
            <a:r>
              <a:rPr lang="zh-CN" altLang="en-US" sz="2000" dirty="0"/>
              <a:t>月由美国总统唐纳德</a:t>
            </a:r>
            <a:r>
              <a:rPr lang="en-US" altLang="zh-CN" sz="2000" dirty="0"/>
              <a:t>·</a:t>
            </a:r>
            <a:r>
              <a:rPr lang="zh-CN" altLang="en-US" sz="2000" dirty="0"/>
              <a:t>特朗普宣布，他表示这三家公司将投资高达 </a:t>
            </a:r>
            <a:r>
              <a:rPr lang="en-US" altLang="zh-CN" sz="2000" dirty="0"/>
              <a:t>5000 </a:t>
            </a:r>
            <a:r>
              <a:rPr lang="zh-CN" altLang="en-US" sz="2000" dirty="0"/>
              <a:t>亿美元用于人工智能基础设施建设。（</a:t>
            </a:r>
            <a:r>
              <a:rPr lang="en-US" altLang="zh-CN" sz="2000" dirty="0"/>
              <a:t>11</a:t>
            </a:r>
            <a:r>
              <a:rPr lang="zh-CN" altLang="en-US" sz="2000" dirty="0"/>
              <a:t>）该项目将用于建造大规模算力集群以满足日益严重的</a:t>
            </a:r>
            <a:r>
              <a:rPr lang="en-US" altLang="zh-CN" sz="2000" dirty="0"/>
              <a:t>AI</a:t>
            </a:r>
            <a:r>
              <a:rPr lang="zh-CN" altLang="en-US" sz="2000" dirty="0"/>
              <a:t>算力缺口。</a:t>
            </a:r>
            <a:endParaRPr lang="en-US" altLang="zh-CN" sz="2000" dirty="0"/>
          </a:p>
          <a:p>
            <a:pPr marL="0" indent="0">
              <a:buNone/>
            </a:pPr>
            <a:endParaRPr lang="en-US" altLang="zh-CN" sz="2000" dirty="0"/>
          </a:p>
          <a:p>
            <a:pPr marL="0" indent="0">
              <a:buNone/>
            </a:pPr>
            <a:r>
              <a:rPr lang="en-US" altLang="zh-CN" sz="2000" dirty="0"/>
              <a:t>2. GAIIP</a:t>
            </a:r>
            <a:r>
              <a:rPr lang="zh-CN" altLang="en-US" sz="2000" dirty="0"/>
              <a:t>：</a:t>
            </a:r>
            <a:r>
              <a:rPr lang="zh-CN" altLang="zh-CN" sz="2000" dirty="0"/>
              <a:t>贝莱德、全球基础设施合作伙伴公司（</a:t>
            </a:r>
            <a:r>
              <a:rPr lang="en-US" altLang="zh-CN" sz="2000" dirty="0"/>
              <a:t>GIP</a:t>
            </a:r>
            <a:r>
              <a:rPr lang="zh-CN" altLang="zh-CN" sz="2000" dirty="0"/>
              <a:t>）、微软和</a:t>
            </a:r>
            <a:r>
              <a:rPr lang="en-US" altLang="zh-CN" sz="2000" dirty="0"/>
              <a:t> MGX </a:t>
            </a:r>
            <a:r>
              <a:rPr lang="zh-CN" altLang="zh-CN" sz="2000" dirty="0"/>
              <a:t>宣布成立全球人工智能基础设施投资伙伴关系（</a:t>
            </a:r>
            <a:r>
              <a:rPr lang="en-US" altLang="zh-CN" sz="2000" dirty="0"/>
              <a:t>GAIIP</a:t>
            </a:r>
            <a:r>
              <a:rPr lang="zh-CN" altLang="zh-CN" sz="2000" dirty="0"/>
              <a:t>），旨在投资新建和扩建数据中心，以满足日益增长的计算能力需求，并投资建设能源基础设施，为这些设施创造新的能源来源。该合作初期将寻求从投资者、资产所有者和企业中逐步释放</a:t>
            </a:r>
            <a:r>
              <a:rPr lang="en-US" altLang="zh-CN" sz="2000" dirty="0"/>
              <a:t> 300 </a:t>
            </a:r>
            <a:r>
              <a:rPr lang="zh-CN" altLang="zh-CN" sz="2000" dirty="0"/>
              <a:t>亿美元的私募股权资本，若计入债务融资，则有望调动高达</a:t>
            </a:r>
            <a:r>
              <a:rPr lang="en-US" altLang="zh-CN" sz="2000" dirty="0"/>
              <a:t> 1000 </a:t>
            </a:r>
            <a:r>
              <a:rPr lang="zh-CN" altLang="zh-CN" sz="2000" dirty="0"/>
              <a:t>亿美元的总投资潜力。</a:t>
            </a:r>
            <a:endParaRPr lang="en-US" altLang="zh-CN" sz="2000" dirty="0"/>
          </a:p>
        </p:txBody>
      </p:sp>
      <p:sp>
        <p:nvSpPr>
          <p:cNvPr id="3" name="灯片编号占位符 2">
            <a:extLst>
              <a:ext uri="{FF2B5EF4-FFF2-40B4-BE49-F238E27FC236}">
                <a16:creationId xmlns:a16="http://schemas.microsoft.com/office/drawing/2014/main" id="{2AB39371-26AA-DEAA-A19B-54DD9400F82B}"/>
              </a:ext>
            </a:extLst>
          </p:cNvPr>
          <p:cNvSpPr>
            <a:spLocks noGrp="1"/>
          </p:cNvSpPr>
          <p:nvPr>
            <p:ph type="sldNum" sz="quarter" idx="12"/>
          </p:nvPr>
        </p:nvSpPr>
        <p:spPr/>
        <p:txBody>
          <a:bodyPr/>
          <a:lstStyle/>
          <a:p>
            <a:fld id="{80A20FCA-19FD-493E-B829-F89FD60808BC}" type="slidenum">
              <a:rPr lang="zh-CN" altLang="en-US" smtClean="0"/>
              <a:t>24</a:t>
            </a:fld>
            <a:endParaRPr lang="zh-CN" altLang="en-US"/>
          </a:p>
        </p:txBody>
      </p:sp>
    </p:spTree>
    <p:extLst>
      <p:ext uri="{BB962C8B-B14F-4D97-AF65-F5344CB8AC3E}">
        <p14:creationId xmlns:p14="http://schemas.microsoft.com/office/powerpoint/2010/main" val="1779313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DBC6B-0C23-3FA3-95AC-CAF10AF20D1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86D8134-61DF-6551-F58E-80AC649526A6}"/>
              </a:ext>
            </a:extLst>
          </p:cNvPr>
          <p:cNvSpPr>
            <a:spLocks noGrp="1"/>
          </p:cNvSpPr>
          <p:nvPr>
            <p:ph type="title"/>
          </p:nvPr>
        </p:nvSpPr>
        <p:spPr/>
        <p:txBody>
          <a:bodyPr>
            <a:normAutofit/>
          </a:bodyPr>
          <a:lstStyle/>
          <a:p>
            <a:r>
              <a:rPr lang="zh-CN" altLang="en-US" sz="3200" dirty="0"/>
              <a:t>六</a:t>
            </a:r>
            <a:r>
              <a:rPr lang="en-US" altLang="zh-CN" sz="3200" dirty="0"/>
              <a:t>.</a:t>
            </a:r>
            <a:r>
              <a:rPr lang="zh-CN" altLang="en-US" sz="3200" dirty="0"/>
              <a:t>量子</a:t>
            </a:r>
          </a:p>
        </p:txBody>
      </p:sp>
      <p:sp>
        <p:nvSpPr>
          <p:cNvPr id="3" name="内容占位符 2">
            <a:extLst>
              <a:ext uri="{FF2B5EF4-FFF2-40B4-BE49-F238E27FC236}">
                <a16:creationId xmlns:a16="http://schemas.microsoft.com/office/drawing/2014/main" id="{49FA76D5-72D9-4161-235A-D1B3FCF74F87}"/>
              </a:ext>
            </a:extLst>
          </p:cNvPr>
          <p:cNvSpPr>
            <a:spLocks noGrp="1"/>
          </p:cNvSpPr>
          <p:nvPr>
            <p:ph idx="1"/>
          </p:nvPr>
        </p:nvSpPr>
        <p:spPr/>
        <p:txBody>
          <a:bodyPr/>
          <a:lstStyle/>
          <a:p>
            <a:pPr marL="0" indent="0">
              <a:buNone/>
            </a:pPr>
            <a:r>
              <a:rPr lang="zh-CN" altLang="en-US" dirty="0"/>
              <a:t>特征：政府主导，多线并进</a:t>
            </a:r>
            <a:endParaRPr lang="en-US" altLang="zh-CN" dirty="0"/>
          </a:p>
          <a:p>
            <a:pPr marL="0" indent="0">
              <a:buNone/>
            </a:pPr>
            <a:r>
              <a:rPr lang="zh-CN" altLang="en-US" dirty="0"/>
              <a:t>政策上：得到</a:t>
            </a:r>
            <a:r>
              <a:rPr lang="en-US" altLang="zh-CN" dirty="0"/>
              <a:t>OBBBA</a:t>
            </a:r>
            <a:r>
              <a:rPr lang="zh-CN" altLang="en-US" dirty="0"/>
              <a:t>，</a:t>
            </a:r>
            <a:r>
              <a:rPr lang="en-US" altLang="zh-CN" dirty="0"/>
              <a:t>OSC</a:t>
            </a:r>
            <a:r>
              <a:rPr lang="zh-CN" altLang="en-US" dirty="0"/>
              <a:t>，美国能源部，国家科学基金会大力支持。</a:t>
            </a:r>
          </a:p>
          <a:p>
            <a:endParaRPr lang="zh-CN" altLang="en-US" dirty="0"/>
          </a:p>
        </p:txBody>
      </p:sp>
      <p:sp>
        <p:nvSpPr>
          <p:cNvPr id="4" name="灯片编号占位符 3">
            <a:extLst>
              <a:ext uri="{FF2B5EF4-FFF2-40B4-BE49-F238E27FC236}">
                <a16:creationId xmlns:a16="http://schemas.microsoft.com/office/drawing/2014/main" id="{B89A1C3B-D4E7-701C-9CE2-B1AA1CF1EDA9}"/>
              </a:ext>
            </a:extLst>
          </p:cNvPr>
          <p:cNvSpPr>
            <a:spLocks noGrp="1"/>
          </p:cNvSpPr>
          <p:nvPr>
            <p:ph type="sldNum" sz="quarter" idx="12"/>
          </p:nvPr>
        </p:nvSpPr>
        <p:spPr/>
        <p:txBody>
          <a:bodyPr/>
          <a:lstStyle/>
          <a:p>
            <a:fld id="{80A20FCA-19FD-493E-B829-F89FD60808BC}" type="slidenum">
              <a:rPr lang="zh-CN" altLang="en-US" smtClean="0"/>
              <a:t>25</a:t>
            </a:fld>
            <a:endParaRPr lang="zh-CN" altLang="en-US"/>
          </a:p>
        </p:txBody>
      </p:sp>
    </p:spTree>
    <p:extLst>
      <p:ext uri="{BB962C8B-B14F-4D97-AF65-F5344CB8AC3E}">
        <p14:creationId xmlns:p14="http://schemas.microsoft.com/office/powerpoint/2010/main" val="3890611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BE381-90E2-DB40-BA70-340F75BAE3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83D9630-BC4F-1049-14EB-F17BFF0B1176}"/>
              </a:ext>
            </a:extLst>
          </p:cNvPr>
          <p:cNvSpPr>
            <a:spLocks noGrp="1"/>
          </p:cNvSpPr>
          <p:nvPr>
            <p:ph type="title"/>
          </p:nvPr>
        </p:nvSpPr>
        <p:spPr/>
        <p:txBody>
          <a:bodyPr>
            <a:normAutofit/>
          </a:bodyPr>
          <a:lstStyle/>
          <a:p>
            <a:r>
              <a:rPr lang="zh-CN" altLang="en-US" sz="3200" dirty="0"/>
              <a:t>六</a:t>
            </a:r>
            <a:r>
              <a:rPr lang="en-US" altLang="zh-CN" sz="3200" dirty="0"/>
              <a:t>.</a:t>
            </a:r>
            <a:r>
              <a:rPr lang="zh-CN" altLang="en-US" sz="3200" dirty="0"/>
              <a:t>量子</a:t>
            </a:r>
            <a:r>
              <a:rPr lang="en-US" altLang="zh-CN" sz="3200" dirty="0"/>
              <a:t>-</a:t>
            </a:r>
            <a:r>
              <a:rPr lang="zh-CN" altLang="en-US" sz="3200" dirty="0"/>
              <a:t>政府动作</a:t>
            </a:r>
          </a:p>
        </p:txBody>
      </p:sp>
      <p:sp>
        <p:nvSpPr>
          <p:cNvPr id="3" name="内容占位符 2">
            <a:extLst>
              <a:ext uri="{FF2B5EF4-FFF2-40B4-BE49-F238E27FC236}">
                <a16:creationId xmlns:a16="http://schemas.microsoft.com/office/drawing/2014/main" id="{75CDF21B-4B88-350F-AE36-A7288CAAB99C}"/>
              </a:ext>
            </a:extLst>
          </p:cNvPr>
          <p:cNvSpPr>
            <a:spLocks noGrp="1"/>
          </p:cNvSpPr>
          <p:nvPr>
            <p:ph idx="1"/>
          </p:nvPr>
        </p:nvSpPr>
        <p:spPr>
          <a:xfrm>
            <a:off x="838200" y="1349829"/>
            <a:ext cx="11136086" cy="5384800"/>
          </a:xfrm>
        </p:spPr>
        <p:txBody>
          <a:bodyPr>
            <a:normAutofit/>
          </a:bodyPr>
          <a:lstStyle/>
          <a:p>
            <a:r>
              <a:rPr lang="en-US" altLang="zh-CN" sz="2000" dirty="0"/>
              <a:t>1. QBI</a:t>
            </a:r>
            <a:r>
              <a:rPr lang="zh-CN" altLang="en-US" sz="2000" dirty="0"/>
              <a:t>：截至 </a:t>
            </a:r>
            <a:r>
              <a:rPr lang="en-US" altLang="zh-CN" sz="2000" dirty="0"/>
              <a:t>2025 </a:t>
            </a:r>
            <a:r>
              <a:rPr lang="zh-CN" altLang="en-US" sz="2000" dirty="0"/>
              <a:t>年 </a:t>
            </a:r>
            <a:r>
              <a:rPr lang="en-US" altLang="zh-CN" sz="2000" dirty="0"/>
              <a:t>11 </a:t>
            </a:r>
            <a:r>
              <a:rPr lang="zh-CN" altLang="en-US" sz="2000" dirty="0"/>
              <a:t>月 </a:t>
            </a:r>
            <a:r>
              <a:rPr lang="en-US" altLang="zh-CN" sz="2000" dirty="0"/>
              <a:t>6 </a:t>
            </a:r>
            <a:r>
              <a:rPr lang="zh-CN" altLang="en-US" sz="2000" dirty="0"/>
              <a:t>日，</a:t>
            </a:r>
            <a:r>
              <a:rPr lang="en-US" altLang="zh-CN" sz="2000" dirty="0"/>
              <a:t>DARPA </a:t>
            </a:r>
            <a:r>
              <a:rPr lang="zh-CN" altLang="en-US" sz="2000" dirty="0"/>
              <a:t>已选定 </a:t>
            </a:r>
            <a:r>
              <a:rPr lang="en-US" altLang="zh-CN" sz="2000" dirty="0"/>
              <a:t>11 </a:t>
            </a:r>
            <a:r>
              <a:rPr lang="zh-CN" altLang="en-US" sz="2000" dirty="0"/>
              <a:t>家公司进入该机构量子基准测试计划 </a:t>
            </a:r>
            <a:r>
              <a:rPr lang="en-US" altLang="zh-CN" sz="2000" dirty="0"/>
              <a:t>(QBI) </a:t>
            </a:r>
            <a:r>
              <a:rPr lang="zh-CN" altLang="en-US" sz="2000" dirty="0"/>
              <a:t>的第二阶段（</a:t>
            </a:r>
            <a:r>
              <a:rPr lang="en-US" altLang="zh-CN" sz="2000" dirty="0"/>
              <a:t>B </a:t>
            </a:r>
            <a:r>
              <a:rPr lang="zh-CN" altLang="en-US" sz="2000" dirty="0"/>
              <a:t>阶段）。该计划旨在严格验证和确认任何量子计算方法是否能在 </a:t>
            </a:r>
            <a:r>
              <a:rPr lang="en-US" altLang="zh-CN" sz="2000" dirty="0"/>
              <a:t>2033 </a:t>
            </a:r>
            <a:r>
              <a:rPr lang="zh-CN" altLang="en-US" sz="2000" dirty="0"/>
              <a:t>年之前实现公用事业规模的运行，也即</a:t>
            </a:r>
            <a:r>
              <a:rPr lang="zh-CN" altLang="zh-CN" sz="2000" dirty="0"/>
              <a:t>验证和确认工业上可用的量子计算机。</a:t>
            </a:r>
            <a:r>
              <a:rPr lang="zh-CN" altLang="en-US" sz="2000" dirty="0"/>
              <a:t>该计划涵盖超导，离子阱，中性原子，光子，硅自旋等路线</a:t>
            </a:r>
            <a:endParaRPr lang="en-US" altLang="zh-CN" sz="2000" dirty="0"/>
          </a:p>
          <a:p>
            <a:endParaRPr lang="en-US" altLang="zh-CN" sz="2000" dirty="0"/>
          </a:p>
          <a:p>
            <a:r>
              <a:rPr lang="en-US" altLang="zh-CN" sz="2000" dirty="0"/>
              <a:t>2. </a:t>
            </a:r>
            <a:r>
              <a:rPr lang="zh-CN" altLang="zh-CN" sz="2000" dirty="0"/>
              <a:t>美国能源部（</a:t>
            </a:r>
            <a:r>
              <a:rPr lang="en-US" altLang="zh-CN" sz="2000" dirty="0"/>
              <a:t>DOE</a:t>
            </a:r>
            <a:r>
              <a:rPr lang="zh-CN" altLang="zh-CN" sz="2000" dirty="0"/>
              <a:t>）</a:t>
            </a:r>
            <a:r>
              <a:rPr lang="en-US" altLang="zh-CN" sz="2000" dirty="0"/>
              <a:t>2025</a:t>
            </a:r>
            <a:r>
              <a:rPr lang="zh-CN" altLang="zh-CN" sz="2000" dirty="0"/>
              <a:t>年</a:t>
            </a:r>
            <a:r>
              <a:rPr lang="en-US" altLang="zh-CN" sz="2000" dirty="0"/>
              <a:t>11</a:t>
            </a:r>
            <a:r>
              <a:rPr lang="zh-CN" altLang="zh-CN" sz="2000" dirty="0"/>
              <a:t>月</a:t>
            </a:r>
            <a:r>
              <a:rPr lang="en-US" altLang="zh-CN" sz="2000" dirty="0"/>
              <a:t>4</a:t>
            </a:r>
            <a:r>
              <a:rPr lang="zh-CN" altLang="zh-CN" sz="2000" dirty="0"/>
              <a:t>日宣布拨款</a:t>
            </a:r>
            <a:r>
              <a:rPr lang="en-US" altLang="zh-CN" sz="2000" dirty="0"/>
              <a:t> 6.25 </a:t>
            </a:r>
            <a:r>
              <a:rPr lang="zh-CN" altLang="zh-CN" sz="2000" dirty="0"/>
              <a:t>亿美元，用于更新其五个国家量子信息科学（</a:t>
            </a:r>
            <a:r>
              <a:rPr lang="en-US" altLang="zh-CN" sz="2000" dirty="0"/>
              <a:t>QIS</a:t>
            </a:r>
            <a:r>
              <a:rPr lang="zh-CN" altLang="zh-CN" sz="2000" dirty="0"/>
              <a:t>）研究中心。</a:t>
            </a:r>
            <a:endParaRPr lang="en-US" altLang="zh-CN" sz="2000" dirty="0"/>
          </a:p>
          <a:p>
            <a:endParaRPr lang="en-US" altLang="zh-CN" sz="2000" dirty="0"/>
          </a:p>
          <a:p>
            <a:r>
              <a:rPr lang="en-US" altLang="zh-CN" sz="2000" dirty="0"/>
              <a:t>3. 2025</a:t>
            </a:r>
            <a:r>
              <a:rPr lang="zh-CN" altLang="zh-CN" sz="2000" dirty="0"/>
              <a:t>年</a:t>
            </a:r>
            <a:r>
              <a:rPr lang="en-US" altLang="zh-CN" sz="2000" dirty="0"/>
              <a:t>1</a:t>
            </a:r>
            <a:r>
              <a:rPr lang="zh-CN" altLang="zh-CN" sz="2000" dirty="0"/>
              <a:t>月，马里兰州州长韦斯·摩尔、马里兰大学帕克分校校长达里尔·</a:t>
            </a:r>
            <a:r>
              <a:rPr lang="en-US" altLang="zh-CN" sz="2000" dirty="0"/>
              <a:t>J</a:t>
            </a:r>
            <a:r>
              <a:rPr lang="zh-CN" altLang="zh-CN" sz="2000" dirty="0"/>
              <a:t>·派恩斯以及</a:t>
            </a:r>
            <a:r>
              <a:rPr lang="en-US" altLang="zh-CN" sz="2000" dirty="0"/>
              <a:t> </a:t>
            </a:r>
            <a:r>
              <a:rPr lang="en-US" altLang="zh-CN" sz="2000" dirty="0" err="1"/>
              <a:t>IonQ</a:t>
            </a:r>
            <a:r>
              <a:rPr lang="en-US" altLang="zh-CN" sz="2000" dirty="0"/>
              <a:t> </a:t>
            </a:r>
            <a:r>
              <a:rPr lang="zh-CN" altLang="zh-CN" sz="2000" dirty="0"/>
              <a:t>公司总裁兼首席执行官彼得·查普曼宣布启动“量子之都”计划。这是一项具有里程碑意义的公私合作项目，旨在撬动</a:t>
            </a:r>
            <a:r>
              <a:rPr lang="en-US" altLang="zh-CN" sz="2000" dirty="0"/>
              <a:t> 10 </a:t>
            </a:r>
            <a:r>
              <a:rPr lang="zh-CN" altLang="zh-CN" sz="2000" dirty="0"/>
              <a:t>亿美元的投资，巩固马里兰州在全球量子信息科学与技术领域的领先地位。</a:t>
            </a:r>
            <a:endParaRPr lang="en-US" altLang="zh-CN" sz="2000" dirty="0"/>
          </a:p>
          <a:p>
            <a:endParaRPr lang="en-US" altLang="zh-CN" sz="2000" dirty="0"/>
          </a:p>
          <a:p>
            <a:r>
              <a:rPr lang="en-US" altLang="zh-CN" sz="2000" dirty="0"/>
              <a:t>4.</a:t>
            </a:r>
            <a:r>
              <a:rPr lang="zh-CN" altLang="en-US" sz="2000" dirty="0"/>
              <a:t>美国国家科学基金会国家量子虚拟实验室（</a:t>
            </a:r>
            <a:r>
              <a:rPr lang="en-US" altLang="zh-CN" sz="2000" dirty="0"/>
              <a:t>NSF NQVL</a:t>
            </a:r>
            <a:r>
              <a:rPr lang="zh-CN" altLang="en-US" sz="2000" dirty="0"/>
              <a:t>）的前景日益明朗，首批四个团队已选定，他们将负责设计可在全美范围内广泛使用的高科技基础设施。</a:t>
            </a:r>
            <a:r>
              <a:rPr lang="en-US" altLang="zh-CN" sz="2000" dirty="0"/>
              <a:t>NSF </a:t>
            </a:r>
            <a:r>
              <a:rPr lang="zh-CN" altLang="en-US" sz="2000" dirty="0"/>
              <a:t>将向这四个团队投资 </a:t>
            </a:r>
            <a:r>
              <a:rPr lang="en-US" altLang="zh-CN" sz="2000" dirty="0"/>
              <a:t>1600 </a:t>
            </a:r>
            <a:r>
              <a:rPr lang="zh-CN" altLang="en-US" sz="2000" dirty="0"/>
              <a:t>万美元，每个团队将在两年内获得 </a:t>
            </a:r>
            <a:r>
              <a:rPr lang="en-US" altLang="zh-CN" sz="2000" dirty="0"/>
              <a:t>400 </a:t>
            </a:r>
            <a:r>
              <a:rPr lang="zh-CN" altLang="en-US" sz="2000" dirty="0"/>
              <a:t>万美元的资助。</a:t>
            </a:r>
          </a:p>
        </p:txBody>
      </p:sp>
      <p:sp>
        <p:nvSpPr>
          <p:cNvPr id="4" name="灯片编号占位符 3">
            <a:extLst>
              <a:ext uri="{FF2B5EF4-FFF2-40B4-BE49-F238E27FC236}">
                <a16:creationId xmlns:a16="http://schemas.microsoft.com/office/drawing/2014/main" id="{97AF5CE6-2C69-8FC0-52F8-3AE8586C8A99}"/>
              </a:ext>
            </a:extLst>
          </p:cNvPr>
          <p:cNvSpPr>
            <a:spLocks noGrp="1"/>
          </p:cNvSpPr>
          <p:nvPr>
            <p:ph type="sldNum" sz="quarter" idx="12"/>
          </p:nvPr>
        </p:nvSpPr>
        <p:spPr/>
        <p:txBody>
          <a:bodyPr/>
          <a:lstStyle/>
          <a:p>
            <a:fld id="{80A20FCA-19FD-493E-B829-F89FD60808BC}" type="slidenum">
              <a:rPr lang="zh-CN" altLang="en-US" smtClean="0"/>
              <a:t>26</a:t>
            </a:fld>
            <a:endParaRPr lang="zh-CN" altLang="en-US"/>
          </a:p>
        </p:txBody>
      </p:sp>
    </p:spTree>
    <p:extLst>
      <p:ext uri="{BB962C8B-B14F-4D97-AF65-F5344CB8AC3E}">
        <p14:creationId xmlns:p14="http://schemas.microsoft.com/office/powerpoint/2010/main" val="2542538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3C47E-910A-090C-3A8C-20EF7713D85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4B65383-05ED-C074-151C-BE7AFF5E3750}"/>
              </a:ext>
            </a:extLst>
          </p:cNvPr>
          <p:cNvSpPr>
            <a:spLocks noGrp="1"/>
          </p:cNvSpPr>
          <p:nvPr>
            <p:ph type="title"/>
          </p:nvPr>
        </p:nvSpPr>
        <p:spPr/>
        <p:txBody>
          <a:bodyPr>
            <a:normAutofit/>
          </a:bodyPr>
          <a:lstStyle/>
          <a:p>
            <a:r>
              <a:rPr lang="zh-CN" altLang="en-US" sz="3200" dirty="0"/>
              <a:t>六</a:t>
            </a:r>
            <a:r>
              <a:rPr lang="en-US" altLang="zh-CN" sz="3200" dirty="0"/>
              <a:t>.</a:t>
            </a:r>
            <a:r>
              <a:rPr lang="zh-CN" altLang="en-US" sz="3200" dirty="0"/>
              <a:t>量子</a:t>
            </a:r>
            <a:r>
              <a:rPr lang="en-US" altLang="zh-CN" sz="3200" dirty="0"/>
              <a:t>-</a:t>
            </a:r>
            <a:r>
              <a:rPr lang="zh-CN" altLang="en-US" sz="3200" dirty="0"/>
              <a:t>一些企业动向</a:t>
            </a:r>
          </a:p>
        </p:txBody>
      </p:sp>
      <p:sp>
        <p:nvSpPr>
          <p:cNvPr id="3" name="内容占位符 2">
            <a:extLst>
              <a:ext uri="{FF2B5EF4-FFF2-40B4-BE49-F238E27FC236}">
                <a16:creationId xmlns:a16="http://schemas.microsoft.com/office/drawing/2014/main" id="{3C6F11F9-727A-BCE5-D3ED-E14F93E37815}"/>
              </a:ext>
            </a:extLst>
          </p:cNvPr>
          <p:cNvSpPr>
            <a:spLocks noGrp="1"/>
          </p:cNvSpPr>
          <p:nvPr>
            <p:ph idx="1"/>
          </p:nvPr>
        </p:nvSpPr>
        <p:spPr/>
        <p:txBody>
          <a:bodyPr>
            <a:normAutofit fontScale="92500" lnSpcReduction="10000"/>
          </a:bodyPr>
          <a:lstStyle/>
          <a:p>
            <a:r>
              <a:rPr lang="zh-CN" altLang="en-US" sz="2400" dirty="0"/>
              <a:t>美国能源部技术商业化办公室宣布，费米国家加速器实验室与 </a:t>
            </a:r>
            <a:r>
              <a:rPr lang="en-US" altLang="zh-CN" sz="2400" dirty="0" err="1"/>
              <a:t>Qblox</a:t>
            </a:r>
            <a:r>
              <a:rPr lang="en-US" altLang="zh-CN" sz="2400" dirty="0"/>
              <a:t> </a:t>
            </a:r>
            <a:r>
              <a:rPr lang="zh-CN" altLang="en-US" sz="2400" dirty="0"/>
              <a:t>公司达成合作，将在美国生产和销售量子仪器控制套件（</a:t>
            </a:r>
            <a:r>
              <a:rPr lang="en-US" altLang="zh-CN" sz="2400" dirty="0"/>
              <a:t>QICK</a:t>
            </a:r>
            <a:r>
              <a:rPr lang="zh-CN" altLang="en-US" sz="2400" dirty="0"/>
              <a:t>）。</a:t>
            </a:r>
            <a:r>
              <a:rPr lang="en-US" altLang="zh-CN" sz="2400" dirty="0"/>
              <a:t>QICK </a:t>
            </a:r>
            <a:r>
              <a:rPr lang="zh-CN" altLang="en-US" sz="2400" dirty="0"/>
              <a:t>是一个旨在推进量子研究并培养高科技人才的平台。在能源部技术商业化办公室的推动下，这项合作标志着美国在量子计算、传感和网络领域能力提升方面迈出了重要一步。</a:t>
            </a:r>
            <a:endParaRPr lang="en-US" altLang="zh-CN" sz="2400" dirty="0"/>
          </a:p>
          <a:p>
            <a:endParaRPr lang="en-US" altLang="zh-CN" sz="2400" dirty="0"/>
          </a:p>
          <a:p>
            <a:r>
              <a:rPr lang="zh-CN" altLang="zh-CN" sz="2400" dirty="0"/>
              <a:t>美国量子通信技术公司</a:t>
            </a:r>
            <a:r>
              <a:rPr lang="en-US" altLang="zh-CN" sz="2400" dirty="0"/>
              <a:t> Quantum Corridor </a:t>
            </a:r>
            <a:r>
              <a:rPr lang="zh-CN" altLang="zh-CN" sz="2400" dirty="0"/>
              <a:t>于</a:t>
            </a:r>
            <a:r>
              <a:rPr lang="en-US" altLang="zh-CN" sz="2400" dirty="0"/>
              <a:t> 12 </a:t>
            </a:r>
            <a:r>
              <a:rPr lang="zh-CN" altLang="zh-CN" sz="2400" dirty="0"/>
              <a:t>月</a:t>
            </a:r>
            <a:r>
              <a:rPr lang="en-US" altLang="zh-CN" sz="2400" dirty="0"/>
              <a:t> 9 </a:t>
            </a:r>
            <a:r>
              <a:rPr lang="zh-CN" altLang="zh-CN" sz="2400" dirty="0"/>
              <a:t>日宣布，该公司与东芝国际公司及合作伙伴共同成功演示了首次跨州量子密钥分发，在连接伊利诺伊州和印第安纳州</a:t>
            </a:r>
            <a:r>
              <a:rPr lang="en-US" altLang="zh-CN" sz="2400" dirty="0"/>
              <a:t> Tier III </a:t>
            </a:r>
            <a:r>
              <a:rPr lang="zh-CN" altLang="zh-CN" sz="2400" dirty="0"/>
              <a:t>数据中心的商用城域光纤网络上进行量子安全通信。</a:t>
            </a:r>
            <a:endParaRPr lang="en-US" altLang="zh-CN" sz="2400" dirty="0"/>
          </a:p>
          <a:p>
            <a:endParaRPr lang="en-US" altLang="zh-CN" sz="2400" dirty="0"/>
          </a:p>
          <a:p>
            <a:r>
              <a:rPr lang="en-US" altLang="zh-CN" sz="2400" dirty="0"/>
              <a:t>11 </a:t>
            </a:r>
            <a:r>
              <a:rPr lang="zh-CN" altLang="zh-CN" sz="2400" dirty="0"/>
              <a:t>月</a:t>
            </a:r>
            <a:r>
              <a:rPr lang="en-US" altLang="zh-CN" sz="2400" dirty="0"/>
              <a:t> 5 </a:t>
            </a:r>
            <a:r>
              <a:rPr lang="zh-CN" altLang="zh-CN" sz="2400" dirty="0"/>
              <a:t>日—— 全球量子计算领导者</a:t>
            </a:r>
            <a:r>
              <a:rPr lang="en-US" altLang="zh-CN" sz="2400" dirty="0"/>
              <a:t> </a:t>
            </a:r>
            <a:r>
              <a:rPr lang="en-US" altLang="zh-CN" sz="2400" dirty="0" err="1"/>
              <a:t>Quantinuum</a:t>
            </a:r>
            <a:r>
              <a:rPr lang="zh-CN" altLang="zh-CN" sz="2400" dirty="0"/>
              <a:t>宣布推出</a:t>
            </a:r>
            <a:r>
              <a:rPr lang="en-US" altLang="zh-CN" sz="2400" dirty="0"/>
              <a:t> Helios</a:t>
            </a:r>
            <a:r>
              <a:rPr lang="zh-CN" altLang="zh-CN" sz="2400" dirty="0"/>
              <a:t>，这是目前全球精度最高的通用商用量子计算机，旨在加速企业对量子计算的采用。</a:t>
            </a:r>
            <a:r>
              <a:rPr lang="en-US" altLang="zh-CN" sz="2400" dirty="0"/>
              <a:t>Helios </a:t>
            </a:r>
            <a:r>
              <a:rPr lang="zh-CN" altLang="zh-CN" sz="2400" dirty="0"/>
              <a:t>拥有所有商用系统中最高的保真度，并配备了首创的实时控制引擎，使开发人员能够以与编写异构经典计算机程序类似的方式编写量子计算机程序</a:t>
            </a:r>
            <a:endParaRPr lang="zh-CN" altLang="en-US" sz="2400" dirty="0"/>
          </a:p>
        </p:txBody>
      </p:sp>
      <p:sp>
        <p:nvSpPr>
          <p:cNvPr id="4" name="灯片编号占位符 3">
            <a:extLst>
              <a:ext uri="{FF2B5EF4-FFF2-40B4-BE49-F238E27FC236}">
                <a16:creationId xmlns:a16="http://schemas.microsoft.com/office/drawing/2014/main" id="{DC8B1AA0-584E-AC24-DF74-FD2DE35CB762}"/>
              </a:ext>
            </a:extLst>
          </p:cNvPr>
          <p:cNvSpPr>
            <a:spLocks noGrp="1"/>
          </p:cNvSpPr>
          <p:nvPr>
            <p:ph type="sldNum" sz="quarter" idx="12"/>
          </p:nvPr>
        </p:nvSpPr>
        <p:spPr/>
        <p:txBody>
          <a:bodyPr/>
          <a:lstStyle/>
          <a:p>
            <a:fld id="{80A20FCA-19FD-493E-B829-F89FD60808BC}" type="slidenum">
              <a:rPr lang="zh-CN" altLang="en-US" smtClean="0"/>
              <a:t>27</a:t>
            </a:fld>
            <a:endParaRPr lang="zh-CN" altLang="en-US"/>
          </a:p>
        </p:txBody>
      </p:sp>
    </p:spTree>
    <p:extLst>
      <p:ext uri="{BB962C8B-B14F-4D97-AF65-F5344CB8AC3E}">
        <p14:creationId xmlns:p14="http://schemas.microsoft.com/office/powerpoint/2010/main" val="21545005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A93D9-3EF7-04E3-F03D-ACD295F7D25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D6B4A7F-907E-FD8F-3393-D1DD46A7BDB3}"/>
              </a:ext>
            </a:extLst>
          </p:cNvPr>
          <p:cNvSpPr>
            <a:spLocks noGrp="1"/>
          </p:cNvSpPr>
          <p:nvPr>
            <p:ph type="title"/>
          </p:nvPr>
        </p:nvSpPr>
        <p:spPr/>
        <p:txBody>
          <a:bodyPr>
            <a:normAutofit/>
          </a:bodyPr>
          <a:lstStyle/>
          <a:p>
            <a:r>
              <a:rPr lang="zh-CN" altLang="en-US" sz="3200" dirty="0"/>
              <a:t>七</a:t>
            </a:r>
            <a:r>
              <a:rPr lang="en-US" altLang="zh-CN" sz="3200" dirty="0"/>
              <a:t>.</a:t>
            </a:r>
            <a:r>
              <a:rPr lang="zh-CN" altLang="en-US" sz="3200" dirty="0"/>
              <a:t>生物</a:t>
            </a:r>
          </a:p>
        </p:txBody>
      </p:sp>
      <p:sp>
        <p:nvSpPr>
          <p:cNvPr id="4" name="内容占位符 2">
            <a:extLst>
              <a:ext uri="{FF2B5EF4-FFF2-40B4-BE49-F238E27FC236}">
                <a16:creationId xmlns:a16="http://schemas.microsoft.com/office/drawing/2014/main" id="{973F60CD-D4EA-F908-72FA-744D82FF072A}"/>
              </a:ext>
            </a:extLst>
          </p:cNvPr>
          <p:cNvSpPr>
            <a:spLocks noGrp="1"/>
          </p:cNvSpPr>
          <p:nvPr>
            <p:ph idx="1"/>
          </p:nvPr>
        </p:nvSpPr>
        <p:spPr>
          <a:xfrm>
            <a:off x="838200" y="1825625"/>
            <a:ext cx="10515600" cy="4351338"/>
          </a:xfrm>
        </p:spPr>
        <p:txBody>
          <a:bodyPr/>
          <a:lstStyle/>
          <a:p>
            <a:pPr marL="0" indent="0">
              <a:buNone/>
            </a:pPr>
            <a:r>
              <a:rPr lang="zh-CN" altLang="en-US" dirty="0"/>
              <a:t>特征：保障安全，</a:t>
            </a:r>
            <a:r>
              <a:rPr lang="en-US" altLang="zh-CN" dirty="0"/>
              <a:t>AI</a:t>
            </a:r>
            <a:r>
              <a:rPr lang="zh-CN" altLang="en-US" dirty="0"/>
              <a:t>赋能</a:t>
            </a:r>
            <a:endParaRPr lang="en-US" altLang="zh-CN" dirty="0"/>
          </a:p>
          <a:p>
            <a:pPr marL="0" indent="0">
              <a:buNone/>
            </a:pPr>
            <a:r>
              <a:rPr lang="zh-CN" altLang="en-US" dirty="0"/>
              <a:t>分野：</a:t>
            </a:r>
            <a:r>
              <a:rPr lang="en-US" altLang="zh-CN" dirty="0"/>
              <a:t>1. </a:t>
            </a:r>
            <a:r>
              <a:rPr lang="zh-CN" altLang="en-US" dirty="0"/>
              <a:t>生物安全</a:t>
            </a:r>
            <a:endParaRPr lang="en-US" altLang="zh-CN" dirty="0"/>
          </a:p>
          <a:p>
            <a:pPr marL="0" indent="0">
              <a:buNone/>
            </a:pPr>
            <a:r>
              <a:rPr lang="en-US" altLang="zh-CN" dirty="0"/>
              <a:t>	 2. </a:t>
            </a:r>
            <a:r>
              <a:rPr lang="zh-CN" altLang="en-US" dirty="0"/>
              <a:t>合成生物（</a:t>
            </a:r>
            <a:r>
              <a:rPr lang="en-US" altLang="zh-CN" dirty="0"/>
              <a:t>AI</a:t>
            </a:r>
            <a:r>
              <a:rPr lang="zh-CN" altLang="en-US" dirty="0"/>
              <a:t>）</a:t>
            </a:r>
            <a:endParaRPr lang="en-US" altLang="zh-CN" dirty="0"/>
          </a:p>
          <a:p>
            <a:pPr marL="0" indent="0">
              <a:buNone/>
            </a:pPr>
            <a:r>
              <a:rPr lang="en-US" altLang="zh-CN" dirty="0"/>
              <a:t>	 3. </a:t>
            </a:r>
            <a:r>
              <a:rPr lang="zh-CN" altLang="en-US" dirty="0"/>
              <a:t>其他创新技术</a:t>
            </a:r>
            <a:endParaRPr lang="en-US" altLang="zh-CN" dirty="0"/>
          </a:p>
          <a:p>
            <a:pPr marL="0" indent="0">
              <a:buNone/>
            </a:pPr>
            <a:r>
              <a:rPr lang="zh-CN" altLang="en-US" dirty="0"/>
              <a:t>政策上：得到</a:t>
            </a:r>
            <a:r>
              <a:rPr lang="en-US" altLang="zh-CN" dirty="0"/>
              <a:t>OBBBA</a:t>
            </a:r>
            <a:r>
              <a:rPr lang="zh-CN" altLang="en-US" dirty="0"/>
              <a:t>，生物安全法案，</a:t>
            </a:r>
            <a:r>
              <a:rPr lang="zh-CN" altLang="zh-CN" dirty="0"/>
              <a:t>国家安全与生物技术委员会（</a:t>
            </a:r>
            <a:r>
              <a:rPr lang="en-US" altLang="zh-CN" dirty="0"/>
              <a:t>NSCEB</a:t>
            </a:r>
            <a:r>
              <a:rPr lang="zh-CN" altLang="zh-CN" dirty="0"/>
              <a:t>）</a:t>
            </a:r>
            <a:r>
              <a:rPr lang="zh-CN" altLang="en-US" dirty="0"/>
              <a:t>，国防部高级研究计划局，国家科学基金会，创世纪计划，以及一系列广谱资金池大力支持。</a:t>
            </a:r>
          </a:p>
          <a:p>
            <a:endParaRPr lang="zh-CN" altLang="en-US" dirty="0"/>
          </a:p>
        </p:txBody>
      </p:sp>
      <p:sp>
        <p:nvSpPr>
          <p:cNvPr id="3" name="灯片编号占位符 2">
            <a:extLst>
              <a:ext uri="{FF2B5EF4-FFF2-40B4-BE49-F238E27FC236}">
                <a16:creationId xmlns:a16="http://schemas.microsoft.com/office/drawing/2014/main" id="{E310BA0C-EEF6-B594-744A-573080D945C3}"/>
              </a:ext>
            </a:extLst>
          </p:cNvPr>
          <p:cNvSpPr>
            <a:spLocks noGrp="1"/>
          </p:cNvSpPr>
          <p:nvPr>
            <p:ph type="sldNum" sz="quarter" idx="12"/>
          </p:nvPr>
        </p:nvSpPr>
        <p:spPr/>
        <p:txBody>
          <a:bodyPr/>
          <a:lstStyle/>
          <a:p>
            <a:fld id="{80A20FCA-19FD-493E-B829-F89FD60808BC}" type="slidenum">
              <a:rPr lang="zh-CN" altLang="en-US" smtClean="0"/>
              <a:t>28</a:t>
            </a:fld>
            <a:endParaRPr lang="zh-CN" altLang="en-US"/>
          </a:p>
        </p:txBody>
      </p:sp>
    </p:spTree>
    <p:extLst>
      <p:ext uri="{BB962C8B-B14F-4D97-AF65-F5344CB8AC3E}">
        <p14:creationId xmlns:p14="http://schemas.microsoft.com/office/powerpoint/2010/main" val="2812328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263AA-D352-F391-B857-4634DCFB000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29FB7BE-C5D4-F5E5-0269-E3706F1C4293}"/>
              </a:ext>
            </a:extLst>
          </p:cNvPr>
          <p:cNvSpPr>
            <a:spLocks noGrp="1"/>
          </p:cNvSpPr>
          <p:nvPr>
            <p:ph type="title"/>
          </p:nvPr>
        </p:nvSpPr>
        <p:spPr/>
        <p:txBody>
          <a:bodyPr>
            <a:normAutofit/>
          </a:bodyPr>
          <a:lstStyle/>
          <a:p>
            <a:r>
              <a:rPr lang="zh-CN" altLang="en-US" sz="3200" dirty="0"/>
              <a:t>七</a:t>
            </a:r>
            <a:r>
              <a:rPr lang="en-US" altLang="zh-CN" sz="3200" dirty="0"/>
              <a:t>.</a:t>
            </a:r>
            <a:r>
              <a:rPr lang="zh-CN" altLang="en-US" sz="3200" dirty="0"/>
              <a:t>生物</a:t>
            </a:r>
            <a:r>
              <a:rPr lang="en-US" altLang="zh-CN" sz="3200" dirty="0"/>
              <a:t>-</a:t>
            </a:r>
            <a:r>
              <a:rPr lang="zh-CN" altLang="en-US" sz="3200" dirty="0"/>
              <a:t>生物安全</a:t>
            </a:r>
          </a:p>
        </p:txBody>
      </p:sp>
      <p:sp>
        <p:nvSpPr>
          <p:cNvPr id="3" name="内容占位符 2">
            <a:extLst>
              <a:ext uri="{FF2B5EF4-FFF2-40B4-BE49-F238E27FC236}">
                <a16:creationId xmlns:a16="http://schemas.microsoft.com/office/drawing/2014/main" id="{257EEF3A-1079-842C-3B7B-2291CF2A9275}"/>
              </a:ext>
            </a:extLst>
          </p:cNvPr>
          <p:cNvSpPr>
            <a:spLocks noGrp="1"/>
          </p:cNvSpPr>
          <p:nvPr>
            <p:ph idx="1"/>
          </p:nvPr>
        </p:nvSpPr>
        <p:spPr/>
        <p:txBody>
          <a:bodyPr>
            <a:normAutofit/>
          </a:bodyPr>
          <a:lstStyle/>
          <a:p>
            <a:r>
              <a:rPr lang="zh-CN" altLang="en-US" sz="2000" dirty="0"/>
              <a:t>生物安全：</a:t>
            </a:r>
            <a:r>
              <a:rPr lang="zh-CN" altLang="zh-CN" sz="2000" dirty="0"/>
              <a:t>《生物安全法案》已于</a:t>
            </a:r>
            <a:r>
              <a:rPr lang="en-US" altLang="zh-CN" sz="2000" dirty="0"/>
              <a:t>2025</a:t>
            </a:r>
            <a:r>
              <a:rPr lang="zh-CN" altLang="zh-CN" sz="2000" dirty="0"/>
              <a:t>年</a:t>
            </a:r>
            <a:r>
              <a:rPr lang="en-US" altLang="zh-CN" sz="2000" dirty="0"/>
              <a:t>12</a:t>
            </a:r>
            <a:r>
              <a:rPr lang="zh-CN" altLang="zh-CN" sz="2000" dirty="0"/>
              <a:t>月</a:t>
            </a:r>
            <a:r>
              <a:rPr lang="en-US" altLang="zh-CN" sz="2000" dirty="0"/>
              <a:t>18</a:t>
            </a:r>
            <a:r>
              <a:rPr lang="zh-CN" altLang="zh-CN" sz="2000" dirty="0"/>
              <a:t>日开始生效，该法案限制了美国行政机构与“受关注的生物技术公司” 签订合同的能力。</a:t>
            </a:r>
            <a:endParaRPr lang="en-US" altLang="zh-CN" sz="2000" dirty="0"/>
          </a:p>
          <a:p>
            <a:endParaRPr lang="en-US" altLang="zh-CN" sz="2000" dirty="0"/>
          </a:p>
          <a:p>
            <a:r>
              <a:rPr lang="zh-CN" altLang="en-US" sz="2000" dirty="0"/>
              <a:t>生物安全： </a:t>
            </a:r>
            <a:r>
              <a:rPr lang="en-US" altLang="zh-CN" sz="2000" dirty="0"/>
              <a:t>《</a:t>
            </a:r>
            <a:r>
              <a:rPr lang="zh-CN" altLang="en-US" sz="2000" dirty="0"/>
              <a:t>国家生物技术安全法案</a:t>
            </a:r>
            <a:r>
              <a:rPr lang="en-US" altLang="zh-CN" sz="2000" dirty="0"/>
              <a:t>》</a:t>
            </a:r>
            <a:r>
              <a:rPr lang="zh-CN" altLang="en-US" sz="2000" dirty="0"/>
              <a:t>，该法案将授权国家科学基金会开展生物技术生物体安全性的研究，并建立更清晰、更高效的审批途径。</a:t>
            </a:r>
            <a:endParaRPr lang="en-US" altLang="zh-CN" sz="2000" dirty="0"/>
          </a:p>
          <a:p>
            <a:endParaRPr lang="en-US" altLang="zh-CN" sz="2000" dirty="0"/>
          </a:p>
          <a:p>
            <a:r>
              <a:rPr lang="zh-CN" altLang="en-US" sz="2000" dirty="0"/>
              <a:t>生物安全：为确保医药产业供应链安全，由</a:t>
            </a:r>
            <a:r>
              <a:rPr lang="en-US" altLang="zh-CN" sz="2000" dirty="0"/>
              <a:t>OBBBA</a:t>
            </a:r>
            <a:r>
              <a:rPr lang="zh-CN" altLang="en-US" sz="2000" dirty="0"/>
              <a:t>的政策红利驱动，全球制药巨头已累计承诺在美国本土投资超过 </a:t>
            </a:r>
            <a:r>
              <a:rPr lang="en-US" altLang="zh-CN" sz="2000" dirty="0"/>
              <a:t>3700</a:t>
            </a:r>
            <a:r>
              <a:rPr lang="zh-CN" altLang="en-US" sz="2000" dirty="0"/>
              <a:t>亿美元。</a:t>
            </a:r>
            <a:endParaRPr lang="en-US" altLang="zh-CN" sz="2000" dirty="0"/>
          </a:p>
          <a:p>
            <a:endParaRPr lang="en-US" altLang="zh-CN" sz="2000" dirty="0"/>
          </a:p>
          <a:p>
            <a:r>
              <a:rPr lang="zh-CN" altLang="en-US" sz="2000" dirty="0"/>
              <a:t>生物安全： </a:t>
            </a:r>
            <a:r>
              <a:rPr lang="zh-CN" altLang="zh-CN" sz="2000" dirty="0"/>
              <a:t>《农业与国家安全法案》，该法案旨在通过在美国农业部（</a:t>
            </a:r>
            <a:r>
              <a:rPr lang="en-US" altLang="zh-CN" sz="2000" dirty="0"/>
              <a:t>USDA</a:t>
            </a:r>
            <a:r>
              <a:rPr lang="zh-CN" altLang="zh-CN" sz="2000" dirty="0"/>
              <a:t>）设立国家安全助理部长一职，帮助识别和缓解食品和农业面临的威胁，重点关注新兴技术。</a:t>
            </a:r>
            <a:endParaRPr lang="en-US" altLang="zh-CN" sz="2000" dirty="0"/>
          </a:p>
          <a:p>
            <a:endParaRPr lang="en-US" altLang="zh-CN" sz="2000" dirty="0"/>
          </a:p>
          <a:p>
            <a:endParaRPr lang="zh-CN" altLang="en-US" dirty="0"/>
          </a:p>
        </p:txBody>
      </p:sp>
      <p:sp>
        <p:nvSpPr>
          <p:cNvPr id="4" name="灯片编号占位符 3">
            <a:extLst>
              <a:ext uri="{FF2B5EF4-FFF2-40B4-BE49-F238E27FC236}">
                <a16:creationId xmlns:a16="http://schemas.microsoft.com/office/drawing/2014/main" id="{629720A7-28CE-4379-8A79-ECC5CB63CC37}"/>
              </a:ext>
            </a:extLst>
          </p:cNvPr>
          <p:cNvSpPr>
            <a:spLocks noGrp="1"/>
          </p:cNvSpPr>
          <p:nvPr>
            <p:ph type="sldNum" sz="quarter" idx="12"/>
          </p:nvPr>
        </p:nvSpPr>
        <p:spPr/>
        <p:txBody>
          <a:bodyPr/>
          <a:lstStyle/>
          <a:p>
            <a:fld id="{80A20FCA-19FD-493E-B829-F89FD60808BC}" type="slidenum">
              <a:rPr lang="zh-CN" altLang="en-US" smtClean="0"/>
              <a:t>29</a:t>
            </a:fld>
            <a:endParaRPr lang="zh-CN" altLang="en-US"/>
          </a:p>
        </p:txBody>
      </p:sp>
    </p:spTree>
    <p:extLst>
      <p:ext uri="{BB962C8B-B14F-4D97-AF65-F5344CB8AC3E}">
        <p14:creationId xmlns:p14="http://schemas.microsoft.com/office/powerpoint/2010/main" val="3789332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5A958-FF56-7F3D-EF5F-D924AA16CDC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025D368-F502-901F-95BB-6DDF7AFA2779}"/>
              </a:ext>
            </a:extLst>
          </p:cNvPr>
          <p:cNvSpPr>
            <a:spLocks noGrp="1"/>
          </p:cNvSpPr>
          <p:nvPr>
            <p:ph type="title"/>
          </p:nvPr>
        </p:nvSpPr>
        <p:spPr/>
        <p:txBody>
          <a:bodyPr>
            <a:normAutofit/>
          </a:bodyPr>
          <a:lstStyle/>
          <a:p>
            <a:r>
              <a:rPr lang="zh-CN" altLang="en-US" sz="3200" dirty="0"/>
              <a:t>七</a:t>
            </a:r>
            <a:r>
              <a:rPr lang="en-US" altLang="zh-CN" sz="3200" dirty="0"/>
              <a:t>.</a:t>
            </a:r>
            <a:r>
              <a:rPr lang="zh-CN" altLang="en-US" sz="3200" dirty="0"/>
              <a:t>生物</a:t>
            </a:r>
            <a:r>
              <a:rPr lang="en-US" altLang="zh-CN" sz="3200" dirty="0"/>
              <a:t>-</a:t>
            </a:r>
            <a:r>
              <a:rPr lang="zh-CN" altLang="en-US" sz="3200" dirty="0"/>
              <a:t>合成生物（</a:t>
            </a:r>
            <a:r>
              <a:rPr lang="en-US" altLang="zh-CN" sz="3200" dirty="0"/>
              <a:t>AI</a:t>
            </a:r>
            <a:r>
              <a:rPr lang="zh-CN" altLang="en-US" sz="3200" dirty="0"/>
              <a:t>）</a:t>
            </a:r>
          </a:p>
        </p:txBody>
      </p:sp>
      <p:sp>
        <p:nvSpPr>
          <p:cNvPr id="3" name="内容占位符 2">
            <a:extLst>
              <a:ext uri="{FF2B5EF4-FFF2-40B4-BE49-F238E27FC236}">
                <a16:creationId xmlns:a16="http://schemas.microsoft.com/office/drawing/2014/main" id="{2AD4F598-2F11-5588-8B7A-94BA830E87EE}"/>
              </a:ext>
            </a:extLst>
          </p:cNvPr>
          <p:cNvSpPr>
            <a:spLocks noGrp="1"/>
          </p:cNvSpPr>
          <p:nvPr>
            <p:ph idx="1"/>
          </p:nvPr>
        </p:nvSpPr>
        <p:spPr>
          <a:xfrm>
            <a:off x="838200" y="1363580"/>
            <a:ext cx="10515600" cy="5293894"/>
          </a:xfrm>
        </p:spPr>
        <p:txBody>
          <a:bodyPr>
            <a:normAutofit/>
          </a:bodyPr>
          <a:lstStyle/>
          <a:p>
            <a:r>
              <a:rPr lang="zh-CN" altLang="zh-CN" sz="2000" dirty="0"/>
              <a:t>阿斯利康宣布与石药集团有限公司（石药集团）达成战略研究合作。石药集团将利用其</a:t>
            </a:r>
            <a:r>
              <a:rPr lang="en-US" altLang="zh-CN" sz="2000" dirty="0"/>
              <a:t>AI</a:t>
            </a:r>
            <a:r>
              <a:rPr lang="zh-CN" altLang="zh-CN" sz="2000" dirty="0"/>
              <a:t>引擎双轮驱动的高效药物发现平台开展研究。</a:t>
            </a:r>
            <a:r>
              <a:rPr lang="zh-CN" altLang="en-US" sz="2000" dirty="0"/>
              <a:t>该平台运用</a:t>
            </a:r>
            <a:r>
              <a:rPr lang="en-US" altLang="zh-CN" sz="2000" dirty="0"/>
              <a:t>AI</a:t>
            </a:r>
            <a:r>
              <a:rPr lang="zh-CN" altLang="en-US" sz="2000" dirty="0"/>
              <a:t>技术分析靶向蛋白与现有化合物分子的结合模式，并进行针对性优化，旨在筛选出高效且具有优异开发潜力的小分子。</a:t>
            </a:r>
            <a:endParaRPr lang="en-US" altLang="zh-CN" sz="2000" dirty="0"/>
          </a:p>
          <a:p>
            <a:r>
              <a:rPr lang="zh-CN" altLang="zh-CN" sz="2000" dirty="0"/>
              <a:t>瑞士制药商诺华和药物研发公司蒙特罗莎治疗公司宣布，双方已达成一项价值高达</a:t>
            </a:r>
            <a:r>
              <a:rPr lang="en-US" altLang="zh-CN" sz="2000" dirty="0"/>
              <a:t> 57 </a:t>
            </a:r>
            <a:r>
              <a:rPr lang="zh-CN" altLang="zh-CN" sz="2000" dirty="0"/>
              <a:t>亿美元的许可协议，共同开发免疫相关疾病的治疗药物。蒙特罗莎</a:t>
            </a:r>
            <a:r>
              <a:rPr lang="zh-CN" altLang="en-US" sz="2000" dirty="0"/>
              <a:t>的 </a:t>
            </a:r>
            <a:r>
              <a:rPr lang="en-US" altLang="zh-CN" sz="2000" dirty="0" err="1"/>
              <a:t>QuEEN</a:t>
            </a:r>
            <a:r>
              <a:rPr lang="en-US" altLang="zh-CN" sz="2000" dirty="0"/>
              <a:t> </a:t>
            </a:r>
            <a:r>
              <a:rPr lang="zh-CN" altLang="en-US" sz="2000" dirty="0"/>
              <a:t>平台利用人工智能和机器学习来发现和开发新的降解剂</a:t>
            </a:r>
            <a:r>
              <a:rPr lang="en-US" altLang="zh-CN" sz="2000" dirty="0"/>
              <a:t>——</a:t>
            </a:r>
            <a:r>
              <a:rPr lang="zh-CN" altLang="en-US" sz="2000" dirty="0"/>
              <a:t>旨在分解致病蛋白的小分子</a:t>
            </a:r>
            <a:r>
              <a:rPr lang="en-US" altLang="zh-CN" sz="2000" dirty="0"/>
              <a:t>——</a:t>
            </a:r>
            <a:r>
              <a:rPr lang="zh-CN" altLang="en-US" sz="2000" dirty="0"/>
              <a:t>诺华将对其进行临床开发和商业化。</a:t>
            </a:r>
            <a:endParaRPr lang="en-US" altLang="zh-CN" sz="2000" dirty="0"/>
          </a:p>
          <a:p>
            <a:r>
              <a:rPr lang="en-US" altLang="zh-CN" sz="2000" dirty="0"/>
              <a:t>Iambic Therapeutics </a:t>
            </a:r>
            <a:r>
              <a:rPr lang="zh-CN" altLang="en-US" sz="2000" dirty="0"/>
              <a:t>公司开发的 </a:t>
            </a:r>
            <a:r>
              <a:rPr lang="en-US" altLang="zh-CN" sz="2000" dirty="0"/>
              <a:t>AI </a:t>
            </a:r>
            <a:r>
              <a:rPr lang="zh-CN" altLang="en-US" sz="2000" dirty="0"/>
              <a:t>驱动平台，可以加速药物发现和研发的进程，使药物研发在短短几年内即可完成。</a:t>
            </a:r>
            <a:r>
              <a:rPr lang="en-US" altLang="zh-CN" sz="2000" dirty="0"/>
              <a:t>Iambic </a:t>
            </a:r>
            <a:r>
              <a:rPr lang="zh-CN" altLang="en-US" sz="2000" dirty="0"/>
              <a:t>的技术能够预测其新分子与人体系统的相互作用，从而减少临床试验的需求。</a:t>
            </a:r>
            <a:endParaRPr lang="en-US" altLang="zh-CN" sz="2000" dirty="0"/>
          </a:p>
          <a:p>
            <a:r>
              <a:rPr lang="en-US" altLang="zh-CN" sz="2000" dirty="0" err="1"/>
              <a:t>ElevateBio</a:t>
            </a:r>
            <a:r>
              <a:rPr lang="zh-CN" altLang="zh-CN" sz="2000" dirty="0"/>
              <a:t>与亚马逊网络服务（</a:t>
            </a:r>
            <a:r>
              <a:rPr lang="en-US" altLang="zh-CN" sz="2000" dirty="0"/>
              <a:t>AWS</a:t>
            </a:r>
            <a:r>
              <a:rPr lang="zh-CN" altLang="zh-CN" sz="2000" dirty="0"/>
              <a:t>）</a:t>
            </a:r>
            <a:r>
              <a:rPr lang="zh-CN" altLang="en-US" sz="2000" dirty="0"/>
              <a:t>达成</a:t>
            </a:r>
            <a:r>
              <a:rPr lang="zh-CN" altLang="zh-CN" sz="2000" dirty="0"/>
              <a:t>合作 ，将</a:t>
            </a:r>
            <a:r>
              <a:rPr lang="en-US" altLang="zh-CN" sz="2000" dirty="0"/>
              <a:t> AWS </a:t>
            </a:r>
            <a:r>
              <a:rPr lang="zh-CN" altLang="zh-CN" sz="2000" dirty="0"/>
              <a:t>的先进计算能力与</a:t>
            </a:r>
            <a:r>
              <a:rPr lang="en-US" altLang="zh-CN" sz="2000" dirty="0"/>
              <a:t> ElevateBio </a:t>
            </a:r>
            <a:r>
              <a:rPr lang="zh-CN" altLang="zh-CN" sz="2000" dirty="0"/>
              <a:t>的专利基因编辑平台相结合。此次合作将使</a:t>
            </a:r>
            <a:r>
              <a:rPr lang="en-US" altLang="zh-CN" sz="2000" dirty="0"/>
              <a:t> ElevateBio </a:t>
            </a:r>
            <a:r>
              <a:rPr lang="zh-CN" altLang="zh-CN" sz="2000" dirty="0"/>
              <a:t>能够利用生成式人工智能更高效地分析数据，从而设计出新的</a:t>
            </a:r>
            <a:r>
              <a:rPr lang="en-US" altLang="zh-CN" sz="2000" dirty="0"/>
              <a:t> CRISPR </a:t>
            </a:r>
            <a:r>
              <a:rPr lang="zh-CN" altLang="zh-CN" sz="2000" dirty="0"/>
              <a:t>系统。随着</a:t>
            </a:r>
            <a:r>
              <a:rPr lang="en-US" altLang="zh-CN" sz="2000" dirty="0"/>
              <a:t> FDA </a:t>
            </a:r>
            <a:r>
              <a:rPr lang="zh-CN" altLang="zh-CN" sz="2000" dirty="0"/>
              <a:t>将基因疗法的审批速度加快至每年</a:t>
            </a:r>
            <a:r>
              <a:rPr lang="en-US" altLang="zh-CN" sz="2000" dirty="0"/>
              <a:t> 10-20 </a:t>
            </a:r>
            <a:r>
              <a:rPr lang="zh-CN" altLang="zh-CN" sz="2000" dirty="0"/>
              <a:t>种</a:t>
            </a:r>
            <a:endParaRPr lang="en-US" altLang="zh-CN" sz="2000" dirty="0"/>
          </a:p>
          <a:p>
            <a:r>
              <a:rPr lang="zh-CN" altLang="en-US" sz="2000" dirty="0"/>
              <a:t>前身为 </a:t>
            </a:r>
            <a:r>
              <a:rPr lang="en-US" altLang="zh-CN" sz="2000" dirty="0" err="1"/>
              <a:t>TrialSpark</a:t>
            </a:r>
            <a:r>
              <a:rPr lang="zh-CN" altLang="en-US" sz="2000" dirty="0"/>
              <a:t>的</a:t>
            </a:r>
            <a:r>
              <a:rPr lang="en-US" altLang="zh-CN" sz="2000" dirty="0"/>
              <a:t>AI</a:t>
            </a:r>
            <a:r>
              <a:rPr lang="zh-CN" altLang="en-US" sz="2000" dirty="0"/>
              <a:t>制药公司</a:t>
            </a:r>
            <a:r>
              <a:rPr lang="en-US" altLang="zh-CN" sz="2000" dirty="0"/>
              <a:t>Formation Bio </a:t>
            </a:r>
            <a:r>
              <a:rPr lang="zh-CN" altLang="en-US" sz="2000" dirty="0"/>
              <a:t>，致力于利用自动化和其他生成式人工智能工具，重塑药物上市商业模式的关键环节，包括发现具有市场潜力的药物、研发策略和临床试验。</a:t>
            </a:r>
            <a:endParaRPr lang="en-US" altLang="zh-CN" sz="2000" dirty="0"/>
          </a:p>
          <a:p>
            <a:endParaRPr lang="zh-CN" altLang="en-US" sz="2000" dirty="0"/>
          </a:p>
        </p:txBody>
      </p:sp>
      <p:sp>
        <p:nvSpPr>
          <p:cNvPr id="4" name="灯片编号占位符 3">
            <a:extLst>
              <a:ext uri="{FF2B5EF4-FFF2-40B4-BE49-F238E27FC236}">
                <a16:creationId xmlns:a16="http://schemas.microsoft.com/office/drawing/2014/main" id="{9BFAFDD9-7507-D214-48F6-7C5C4EAFCE4B}"/>
              </a:ext>
            </a:extLst>
          </p:cNvPr>
          <p:cNvSpPr>
            <a:spLocks noGrp="1"/>
          </p:cNvSpPr>
          <p:nvPr>
            <p:ph type="sldNum" sz="quarter" idx="12"/>
          </p:nvPr>
        </p:nvSpPr>
        <p:spPr/>
        <p:txBody>
          <a:bodyPr/>
          <a:lstStyle/>
          <a:p>
            <a:fld id="{80A20FCA-19FD-493E-B829-F89FD60808BC}" type="slidenum">
              <a:rPr lang="zh-CN" altLang="en-US" smtClean="0"/>
              <a:t>30</a:t>
            </a:fld>
            <a:endParaRPr lang="zh-CN" altLang="en-US"/>
          </a:p>
        </p:txBody>
      </p:sp>
    </p:spTree>
    <p:extLst>
      <p:ext uri="{BB962C8B-B14F-4D97-AF65-F5344CB8AC3E}">
        <p14:creationId xmlns:p14="http://schemas.microsoft.com/office/powerpoint/2010/main" val="3639177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EBE57-47BF-BBB3-0A58-99D13F6C82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F2C130F-674D-E400-B6A7-999809246CD0}"/>
              </a:ext>
            </a:extLst>
          </p:cNvPr>
          <p:cNvSpPr>
            <a:spLocks noGrp="1"/>
          </p:cNvSpPr>
          <p:nvPr>
            <p:ph type="title"/>
          </p:nvPr>
        </p:nvSpPr>
        <p:spPr/>
        <p:txBody>
          <a:bodyPr>
            <a:normAutofit/>
          </a:bodyPr>
          <a:lstStyle/>
          <a:p>
            <a:r>
              <a:rPr lang="zh-CN" altLang="en-US" sz="3200" dirty="0"/>
              <a:t>七</a:t>
            </a:r>
            <a:r>
              <a:rPr lang="en-US" altLang="zh-CN" sz="3200" dirty="0"/>
              <a:t>.</a:t>
            </a:r>
            <a:r>
              <a:rPr lang="zh-CN" altLang="en-US" sz="3200" dirty="0"/>
              <a:t>生物</a:t>
            </a:r>
            <a:r>
              <a:rPr lang="en-US" altLang="zh-CN" sz="3200" dirty="0"/>
              <a:t>-</a:t>
            </a:r>
            <a:r>
              <a:rPr lang="zh-CN" altLang="en-US" sz="3200" dirty="0"/>
              <a:t>其他</a:t>
            </a:r>
            <a:r>
              <a:rPr lang="en-US" altLang="zh-CN" sz="3200" dirty="0"/>
              <a:t>Lab</a:t>
            </a:r>
            <a:r>
              <a:rPr lang="zh-CN" altLang="en-US" sz="3200" dirty="0"/>
              <a:t>阶段技术</a:t>
            </a:r>
          </a:p>
        </p:txBody>
      </p:sp>
      <p:sp>
        <p:nvSpPr>
          <p:cNvPr id="3" name="内容占位符 2">
            <a:extLst>
              <a:ext uri="{FF2B5EF4-FFF2-40B4-BE49-F238E27FC236}">
                <a16:creationId xmlns:a16="http://schemas.microsoft.com/office/drawing/2014/main" id="{EF2DEEC5-A5E9-10EE-F0EC-7E649BC91546}"/>
              </a:ext>
            </a:extLst>
          </p:cNvPr>
          <p:cNvSpPr>
            <a:spLocks noGrp="1"/>
          </p:cNvSpPr>
          <p:nvPr>
            <p:ph idx="1"/>
          </p:nvPr>
        </p:nvSpPr>
        <p:spPr/>
        <p:txBody>
          <a:bodyPr>
            <a:normAutofit/>
          </a:bodyPr>
          <a:lstStyle/>
          <a:p>
            <a:r>
              <a:rPr lang="zh-CN" altLang="zh-CN" sz="2000" dirty="0"/>
              <a:t>美国国家科学基金会技术、创新与合作理事会（</a:t>
            </a:r>
            <a:r>
              <a:rPr lang="en-US" altLang="zh-CN" sz="2000" dirty="0"/>
              <a:t>NSF TIP</a:t>
            </a:r>
            <a:r>
              <a:rPr lang="zh-CN" altLang="zh-CN" sz="2000" dirty="0"/>
              <a:t>）宣布，通过</a:t>
            </a:r>
            <a:r>
              <a:rPr lang="en-US" altLang="zh-CN" sz="2000" dirty="0"/>
              <a:t>“NSF </a:t>
            </a:r>
            <a:r>
              <a:rPr lang="zh-CN" altLang="zh-CN" sz="2000" dirty="0"/>
              <a:t>应用导向型蛋白质设计加速计划</a:t>
            </a:r>
            <a:r>
              <a:rPr lang="en-US" altLang="zh-CN" sz="2000" dirty="0"/>
              <a:t>”</a:t>
            </a:r>
            <a:r>
              <a:rPr lang="zh-CN" altLang="zh-CN" sz="2000" dirty="0"/>
              <a:t>（</a:t>
            </a:r>
            <a:r>
              <a:rPr lang="en-US" altLang="zh-CN" sz="2000" dirty="0"/>
              <a:t>NSF USPRD</a:t>
            </a:r>
            <a:r>
              <a:rPr lang="zh-CN" altLang="zh-CN" sz="2000" dirty="0"/>
              <a:t>），向全美五个研究团队提供首笔近</a:t>
            </a:r>
            <a:r>
              <a:rPr lang="en-US" altLang="zh-CN" sz="2000" dirty="0"/>
              <a:t> 3200 </a:t>
            </a:r>
            <a:r>
              <a:rPr lang="zh-CN" altLang="zh-CN" sz="2000" dirty="0"/>
              <a:t>万美元的投资。该计划旨在加速将基于人工智能的蛋白质设计方法转化为实际应用，并推动对美国生物经济至关重要的新应用。</a:t>
            </a:r>
            <a:endParaRPr lang="en-US" altLang="zh-CN" sz="2000" dirty="0"/>
          </a:p>
          <a:p>
            <a:endParaRPr lang="en-US" altLang="zh-CN" sz="2000" dirty="0"/>
          </a:p>
          <a:p>
            <a:r>
              <a:rPr lang="zh-CN" altLang="en-US" sz="2000" dirty="0"/>
              <a:t>生成光遗传学 </a:t>
            </a:r>
            <a:r>
              <a:rPr lang="en-US" altLang="zh-CN" sz="2000" dirty="0"/>
              <a:t>(GO) </a:t>
            </a:r>
            <a:r>
              <a:rPr lang="zh-CN" altLang="en-US" sz="2000" dirty="0"/>
              <a:t>项目旨在通过开创一种革命性的方法来克服这些挑战：利用光的力量直接在活细胞内指导 </a:t>
            </a:r>
            <a:r>
              <a:rPr lang="en-US" altLang="zh-CN" sz="2000" dirty="0"/>
              <a:t>DNA </a:t>
            </a:r>
            <a:r>
              <a:rPr lang="zh-CN" altLang="en-US" sz="2000" dirty="0"/>
              <a:t>和 </a:t>
            </a:r>
            <a:r>
              <a:rPr lang="en-US" altLang="zh-CN" sz="2000" dirty="0"/>
              <a:t>RNA </a:t>
            </a:r>
            <a:r>
              <a:rPr lang="zh-CN" altLang="en-US" sz="2000" dirty="0"/>
              <a:t>的合成。通过使用特定波长的光线在活体细胞内进行基因序列的操控，创造迅捷、可编程的生物学，从而能够在活体生物体内快速创建遗传物质。</a:t>
            </a:r>
            <a:endParaRPr lang="en-US" altLang="zh-CN" sz="2000" dirty="0"/>
          </a:p>
          <a:p>
            <a:endParaRPr lang="en-US" altLang="zh-CN" sz="2000" dirty="0"/>
          </a:p>
          <a:p>
            <a:r>
              <a:rPr lang="zh-CN" altLang="zh-CN" sz="2000" dirty="0"/>
              <a:t>美国国家科学基金会技术、创新和合作理事会</a:t>
            </a:r>
            <a:r>
              <a:rPr lang="en-US" altLang="zh-CN" sz="2000" dirty="0"/>
              <a:t> (NSF TIP) </a:t>
            </a:r>
            <a:r>
              <a:rPr lang="zh-CN" altLang="zh-CN" sz="2000" dirty="0"/>
              <a:t>宣布向四个团队首次投资</a:t>
            </a:r>
            <a:r>
              <a:rPr lang="en-US" altLang="zh-CN" sz="2000" dirty="0"/>
              <a:t> 3240 </a:t>
            </a:r>
            <a:r>
              <a:rPr lang="zh-CN" altLang="zh-CN" sz="2000" dirty="0"/>
              <a:t>万美元，以加速无细胞系统的应用，实现该技术的新应用，并为美国生物经济的增长做出贡献。该计划旨在降低无细胞系统在生化过程中的成本，拓展其应用范围和功能，并开发和展示具有成本效益的、以应用为导向的无细胞系统。</a:t>
            </a:r>
            <a:endParaRPr lang="zh-CN" altLang="en-US" sz="2000" dirty="0"/>
          </a:p>
        </p:txBody>
      </p:sp>
      <p:sp>
        <p:nvSpPr>
          <p:cNvPr id="4" name="灯片编号占位符 3">
            <a:extLst>
              <a:ext uri="{FF2B5EF4-FFF2-40B4-BE49-F238E27FC236}">
                <a16:creationId xmlns:a16="http://schemas.microsoft.com/office/drawing/2014/main" id="{8AEDF37B-76CC-0E5E-B4CB-6879D5B35C3E}"/>
              </a:ext>
            </a:extLst>
          </p:cNvPr>
          <p:cNvSpPr>
            <a:spLocks noGrp="1"/>
          </p:cNvSpPr>
          <p:nvPr>
            <p:ph type="sldNum" sz="quarter" idx="12"/>
          </p:nvPr>
        </p:nvSpPr>
        <p:spPr/>
        <p:txBody>
          <a:bodyPr/>
          <a:lstStyle/>
          <a:p>
            <a:fld id="{80A20FCA-19FD-493E-B829-F89FD60808BC}" type="slidenum">
              <a:rPr lang="zh-CN" altLang="en-US" smtClean="0"/>
              <a:t>31</a:t>
            </a:fld>
            <a:endParaRPr lang="zh-CN" altLang="en-US"/>
          </a:p>
        </p:txBody>
      </p:sp>
    </p:spTree>
    <p:extLst>
      <p:ext uri="{BB962C8B-B14F-4D97-AF65-F5344CB8AC3E}">
        <p14:creationId xmlns:p14="http://schemas.microsoft.com/office/powerpoint/2010/main" val="3101554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D8C9F-79F3-01B9-97F8-5F848692B5B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CBFD64-EB08-A848-82CC-D19F869124A5}"/>
              </a:ext>
            </a:extLst>
          </p:cNvPr>
          <p:cNvSpPr>
            <a:spLocks noGrp="1"/>
          </p:cNvSpPr>
          <p:nvPr>
            <p:ph type="title"/>
          </p:nvPr>
        </p:nvSpPr>
        <p:spPr/>
        <p:txBody>
          <a:bodyPr>
            <a:normAutofit/>
          </a:bodyPr>
          <a:lstStyle/>
          <a:p>
            <a:r>
              <a:rPr lang="zh-CN" altLang="en-US" sz="3200" dirty="0"/>
              <a:t>八</a:t>
            </a:r>
            <a:r>
              <a:rPr lang="en-US" altLang="zh-CN" sz="3200" dirty="0"/>
              <a:t>.</a:t>
            </a:r>
            <a:r>
              <a:rPr lang="zh-CN" altLang="en-US" sz="3200" dirty="0"/>
              <a:t>新成立机构和办公室</a:t>
            </a:r>
          </a:p>
        </p:txBody>
      </p:sp>
      <p:sp>
        <p:nvSpPr>
          <p:cNvPr id="3" name="内容占位符 2">
            <a:extLst>
              <a:ext uri="{FF2B5EF4-FFF2-40B4-BE49-F238E27FC236}">
                <a16:creationId xmlns:a16="http://schemas.microsoft.com/office/drawing/2014/main" id="{438CDA69-4B2F-1F6B-D662-3650A4618F98}"/>
              </a:ext>
            </a:extLst>
          </p:cNvPr>
          <p:cNvSpPr>
            <a:spLocks noGrp="1"/>
          </p:cNvSpPr>
          <p:nvPr>
            <p:ph idx="1"/>
          </p:nvPr>
        </p:nvSpPr>
        <p:spPr/>
        <p:txBody>
          <a:bodyPr/>
          <a:lstStyle/>
          <a:p>
            <a:r>
              <a:rPr lang="zh-CN" altLang="zh-CN" dirty="0"/>
              <a:t>美国投资加速器办公室（商务部下辖）</a:t>
            </a:r>
            <a:endParaRPr lang="en-US" altLang="zh-CN" dirty="0"/>
          </a:p>
          <a:p>
            <a:r>
              <a:rPr lang="zh-CN" altLang="zh-CN" dirty="0"/>
              <a:t>能源主导融资计划办公室（能源部下辖）</a:t>
            </a:r>
            <a:endParaRPr lang="en-US" altLang="zh-CN" dirty="0"/>
          </a:p>
          <a:p>
            <a:r>
              <a:rPr lang="zh-CN" altLang="en-US" dirty="0"/>
              <a:t>战略资本办公室（国防部下辖）</a:t>
            </a:r>
            <a:endParaRPr lang="en-US" altLang="zh-CN" dirty="0"/>
          </a:p>
          <a:p>
            <a:r>
              <a:rPr lang="zh-CN" altLang="en-US" dirty="0"/>
              <a:t>创世任务办公室 </a:t>
            </a:r>
            <a:r>
              <a:rPr lang="en-US" altLang="zh-CN" dirty="0"/>
              <a:t>(</a:t>
            </a:r>
            <a:r>
              <a:rPr lang="zh-CN" altLang="en-US" dirty="0"/>
              <a:t>能源部下辖</a:t>
            </a:r>
            <a:r>
              <a:rPr lang="en-US" altLang="zh-CN" dirty="0"/>
              <a:t>)</a:t>
            </a:r>
          </a:p>
          <a:p>
            <a:r>
              <a:rPr lang="zh-CN" altLang="en-US" dirty="0"/>
              <a:t>技术力量项目办公室 （人才管理局下辖）</a:t>
            </a:r>
            <a:endParaRPr lang="en-US" altLang="zh-CN" dirty="0"/>
          </a:p>
          <a:p>
            <a:r>
              <a:rPr lang="zh-CN" altLang="zh-CN" dirty="0"/>
              <a:t>美国芯片制造研究所（美国国家标准与技术研究院下辖）</a:t>
            </a:r>
            <a:endParaRPr lang="en-US" altLang="zh-CN" dirty="0"/>
          </a:p>
          <a:p>
            <a:r>
              <a:rPr lang="en-US" altLang="zh-CN" dirty="0"/>
              <a:t>NAIRR </a:t>
            </a:r>
            <a:r>
              <a:rPr lang="zh-CN" altLang="zh-CN" dirty="0"/>
              <a:t>运营中心（美国国家科学基金会</a:t>
            </a:r>
            <a:r>
              <a:rPr lang="zh-CN" altLang="en-US" dirty="0"/>
              <a:t>下辖</a:t>
            </a:r>
            <a:r>
              <a:rPr lang="zh-CN" altLang="zh-CN" dirty="0"/>
              <a:t>）</a:t>
            </a:r>
            <a:endParaRPr lang="en-US" altLang="zh-CN" dirty="0"/>
          </a:p>
          <a:p>
            <a:r>
              <a:rPr lang="zh-CN" altLang="zh-CN" dirty="0"/>
              <a:t>美国国家半导体技术中心（美国国家标准与技术研究院下辖）</a:t>
            </a:r>
            <a:endParaRPr lang="en-US" altLang="zh-CN" dirty="0"/>
          </a:p>
          <a:p>
            <a:pPr marL="0" indent="0">
              <a:buNone/>
            </a:pPr>
            <a:endParaRPr lang="zh-CN" altLang="zh-CN" dirty="0"/>
          </a:p>
          <a:p>
            <a:endParaRPr lang="zh-CN" altLang="en-US" dirty="0"/>
          </a:p>
        </p:txBody>
      </p:sp>
      <p:sp>
        <p:nvSpPr>
          <p:cNvPr id="4" name="灯片编号占位符 3">
            <a:extLst>
              <a:ext uri="{FF2B5EF4-FFF2-40B4-BE49-F238E27FC236}">
                <a16:creationId xmlns:a16="http://schemas.microsoft.com/office/drawing/2014/main" id="{D1E2CF0B-2FEF-86B8-411C-3ECF8A93FB16}"/>
              </a:ext>
            </a:extLst>
          </p:cNvPr>
          <p:cNvSpPr>
            <a:spLocks noGrp="1"/>
          </p:cNvSpPr>
          <p:nvPr>
            <p:ph type="sldNum" sz="quarter" idx="12"/>
          </p:nvPr>
        </p:nvSpPr>
        <p:spPr/>
        <p:txBody>
          <a:bodyPr/>
          <a:lstStyle/>
          <a:p>
            <a:fld id="{80A20FCA-19FD-493E-B829-F89FD60808BC}" type="slidenum">
              <a:rPr lang="zh-CN" altLang="en-US" smtClean="0"/>
              <a:t>32</a:t>
            </a:fld>
            <a:endParaRPr lang="zh-CN" altLang="en-US"/>
          </a:p>
        </p:txBody>
      </p:sp>
    </p:spTree>
    <p:extLst>
      <p:ext uri="{BB962C8B-B14F-4D97-AF65-F5344CB8AC3E}">
        <p14:creationId xmlns:p14="http://schemas.microsoft.com/office/powerpoint/2010/main" val="369865921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1966</TotalTime>
  <Words>5089</Words>
  <Application>Microsoft Office PowerPoint</Application>
  <PresentationFormat>宽屏</PresentationFormat>
  <Paragraphs>484</Paragraphs>
  <Slides>32</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32</vt:i4>
      </vt:variant>
    </vt:vector>
  </HeadingPairs>
  <TitlesOfParts>
    <vt:vector size="36" baseType="lpstr">
      <vt:lpstr>等线</vt:lpstr>
      <vt:lpstr>楷体</vt:lpstr>
      <vt:lpstr>Arial</vt:lpstr>
      <vt:lpstr>Office 主题​​</vt:lpstr>
      <vt:lpstr>美国产业政策2025</vt:lpstr>
      <vt:lpstr>从板块划分</vt:lpstr>
      <vt:lpstr>一些会反复出现的支持力量</vt:lpstr>
      <vt:lpstr>一.国防</vt:lpstr>
      <vt:lpstr>一.国防-传统</vt:lpstr>
      <vt:lpstr>一.国防-前沿-有机化改造</vt:lpstr>
      <vt:lpstr>一.国防-前沿-高超音速</vt:lpstr>
      <vt:lpstr>一.国防</vt:lpstr>
      <vt:lpstr>二.关键矿产</vt:lpstr>
      <vt:lpstr>二.关键矿产-勘探/原料</vt:lpstr>
      <vt:lpstr>二.关键矿产-稀土提炼加工</vt:lpstr>
      <vt:lpstr>二.关键矿产-材料研究</vt:lpstr>
      <vt:lpstr>三.核工业</vt:lpstr>
      <vt:lpstr>三.核工业-原料/启旧</vt:lpstr>
      <vt:lpstr>三.核工业-立新</vt:lpstr>
      <vt:lpstr>三.核工业-立新</vt:lpstr>
      <vt:lpstr>四.人工智能</vt:lpstr>
      <vt:lpstr>四.人工智能-政策</vt:lpstr>
      <vt:lpstr>四.人工智能-官方应用</vt:lpstr>
      <vt:lpstr>四.人工智能-官方应用</vt:lpstr>
      <vt:lpstr>五.半导体</vt:lpstr>
      <vt:lpstr>五.半导体-官方</vt:lpstr>
      <vt:lpstr>五.半导体-业界-引入大厂</vt:lpstr>
      <vt:lpstr>五.半导体-业界-资金池</vt:lpstr>
      <vt:lpstr>六.量子</vt:lpstr>
      <vt:lpstr>六.量子-政府动作</vt:lpstr>
      <vt:lpstr>六.量子-一些企业动向</vt:lpstr>
      <vt:lpstr>七.生物</vt:lpstr>
      <vt:lpstr>七.生物-生物安全</vt:lpstr>
      <vt:lpstr>七.生物-合成生物（AI）</vt:lpstr>
      <vt:lpstr>七.生物-其他Lab阶段技术</vt:lpstr>
      <vt:lpstr>八.新成立机构和办公室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张曦瑾</dc:creator>
  <cp:lastModifiedBy>张曦瑾</cp:lastModifiedBy>
  <cp:revision>31</cp:revision>
  <dcterms:created xsi:type="dcterms:W3CDTF">2026-01-05T05:03:09Z</dcterms:created>
  <dcterms:modified xsi:type="dcterms:W3CDTF">2026-03-19T05:27:39Z</dcterms:modified>
</cp:coreProperties>
</file>